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7" r:id="rId6"/>
    <p:sldId id="260" r:id="rId7"/>
    <p:sldId id="261" r:id="rId8"/>
    <p:sldId id="262" r:id="rId9"/>
    <p:sldId id="263" r:id="rId10"/>
    <p:sldId id="264" r:id="rId11"/>
    <p:sldId id="265" r:id="rId12"/>
    <p:sldId id="269" r:id="rId13"/>
    <p:sldId id="268" r:id="rId14"/>
  </p:sldIdLst>
  <p:sldSz cx="12192000" cy="6858000"/>
  <p:notesSz cx="6858000" cy="12192000"/>
  <p:embeddedFontLst>
    <p:embeddedFont>
      <p:font typeface="Cambria Math" panose="02040503050406030204" pitchFamily="18"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325" autoAdjust="0"/>
  </p:normalViewPr>
  <p:slideViewPr>
    <p:cSldViewPr snapToGrid="0" snapToObjects="1">
      <p:cViewPr varScale="1">
        <p:scale>
          <a:sx n="73" d="100"/>
          <a:sy n="73" d="100"/>
        </p:scale>
        <p:origin x="196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2966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Bună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ziua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Prezentarea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noastră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astăzi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despre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articolul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MemAE</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 Memorizing Normality to Detect Anomaly</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publicat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2019 de Dong Gong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colegii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care </a:t>
            </a:r>
            <a:r>
              <a:rPr lang="en-US" dirty="0" err="1">
                <a:latin typeface="Times New Roman" panose="02020603050405020304" pitchFamily="18" charset="0"/>
                <a:cs typeface="Times New Roman" panose="02020603050405020304" pitchFamily="18" charset="0"/>
              </a:rPr>
              <a:t>propune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adică</a:t>
            </a:r>
            <a:r>
              <a:rPr lang="en-US" dirty="0">
                <a:latin typeface="Times New Roman" panose="02020603050405020304" pitchFamily="18" charset="0"/>
                <a:cs typeface="Times New Roman" panose="02020603050405020304" pitchFamily="18" charset="0"/>
              </a:rPr>
              <a:t> un autoencoder </a:t>
            </a:r>
            <a:r>
              <a:rPr lang="en-US" dirty="0" err="1">
                <a:latin typeface="Times New Roman" panose="02020603050405020304" pitchFamily="18" charset="0"/>
                <a:cs typeface="Times New Roman" panose="02020603050405020304" pitchFamily="18" charset="0"/>
              </a:rPr>
              <a:t>augmentat</a:t>
            </a:r>
            <a:r>
              <a:rPr lang="en-US" dirty="0">
                <a:latin typeface="Times New Roman" panose="02020603050405020304" pitchFamily="18" charset="0"/>
                <a:cs typeface="Times New Roman" panose="02020603050405020304" pitchFamily="18" charset="0"/>
              </a:rPr>
              <a:t> cu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detecția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nesupervizată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anomalii</a:t>
            </a:r>
            <a:r>
              <a:rPr lang="en-US" dirty="0">
                <a:latin typeface="Times New Roman" panose="02020603050405020304" pitchFamily="18" charset="0"/>
                <a:cs typeface="Times New Roman" panose="02020603050405020304" pitchFamily="18" charset="0"/>
              </a:rPr>
              <a:t>.</a:t>
            </a:r>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Tema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centrală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detectarea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nesupervizată</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anomaliilor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adică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identificăm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automat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neobișnuit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într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-un set de date,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fără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avem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exemple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antrenare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Insa </a:t>
            </a:r>
            <a:r>
              <a:rPr lang="en-US" dirty="0" err="1">
                <a:latin typeface="Times New Roman" panose="02020603050405020304" pitchFamily="18" charset="0"/>
                <a:cs typeface="Times New Roman" panose="02020603050405020304" pitchFamily="18" charset="0"/>
              </a:rPr>
              <a:t>ideea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prezentata</a:t>
            </a:r>
            <a:r>
              <a:rPr lang="en-US" dirty="0">
                <a:latin typeface="Times New Roman" panose="02020603050405020304" pitchFamily="18" charset="0"/>
                <a:cs typeface="Times New Roman" panose="02020603050405020304" pitchFamily="18" charset="0"/>
              </a:rPr>
              <a:t> care se </a:t>
            </a:r>
            <a:r>
              <a:rPr lang="en-US" dirty="0" err="1">
                <a:latin typeface="Times New Roman" panose="02020603050405020304" pitchFamily="18" charset="0"/>
                <a:cs typeface="Times New Roman" panose="02020603050405020304" pitchFamily="18" charset="0"/>
              </a:rPr>
              <a:t>diferentiaza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ceea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exista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loc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lăsăm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orice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forțăm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printr</a:t>
            </a:r>
            <a:r>
              <a:rPr lang="en-US" dirty="0">
                <a:latin typeface="Times New Roman" panose="02020603050405020304" pitchFamily="18" charset="0"/>
                <a:cs typeface="Times New Roman" panose="02020603050405020304" pitchFamily="18" charset="0"/>
              </a:rPr>
              <a:t>-o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care a </a:t>
            </a:r>
            <a:r>
              <a:rPr lang="en-US" dirty="0" err="1">
                <a:latin typeface="Times New Roman" panose="02020603050405020304" pitchFamily="18" charset="0"/>
                <a:cs typeface="Times New Roman" panose="02020603050405020304" pitchFamily="18" charset="0"/>
              </a:rPr>
              <a:t>văzut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tipare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a:t>
            </a:r>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„Ca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înțelegem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propun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autorii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trebuie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întâi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înțelegem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problema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pe care o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rezolvă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Abordarea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clasică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detectarea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anomaliilor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 deep learning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folosește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autoencoder standard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antrenezi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rețeaua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pe date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test,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dacă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eroarea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reconstrucție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mare,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înseamnă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inputul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anormal. Logica pare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corectă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nu?</a:t>
            </a:r>
          </a:p>
          <a:p>
            <a:endParaRPr lang="en-US"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Problema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practică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autoencoderele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generalizează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bine. S-a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observat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autorii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demonstrează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asta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experimental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autoencoder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reconstitui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fidel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intrări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tocmai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învățat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pattern-</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atât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generale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încât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aplică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Practic</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rețeaua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devine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prea</a:t>
            </a:r>
            <a:r>
              <a:rPr lang="en-US" sz="1200" b="0" i="1"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deșteaptă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nu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discriminează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problema</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scorul</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reconstrucție</a:t>
            </a:r>
            <a:r>
              <a:rPr lang="en-US" dirty="0">
                <a:latin typeface="Times New Roman" panose="02020603050405020304" pitchFamily="18" charset="0"/>
                <a:cs typeface="Times New Roman" panose="02020603050405020304" pitchFamily="18" charset="0"/>
              </a:rPr>
              <a:t>, ci </a:t>
            </a:r>
            <a:r>
              <a:rPr lang="en-US" dirty="0" err="1">
                <a:latin typeface="Times New Roman" panose="02020603050405020304" pitchFamily="18" charset="0"/>
                <a:cs typeface="Times New Roman" panose="02020603050405020304" pitchFamily="18" charset="0"/>
              </a:rPr>
              <a:t>felul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care se </a:t>
            </a:r>
            <a:r>
              <a:rPr lang="en-US" dirty="0" err="1">
                <a:latin typeface="Times New Roman" panose="02020603050405020304" pitchFamily="18" charset="0"/>
                <a:cs typeface="Times New Roman" panose="02020603050405020304" pitchFamily="18" charset="0"/>
              </a:rPr>
              <a:t>obține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reconstrucția</a:t>
            </a:r>
            <a:r>
              <a:rPr lang="en-US" dirty="0">
                <a:latin typeface="Times New Roman" panose="02020603050405020304" pitchFamily="18" charset="0"/>
                <a:cs typeface="Times New Roman" panose="02020603050405020304" pitchFamily="18" charset="0"/>
              </a:rPr>
              <a:t>. Un autoencoder </a:t>
            </a:r>
            <a:r>
              <a:rPr lang="en-US" dirty="0" err="1">
                <a:latin typeface="Times New Roman" panose="02020603050405020304" pitchFamily="18" charset="0"/>
                <a:cs typeface="Times New Roman" panose="02020603050405020304" pitchFamily="18" charset="0"/>
              </a:rPr>
              <a:t>clasic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t>
            </a:r>
            <a:r>
              <a:rPr lang="en-US" dirty="0">
                <a:latin typeface="Times New Roman" panose="02020603050405020304" pitchFamily="18" charset="0"/>
                <a:cs typeface="Times New Roman" panose="02020603050405020304" pitchFamily="18" charset="0"/>
              </a:rPr>
              <a:t> bine o </a:t>
            </a:r>
            <a:r>
              <a:rPr lang="en-US" dirty="0" err="1">
                <a:latin typeface="Times New Roman" panose="02020603050405020304" pitchFamily="18" charset="0"/>
                <a:cs typeface="Times New Roman" panose="02020603050405020304" pitchFamily="18" charset="0"/>
              </a:rPr>
              <a:t>anomalie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deoarece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învață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funcție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generală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reconstrucție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adaugă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constrângere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reconstrucția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trebuie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treacă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printr</a:t>
            </a:r>
            <a:r>
              <a:rPr lang="en-US" dirty="0">
                <a:latin typeface="Times New Roman" panose="02020603050405020304" pitchFamily="18" charset="0"/>
                <a:cs typeface="Times New Roman" panose="02020603050405020304" pitchFamily="18" charset="0"/>
              </a:rPr>
              <a:t>-o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conține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prototipuri</a:t>
            </a:r>
            <a:r>
              <a:rPr lang="en-US" dirty="0">
                <a:latin typeface="Times New Roman" panose="02020603050405020304" pitchFamily="18" charset="0"/>
                <a:cs typeface="Times New Roman" panose="02020603050405020304" pitchFamily="18" charset="0"/>
              </a:rPr>
              <a:t> ale </a:t>
            </a:r>
            <a:r>
              <a:rPr lang="en-US" dirty="0" err="1">
                <a:latin typeface="Times New Roman" panose="02020603050405020304" pitchFamily="18" charset="0"/>
                <a:cs typeface="Times New Roman" panose="02020603050405020304" pitchFamily="18" charset="0"/>
              </a:rPr>
              <a:t>normalității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inputul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anormal,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folosind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apropiat</a:t>
            </a:r>
            <a:r>
              <a:rPr lang="en-US" dirty="0">
                <a:latin typeface="Times New Roman" panose="02020603050405020304" pitchFamily="18" charset="0"/>
                <a:cs typeface="Times New Roman" panose="02020603050405020304" pitchFamily="18" charset="0"/>
              </a:rPr>
              <a:t> normal,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diferența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dintre</a:t>
            </a:r>
            <a:r>
              <a:rPr lang="en-US" dirty="0">
                <a:latin typeface="Times New Roman" panose="02020603050405020304" pitchFamily="18" charset="0"/>
                <a:cs typeface="Times New Roman" panose="02020603050405020304" pitchFamily="18" charset="0"/>
              </a:rPr>
              <a:t> input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output </a:t>
            </a:r>
            <a:r>
              <a:rPr lang="en-US" dirty="0" err="1">
                <a:latin typeface="Times New Roman" panose="02020603050405020304" pitchFamily="18" charset="0"/>
                <a:cs typeface="Times New Roman" panose="02020603050405020304" pitchFamily="18" charset="0"/>
              </a:rPr>
              <a:t>devine</a:t>
            </a:r>
            <a:r>
              <a:rPr lang="en-US" dirty="0">
                <a:latin typeface="Times New Roman" panose="02020603050405020304" pitchFamily="18" charset="0"/>
                <a:cs typeface="Times New Roman" panose="02020603050405020304" pitchFamily="18" charset="0"/>
              </a:rPr>
              <a:t> mare.</a:t>
            </a:r>
            <a:endParaRPr lang="en-US" sz="1200" b="1"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Ipoteza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articolului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următoarea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dacă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forțăm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reconstrucția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treacă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printr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-un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modul</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care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stochează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exclusiv</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tipare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prototipice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atunci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Intrările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reconstruite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bine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conține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exact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tiparul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lor;</a:t>
            </a: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Intrările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proiectate</a:t>
            </a:r>
            <a:r>
              <a:rPr lang="en-US" sz="1200" b="0" i="1" kern="1200" dirty="0">
                <a:solidFill>
                  <a:schemeClr val="tx1"/>
                </a:solidFill>
                <a:effectLst/>
                <a:latin typeface="Times New Roman" panose="02020603050405020304" pitchFamily="18" charset="0"/>
                <a:ea typeface="+mn-ea"/>
                <a:cs typeface="Times New Roman" panose="02020603050405020304" pitchFamily="18" charset="0"/>
              </a:rPr>
              <a:t> pe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cel</a:t>
            </a:r>
            <a:r>
              <a:rPr lang="en-US" sz="1200" b="0" i="1"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1"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apropiat</a:t>
            </a:r>
            <a:r>
              <a:rPr lang="en-US" sz="1200" b="0" i="1"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tipar</a:t>
            </a:r>
            <a:r>
              <a:rPr lang="en-US" sz="1200" b="0" i="1" kern="1200" dirty="0">
                <a:solidFill>
                  <a:schemeClr val="tx1"/>
                </a:solidFill>
                <a:effectLst/>
                <a:latin typeface="Times New Roman" panose="02020603050405020304" pitchFamily="18" charset="0"/>
                <a:ea typeface="+mn-ea"/>
                <a:cs typeface="Times New Roman" panose="02020603050405020304" pitchFamily="18" charset="0"/>
              </a:rPr>
              <a:t> normal din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rezultând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reconstrucție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care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diferă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semnificativ</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input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deci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eroare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mare.</a:t>
            </a:r>
          </a:p>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Memoria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funcționează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 un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dicționar</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al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normalității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înghetat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faza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test.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Aceasta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contribuția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fundamentală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lucrării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Ideea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centrală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foarte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practică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antrenăm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pe date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vrem</a:t>
            </a:r>
            <a:r>
              <a:rPr lang="en-US" dirty="0">
                <a:latin typeface="Times New Roman" panose="02020603050405020304" pitchFamily="18" charset="0"/>
                <a:cs typeface="Times New Roman" panose="02020603050405020304" pitchFamily="18" charset="0"/>
              </a:rPr>
              <a:t> ca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bine </a:t>
            </a:r>
            <a:r>
              <a:rPr lang="en-US" dirty="0" err="1">
                <a:latin typeface="Times New Roman" panose="02020603050405020304" pitchFamily="18" charset="0"/>
                <a:cs typeface="Times New Roman" panose="02020603050405020304" pitchFamily="18" charset="0"/>
              </a:rPr>
              <a:t>normalul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prost </a:t>
            </a:r>
            <a:r>
              <a:rPr lang="en-US" dirty="0" err="1">
                <a:latin typeface="Times New Roman" panose="02020603050405020304" pitchFamily="18" charset="0"/>
                <a:cs typeface="Times New Roman" panose="02020603050405020304" pitchFamily="18" charset="0"/>
              </a:rPr>
              <a:t>anomaliile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un autoencoder </a:t>
            </a:r>
            <a:r>
              <a:rPr lang="en-US" dirty="0" err="1">
                <a:latin typeface="Times New Roman" panose="02020603050405020304" pitchFamily="18" charset="0"/>
                <a:cs typeface="Times New Roman" panose="02020603050405020304" pitchFamily="18" charset="0"/>
              </a:rPr>
              <a:t>simplu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generaliza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bine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inclusiv</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încearcă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rezolve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asta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printr</a:t>
            </a:r>
            <a:r>
              <a:rPr lang="en-US" dirty="0">
                <a:latin typeface="Times New Roman" panose="02020603050405020304" pitchFamily="18" charset="0"/>
                <a:cs typeface="Times New Roman" panose="02020603050405020304" pitchFamily="18" charset="0"/>
              </a:rPr>
              <a:t>-o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stochează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prototipuri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2</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MemAE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are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trei</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componente</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principale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encoder, un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modul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decoder.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parcurgem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Encoderul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primește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inputul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x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 o imagine, un clip video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sau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vector de date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comprimă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într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reprezentare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latentă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z.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Ecuația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simplă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z egal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x. Important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reținut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z nu merge direct la decoder, cum s-</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întâmpla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într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-un autoencoder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clasic</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schimb</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z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devine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interogare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modulul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endParaRPr lang="en-US"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Modulul</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matrice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 cu 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linii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fiecare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linie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reprezentând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a:t>
            </a:r>
            <a:r>
              <a:rPr lang="en-US" sz="1200" b="0" i="1" kern="1200" dirty="0">
                <a:solidFill>
                  <a:schemeClr val="tx1"/>
                </a:solidFill>
                <a:effectLst/>
                <a:latin typeface="Times New Roman" panose="02020603050405020304" pitchFamily="18" charset="0"/>
                <a:ea typeface="+mn-ea"/>
                <a:cs typeface="Times New Roman" panose="02020603050405020304" pitchFamily="18" charset="0"/>
              </a:rPr>
              <a:t>slot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dimensiune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 La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antrenare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slot-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sunt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actualizate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prin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backpropagation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ajung</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codifice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tiparele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prototipice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ale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datelor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test,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înghețată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sz="1200" dirty="0" err="1">
                <a:latin typeface="Times New Roman" panose="02020603050405020304" pitchFamily="18" charset="0"/>
                <a:cs typeface="Times New Roman" panose="02020603050405020304" pitchFamily="18" charset="0"/>
              </a:rPr>
              <a:t>Prin</a:t>
            </a:r>
            <a:r>
              <a:rPr lang="en-US" sz="1200" dirty="0">
                <a:latin typeface="Times New Roman" panose="02020603050405020304" pitchFamily="18" charset="0"/>
                <a:cs typeface="Times New Roman" panose="02020603050405020304" pitchFamily="18" charset="0"/>
              </a:rPr>
              <a:t> attention se </a:t>
            </a:r>
            <a:r>
              <a:rPr lang="en-US" sz="1200" dirty="0" err="1">
                <a:latin typeface="Times New Roman" panose="02020603050405020304" pitchFamily="18" charset="0"/>
                <a:cs typeface="Times New Roman" panose="02020603050405020304" pitchFamily="18" charset="0"/>
              </a:rPr>
              <a:t>calculează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cât</a:t>
            </a:r>
            <a:r>
              <a:rPr lang="en-US" sz="1200" dirty="0">
                <a:latin typeface="Times New Roman" panose="02020603050405020304" pitchFamily="18" charset="0"/>
                <a:cs typeface="Times New Roman" panose="02020603050405020304" pitchFamily="18" charset="0"/>
              </a:rPr>
              <a:t> de relevant </a:t>
            </a:r>
            <a:r>
              <a:rPr lang="en-US" sz="1200" dirty="0" err="1">
                <a:latin typeface="Times New Roman" panose="02020603050405020304" pitchFamily="18" charset="0"/>
                <a:cs typeface="Times New Roman" panose="02020603050405020304" pitchFamily="18" charset="0"/>
              </a:rPr>
              <a:t>este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fiecare</a:t>
            </a:r>
            <a:r>
              <a:rPr lang="en-US" sz="1200" dirty="0">
                <a:latin typeface="Times New Roman" panose="02020603050405020304" pitchFamily="18" charset="0"/>
                <a:cs typeface="Times New Roman" panose="02020603050405020304" pitchFamily="18" charset="0"/>
              </a:rPr>
              <a:t> slot </a:t>
            </a:r>
            <a:r>
              <a:rPr lang="en-US" sz="1200" dirty="0" err="1">
                <a:latin typeface="Times New Roman" panose="02020603050405020304" pitchFamily="18" charset="0"/>
                <a:cs typeface="Times New Roman" panose="02020603050405020304" pitchFamily="18" charset="0"/>
              </a:rPr>
              <a:t>pentru</a:t>
            </a:r>
            <a:r>
              <a:rPr lang="en-US" sz="1200" dirty="0">
                <a:latin typeface="Times New Roman" panose="02020603050405020304" pitchFamily="18" charset="0"/>
                <a:cs typeface="Times New Roman" panose="02020603050405020304" pitchFamily="18" charset="0"/>
              </a:rPr>
              <a:t> z. Dar </a:t>
            </a:r>
            <a:r>
              <a:rPr lang="en-US" sz="1200" dirty="0" err="1">
                <a:latin typeface="Times New Roman" panose="02020603050405020304" pitchFamily="18" charset="0"/>
                <a:cs typeface="Times New Roman" panose="02020603050405020304" pitchFamily="18" charset="0"/>
              </a:rPr>
              <a:t>autorii</a:t>
            </a:r>
            <a:r>
              <a:rPr lang="en-US" sz="1200" dirty="0">
                <a:latin typeface="Times New Roman" panose="02020603050405020304" pitchFamily="18" charset="0"/>
                <a:cs typeface="Times New Roman" panose="02020603050405020304" pitchFamily="18" charset="0"/>
              </a:rPr>
              <a:t> nu </a:t>
            </a:r>
            <a:r>
              <a:rPr lang="en-US" sz="1200" dirty="0" err="1">
                <a:latin typeface="Times New Roman" panose="02020603050405020304" pitchFamily="18" charset="0"/>
                <a:cs typeface="Times New Roman" panose="02020603050405020304" pitchFamily="18" charset="0"/>
              </a:rPr>
              <a:t>vor</a:t>
            </a:r>
            <a:r>
              <a:rPr lang="en-US" sz="1200" dirty="0">
                <a:latin typeface="Times New Roman" panose="02020603050405020304" pitchFamily="18" charset="0"/>
                <a:cs typeface="Times New Roman" panose="02020603050405020304" pitchFamily="18" charset="0"/>
              </a:rPr>
              <a:t> o </a:t>
            </a:r>
            <a:r>
              <a:rPr lang="en-US" sz="1200" dirty="0" err="1">
                <a:latin typeface="Times New Roman" panose="02020603050405020304" pitchFamily="18" charset="0"/>
                <a:cs typeface="Times New Roman" panose="02020603050405020304" pitchFamily="18" charset="0"/>
              </a:rPr>
              <a:t>combinație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densă</a:t>
            </a:r>
            <a:r>
              <a:rPr lang="en-US" sz="1200" dirty="0">
                <a:latin typeface="Times New Roman" panose="02020603050405020304" pitchFamily="18" charset="0"/>
                <a:cs typeface="Times New Roman" panose="02020603050405020304" pitchFamily="18" charset="0"/>
              </a:rPr>
              <a:t> din </a:t>
            </a:r>
            <a:r>
              <a:rPr lang="en-US" sz="1200" dirty="0" err="1">
                <a:latin typeface="Times New Roman" panose="02020603050405020304" pitchFamily="18" charset="0"/>
                <a:cs typeface="Times New Roman" panose="02020603050405020304" pitchFamily="18" charset="0"/>
              </a:rPr>
              <a:t>toate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sloturile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pentru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că</a:t>
            </a:r>
            <a:r>
              <a:rPr lang="en-US" sz="1200" dirty="0">
                <a:latin typeface="Times New Roman" panose="02020603050405020304" pitchFamily="18" charset="0"/>
                <a:cs typeface="Times New Roman" panose="02020603050405020304" pitchFamily="18" charset="0"/>
              </a:rPr>
              <a:t> o </a:t>
            </a:r>
            <a:r>
              <a:rPr lang="en-US" sz="1200" dirty="0" err="1">
                <a:latin typeface="Times New Roman" panose="02020603050405020304" pitchFamily="18" charset="0"/>
                <a:cs typeface="Times New Roman" panose="02020603050405020304" pitchFamily="18" charset="0"/>
              </a:rPr>
              <a:t>combinație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densă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putea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reconstrui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și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anomalii</a:t>
            </a:r>
            <a:r>
              <a:rPr lang="en-US" sz="1200" dirty="0">
                <a:latin typeface="Times New Roman" panose="02020603050405020304" pitchFamily="18" charset="0"/>
                <a:cs typeface="Times New Roman" panose="02020603050405020304" pitchFamily="18" charset="0"/>
              </a:rPr>
              <a:t>. De </a:t>
            </a:r>
            <a:r>
              <a:rPr lang="en-US" sz="1200" dirty="0" err="1">
                <a:latin typeface="Times New Roman" panose="02020603050405020304" pitchFamily="18" charset="0"/>
                <a:cs typeface="Times New Roman" panose="02020603050405020304" pitchFamily="18" charset="0"/>
              </a:rPr>
              <a:t>aceea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aplică</a:t>
            </a:r>
            <a:r>
              <a:rPr lang="en-US" sz="1200" dirty="0">
                <a:latin typeface="Times New Roman" panose="02020603050405020304" pitchFamily="18" charset="0"/>
                <a:cs typeface="Times New Roman" panose="02020603050405020304" pitchFamily="18" charset="0"/>
              </a:rPr>
              <a:t> hard shrinkage: </a:t>
            </a:r>
            <a:r>
              <a:rPr lang="en-US" sz="1200" dirty="0" err="1">
                <a:latin typeface="Times New Roman" panose="02020603050405020304" pitchFamily="18" charset="0"/>
                <a:cs typeface="Times New Roman" panose="02020603050405020304" pitchFamily="18" charset="0"/>
              </a:rPr>
              <a:t>păstrează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doar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greutățile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peste</a:t>
            </a:r>
            <a:r>
              <a:rPr lang="en-US" sz="1200" dirty="0">
                <a:latin typeface="Times New Roman" panose="02020603050405020304" pitchFamily="18" charset="0"/>
                <a:cs typeface="Times New Roman" panose="02020603050405020304" pitchFamily="18" charset="0"/>
              </a:rPr>
              <a:t> un </a:t>
            </a:r>
            <a:r>
              <a:rPr lang="en-US" sz="1200" dirty="0" err="1">
                <a:latin typeface="Times New Roman" panose="02020603050405020304" pitchFamily="18" charset="0"/>
                <a:cs typeface="Times New Roman" panose="02020603050405020304" pitchFamily="18" charset="0"/>
              </a:rPr>
              <a:t>prag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După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renormalizare</a:t>
            </a:r>
            <a:r>
              <a:rPr lang="en-US" sz="1200" dirty="0">
                <a:latin typeface="Times New Roman" panose="02020603050405020304" pitchFamily="18" charset="0"/>
                <a:cs typeface="Times New Roman" panose="02020603050405020304" pitchFamily="18" charset="0"/>
              </a:rPr>
              <a:t>, se </a:t>
            </a:r>
            <a:r>
              <a:rPr lang="en-US" sz="1200" dirty="0" err="1">
                <a:latin typeface="Times New Roman" panose="02020603050405020304" pitchFamily="18" charset="0"/>
                <a:cs typeface="Times New Roman" panose="02020603050405020304" pitchFamily="18" charset="0"/>
              </a:rPr>
              <a:t>obține</a:t>
            </a:r>
            <a:r>
              <a:rPr lang="en-US" sz="1200" dirty="0">
                <a:latin typeface="Times New Roman" panose="02020603050405020304" pitchFamily="18" charset="0"/>
                <a:cs typeface="Times New Roman" panose="02020603050405020304" pitchFamily="18" charset="0"/>
              </a:rPr>
              <a:t> z </a:t>
            </a:r>
            <a:r>
              <a:rPr lang="en-US" sz="1200" dirty="0" err="1">
                <a:latin typeface="Times New Roman" panose="02020603050405020304" pitchFamily="18" charset="0"/>
                <a:cs typeface="Times New Roman" panose="02020603050405020304" pitchFamily="18" charset="0"/>
              </a:rPr>
              <a:t>pălărie</a:t>
            </a:r>
            <a:r>
              <a:rPr lang="en-US" sz="1200" dirty="0">
                <a:latin typeface="Times New Roman" panose="02020603050405020304" pitchFamily="18" charset="0"/>
                <a:cs typeface="Times New Roman" panose="02020603050405020304" pitchFamily="18" charset="0"/>
              </a:rPr>
              <a:t>, care </a:t>
            </a:r>
            <a:r>
              <a:rPr lang="en-US" sz="1200" dirty="0" err="1">
                <a:latin typeface="Times New Roman" panose="02020603050405020304" pitchFamily="18" charset="0"/>
                <a:cs typeface="Times New Roman" panose="02020603050405020304" pitchFamily="18" charset="0"/>
              </a:rPr>
              <a:t>intră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în</a:t>
            </a:r>
            <a:r>
              <a:rPr lang="en-US" sz="1200" dirty="0">
                <a:latin typeface="Times New Roman" panose="02020603050405020304" pitchFamily="18" charset="0"/>
                <a:cs typeface="Times New Roman" panose="02020603050405020304" pitchFamily="18" charset="0"/>
              </a:rPr>
              <a:t> decoder</a:t>
            </a:r>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Decoderul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primește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 input nu z original, ci ẑ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adică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combinație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slot-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recuperate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produce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reconstrucția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x̂.</a:t>
            </a: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Structura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exactă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encoderului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decoderului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variază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funcție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tipul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date: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convoluții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2D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imagini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convoluții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3D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video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unde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inputul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cuboid de 16 frame-</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consecutive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sau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straturi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fully-connected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date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tabulare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Aceasta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demonstrează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generalitatea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metodei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3</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Acum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intram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detaliile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tehnice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ale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modulului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aceasta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fapt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partea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originală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articolului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endParaRPr lang="en-US"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Cum se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adresează</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memoria?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fiind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query-ul z,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calculăm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similaritate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cosinus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între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z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fiecare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slot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mi.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Similaritatea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cosinus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normalizează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vectorii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deci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măsoară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direcția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nu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magnitudinea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Aplicăm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softmax</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scoruri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obținem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ponderile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adresare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w — un vector cu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valori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pozitive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care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sumează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1.</a:t>
            </a: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Reprezentarea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recuperată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ẑ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suma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ponderată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slot-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ẑ egal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suma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w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a:t>
            </a:r>
          </a:p>
          <a:p>
            <a:endParaRPr lang="en-US"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Problema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cu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adresarea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densă</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dacă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w are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multe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valori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mici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nenule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putea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reconstruită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printr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combinație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complexă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tipare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Adresa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densă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permite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rețelei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1" kern="1200" dirty="0" err="1">
                <a:solidFill>
                  <a:schemeClr val="tx1"/>
                </a:solidFill>
                <a:effectLst/>
                <a:latin typeface="Times New Roman" panose="02020603050405020304" pitchFamily="18" charset="0"/>
                <a:ea typeface="+mn-ea"/>
                <a:cs typeface="Times New Roman" panose="02020603050405020304" pitchFamily="18" charset="0"/>
              </a:rPr>
              <a:t>interpoleze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între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slot-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reconstruiască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ceva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apropiat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endParaRPr lang="en-US"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Soluția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Hard Shrinkage.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Autorii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propun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operator care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setează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zero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orice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pondere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wi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decât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prag</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λ.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Implementarea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directă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acestei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funcții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discontinue nu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diferențiabilă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deci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autorii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aproximează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printr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formulă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continuă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ReLU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Pragul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λ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recomandat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intervalul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1/N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până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3/N.</a:t>
            </a: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Efectul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fiecare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reconstrucție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numai</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câteva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slot-</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sunt activate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relevante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inputul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dat. Deci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astfel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nu pot fi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acoperite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combinație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densă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Memoria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forțată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eficientă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explicită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Anomaliile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activează</a:t>
            </a:r>
            <a:r>
              <a:rPr lang="en-US" dirty="0">
                <a:latin typeface="Times New Roman" panose="02020603050405020304" pitchFamily="18" charset="0"/>
                <a:cs typeface="Times New Roman" panose="02020603050405020304" pitchFamily="18" charset="0"/>
              </a:rPr>
              <a:t> slot-</a:t>
            </a:r>
            <a:r>
              <a:rPr lang="en-US" dirty="0" err="1">
                <a:latin typeface="Times New Roman" panose="02020603050405020304" pitchFamily="18" charset="0"/>
                <a:cs typeface="Times New Roman" panose="02020603050405020304" pitchFamily="18" charset="0"/>
              </a:rPr>
              <a: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greșite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reconstrucție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divergentă</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Adică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apare</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exemplu</a:t>
            </a:r>
            <a:r>
              <a:rPr lang="en-US" dirty="0">
                <a:latin typeface="Times New Roman" panose="02020603050405020304" pitchFamily="18" charset="0"/>
                <a:cs typeface="Times New Roman" panose="02020603050405020304" pitchFamily="18" charset="0"/>
              </a:rPr>
              <a:t> anormal, nu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fi </a:t>
            </a:r>
            <a:r>
              <a:rPr lang="en-US" dirty="0" err="1">
                <a:latin typeface="Times New Roman" panose="02020603050405020304" pitchFamily="18" charset="0"/>
                <a:cs typeface="Times New Roman" panose="02020603050405020304" pitchFamily="18" charset="0"/>
              </a:rPr>
              <a:t>reconstruit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printr</a:t>
            </a:r>
            <a:r>
              <a:rPr lang="en-US" dirty="0">
                <a:latin typeface="Times New Roman" panose="02020603050405020304" pitchFamily="18" charset="0"/>
                <a:cs typeface="Times New Roman" panose="02020603050405020304" pitchFamily="18" charset="0"/>
              </a:rPr>
              <a:t>-o </a:t>
            </a:r>
            <a:r>
              <a:rPr lang="en-US" dirty="0" err="1">
                <a:latin typeface="Times New Roman" panose="02020603050405020304" pitchFamily="18" charset="0"/>
                <a:cs typeface="Times New Roman" panose="02020603050405020304" pitchFamily="18" charset="0"/>
              </a:rPr>
              <a:t>combinație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densă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forțat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aleagă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câteva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care nu </a:t>
            </a:r>
            <a:r>
              <a:rPr lang="en-US" dirty="0" err="1">
                <a:latin typeface="Times New Roman" panose="02020603050405020304" pitchFamily="18" charset="0"/>
                <a:cs typeface="Times New Roman" panose="02020603050405020304" pitchFamily="18" charset="0"/>
              </a:rPr>
              <a:t>îl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reprezintă</a:t>
            </a:r>
            <a:r>
              <a:rPr lang="en-US" dirty="0">
                <a:latin typeface="Times New Roman" panose="02020603050405020304" pitchFamily="18" charset="0"/>
                <a:cs typeface="Times New Roman" panose="02020603050405020304" pitchFamily="18" charset="0"/>
              </a:rPr>
              <a:t> bine,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eroarea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reconstrucție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crește</a:t>
            </a:r>
            <a:r>
              <a:rPr lang="en-US" dirty="0">
                <a:latin typeface="Times New Roman" panose="02020603050405020304" pitchFamily="18" charset="0"/>
                <a:cs typeface="Times New Roman" panose="02020603050405020304" pitchFamily="18" charset="0"/>
              </a:rPr>
              <a:t> — exact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dorești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detectarea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anomaliilor</a:t>
            </a:r>
            <a:r>
              <a:rPr lang="en-US" dirty="0">
                <a:latin typeface="Times New Roman" panose="02020603050405020304" pitchFamily="18" charset="0"/>
                <a:cs typeface="Times New Roman" panose="02020603050405020304" pitchFamily="18" charset="0"/>
              </a:rPr>
              <a:t>.</a:t>
            </a:r>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Intuitiv</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dacă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ești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antrenat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recunoști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cifra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îți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vin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minte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doar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tipare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'5', nu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poți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reconstitui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perfect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cifră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'9'."</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4</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Times New Roman" panose="02020603050405020304" pitchFamily="18" charset="0"/>
                <a:cs typeface="Times New Roman" panose="02020603050405020304" pitchFamily="18" charset="0"/>
              </a:rPr>
              <a:t>Aici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explic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diferența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conceptuală</a:t>
            </a:r>
            <a:r>
              <a:rPr lang="en-US" dirty="0">
                <a:latin typeface="Times New Roman" panose="02020603050405020304" pitchFamily="18" charset="0"/>
                <a:cs typeface="Times New Roman" panose="02020603050405020304" pitchFamily="18" charset="0"/>
              </a:rPr>
              <a:t>. </a:t>
            </a:r>
          </a:p>
          <a:p>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AE standard, </a:t>
            </a:r>
            <a:r>
              <a:rPr lang="en-US" dirty="0" err="1">
                <a:latin typeface="Times New Roman" panose="02020603050405020304" pitchFamily="18" charset="0"/>
                <a:cs typeface="Times New Roman" panose="02020603050405020304" pitchFamily="18" charset="0"/>
              </a:rPr>
              <a:t>traseul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simplu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intrarea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devine</a:t>
            </a:r>
            <a:r>
              <a:rPr lang="en-US" dirty="0">
                <a:latin typeface="Times New Roman" panose="02020603050405020304" pitchFamily="18" charset="0"/>
                <a:cs typeface="Times New Roman" panose="02020603050405020304" pitchFamily="18" charset="0"/>
              </a:rPr>
              <a:t> un vector latent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reconstruiește</a:t>
            </a:r>
            <a:r>
              <a:rPr lang="en-US" dirty="0">
                <a:latin typeface="Times New Roman" panose="02020603050405020304" pitchFamily="18" charset="0"/>
                <a:cs typeface="Times New Roman" panose="02020603050405020304" pitchFamily="18" charset="0"/>
              </a:rPr>
              <a:t> direct din </a:t>
            </a:r>
            <a:r>
              <a:rPr lang="en-US" dirty="0" err="1">
                <a:latin typeface="Times New Roman" panose="02020603050405020304" pitchFamily="18" charset="0"/>
                <a:cs typeface="Times New Roman" panose="02020603050405020304" pitchFamily="18" charset="0"/>
              </a:rPr>
              <a:t>acel</a:t>
            </a:r>
            <a:r>
              <a:rPr lang="en-US" dirty="0">
                <a:latin typeface="Times New Roman" panose="02020603050405020304" pitchFamily="18" charset="0"/>
                <a:cs typeface="Times New Roman" panose="02020603050405020304" pitchFamily="18" charset="0"/>
              </a:rPr>
              <a:t> vector.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latentul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păstrează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destulă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informație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inclusiv</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intrare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anormală</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latentul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interogare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către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Decoderul</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primește</a:t>
            </a:r>
            <a:r>
              <a:rPr lang="en-US" dirty="0">
                <a:latin typeface="Times New Roman" panose="02020603050405020304" pitchFamily="18" charset="0"/>
                <a:cs typeface="Times New Roman" panose="02020603050405020304" pitchFamily="18" charset="0"/>
              </a:rPr>
              <a:t> exact z, ci </a:t>
            </a:r>
            <a:r>
              <a:rPr lang="en-US" dirty="0" err="1">
                <a:latin typeface="Times New Roman" panose="02020603050405020304" pitchFamily="18" charset="0"/>
                <a:cs typeface="Times New Roman" panose="02020603050405020304" pitchFamily="18" charset="0"/>
              </a:rPr>
              <a:t>primește</a:t>
            </a:r>
            <a:r>
              <a:rPr lang="en-US" dirty="0">
                <a:latin typeface="Times New Roman" panose="02020603050405020304" pitchFamily="18" charset="0"/>
                <a:cs typeface="Times New Roman" panose="02020603050405020304" pitchFamily="18" charset="0"/>
              </a:rPr>
              <a:t> z </a:t>
            </a:r>
            <a:r>
              <a:rPr lang="en-US" dirty="0" err="1">
                <a:latin typeface="Times New Roman" panose="02020603050405020304" pitchFamily="18" charset="0"/>
                <a:cs typeface="Times New Roman" panose="02020603050405020304" pitchFamily="18" charset="0"/>
              </a:rPr>
              <a:t>pălărie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adică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combinație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Cum </a:t>
            </a:r>
            <a:r>
              <a:rPr lang="en-US" dirty="0" err="1">
                <a:latin typeface="Times New Roman" panose="02020603050405020304" pitchFamily="18" charset="0"/>
                <a:cs typeface="Times New Roman" panose="02020603050405020304" pitchFamily="18" charset="0"/>
              </a:rPr>
              <a:t>memoria</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fost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învățată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din date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reconstrucția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tinde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fie o </a:t>
            </a:r>
            <a:r>
              <a:rPr lang="en-US" dirty="0" err="1">
                <a:latin typeface="Times New Roman" panose="02020603050405020304" pitchFamily="18" charset="0"/>
                <a:cs typeface="Times New Roman" panose="02020603050405020304" pitchFamily="18" charset="0"/>
              </a:rPr>
              <a:t>versiune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normală</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Figura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jos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foarte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prezentare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modelele</a:t>
            </a:r>
            <a:r>
              <a:rPr lang="en-US" dirty="0">
                <a:latin typeface="Times New Roman" panose="02020603050405020304" pitchFamily="18" charset="0"/>
                <a:cs typeface="Times New Roman" panose="02020603050405020304" pitchFamily="18" charset="0"/>
              </a:rPr>
              <a:t> sunt </a:t>
            </a:r>
            <a:r>
              <a:rPr lang="en-US" dirty="0" err="1">
                <a:latin typeface="Times New Roman" panose="02020603050405020304" pitchFamily="18" charset="0"/>
                <a:cs typeface="Times New Roman" panose="02020603050405020304" pitchFamily="18" charset="0"/>
              </a:rPr>
              <a:t>antrenate</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cifra</a:t>
            </a:r>
            <a:r>
              <a:rPr lang="en-US" dirty="0">
                <a:latin typeface="Times New Roman" panose="02020603050405020304" pitchFamily="18" charset="0"/>
                <a:cs typeface="Times New Roman" panose="02020603050405020304" pitchFamily="18" charset="0"/>
              </a:rPr>
              <a:t> 5,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intrarea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9. AE </a:t>
            </a:r>
            <a:r>
              <a:rPr lang="en-US" dirty="0" err="1">
                <a:latin typeface="Times New Roman" panose="02020603050405020304" pitchFamily="18" charset="0"/>
                <a:cs typeface="Times New Roman" panose="02020603050405020304" pitchFamily="18" charset="0"/>
              </a:rPr>
              <a:t>reconstruiește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aproape</a:t>
            </a:r>
            <a:r>
              <a:rPr lang="en-US" dirty="0">
                <a:latin typeface="Times New Roman" panose="02020603050405020304" pitchFamily="18" charset="0"/>
                <a:cs typeface="Times New Roman" panose="02020603050405020304" pitchFamily="18" charset="0"/>
              </a:rPr>
              <a:t> de input, </a:t>
            </a:r>
            <a:r>
              <a:rPr lang="en-US" dirty="0" err="1">
                <a:latin typeface="Times New Roman" panose="02020603050405020304" pitchFamily="18" charset="0"/>
                <a:cs typeface="Times New Roman" panose="02020603050405020304" pitchFamily="18" charset="0"/>
              </a:rPr>
              <a:t>dar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ceva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asemănător</a:t>
            </a:r>
            <a:r>
              <a:rPr lang="en-US" dirty="0">
                <a:latin typeface="Times New Roman" panose="02020603050405020304" pitchFamily="18" charset="0"/>
                <a:cs typeface="Times New Roman" panose="02020603050405020304" pitchFamily="18" charset="0"/>
              </a:rPr>
              <a:t> cu 5, </a:t>
            </a:r>
            <a:r>
              <a:rPr lang="en-US" dirty="0" err="1">
                <a:latin typeface="Times New Roman" panose="02020603050405020304" pitchFamily="18" charset="0"/>
                <a:cs typeface="Times New Roman" panose="02020603050405020304" pitchFamily="18" charset="0"/>
              </a:rPr>
              <a:t>deci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eroarea</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inputul</a:t>
            </a:r>
            <a:r>
              <a:rPr lang="en-US" dirty="0">
                <a:latin typeface="Times New Roman" panose="02020603050405020304" pitchFamily="18" charset="0"/>
                <a:cs typeface="Times New Roman" panose="02020603050405020304" pitchFamily="18" charset="0"/>
              </a:rPr>
              <a:t> 9 </a:t>
            </a:r>
            <a:r>
              <a:rPr lang="en-US" dirty="0" err="1">
                <a:latin typeface="Times New Roman" panose="02020603050405020304" pitchFamily="18" charset="0"/>
                <a:cs typeface="Times New Roman" panose="02020603050405020304" pitchFamily="18" charset="0"/>
              </a:rPr>
              <a:t>devine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vizibilă</a:t>
            </a:r>
            <a:r>
              <a:rPr lang="en-US"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5</a:t>
            </a:fld>
            <a:endParaRPr lang="en-US">
              <a:latin typeface="Times New Roman" panose="02020603050405020304" pitchFamily="18" charset="0"/>
            </a:endParaRPr>
          </a:p>
        </p:txBody>
      </p:sp>
    </p:spTree>
    <p:extLst>
      <p:ext uri="{BB962C8B-B14F-4D97-AF65-F5344CB8AC3E}">
        <p14:creationId xmlns:p14="http://schemas.microsoft.com/office/powerpoint/2010/main" val="26289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MemAE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antrenează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două</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funcții</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pierdere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Prima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Reconstruction Loss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simpla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eroare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pătratică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medie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MSE,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dintre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inputul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original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reconstrucție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Aceasta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optimizează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encoderul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decoderul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memoria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colaboreze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cât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bine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date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care </a:t>
                </a:r>
                <a:r>
                  <a:rPr lang="en-US" dirty="0" err="1">
                    <a:latin typeface="Times New Roman" panose="02020603050405020304" pitchFamily="18" charset="0"/>
                    <a:cs typeface="Times New Roman" panose="02020603050405020304" pitchFamily="18" charset="0"/>
                  </a:rPr>
                  <a:t>obligă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bine </a:t>
                </a:r>
                <a:r>
                  <a:rPr lang="en-US" dirty="0" err="1">
                    <a:latin typeface="Times New Roman" panose="02020603050405020304" pitchFamily="18" charset="0"/>
                    <a:cs typeface="Times New Roman" panose="02020603050405020304" pitchFamily="18" charset="0"/>
                  </a:rPr>
                  <a:t>datele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ro-RO"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A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doua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Entropy Loss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aceasta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cheia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sparsitate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Entropia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Shannon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vectorului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ponderi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ŵ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minimizată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Minimum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entropie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înseamnă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distribuție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concentrată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adică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puține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slot-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active.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Aceasta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complementează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hard shrinkage: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fazele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timpurii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antrenare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modelul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nu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convercat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entropy loss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ghidează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modelul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spre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adresare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sparsă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chiar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înainte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 shrinkage-ul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eficient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încurajează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folosirea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unui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număr</a:t>
                </a:r>
                <a:r>
                  <a:rPr lang="en-US" dirty="0">
                    <a:latin typeface="Times New Roman" panose="02020603050405020304" pitchFamily="18" charset="0"/>
                    <a:cs typeface="Times New Roman" panose="02020603050405020304" pitchFamily="18" charset="0"/>
                  </a:rPr>
                  <a:t> mic de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din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a:t>
                </a:r>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ro-RO" sz="120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Obiectivul</a:t>
                </a:r>
                <a:r>
                  <a:rPr lang="ro-RO" sz="1200" b="1" i="0" kern="1200" dirty="0">
                    <a:solidFill>
                      <a:schemeClr val="tx1"/>
                    </a:solidFill>
                    <a:effectLst/>
                    <a:latin typeface="Times New Roman" panose="02020603050405020304" pitchFamily="18" charset="0"/>
                    <a:ea typeface="+mn-ea"/>
                    <a:cs typeface="Times New Roman" panose="02020603050405020304" pitchFamily="18" charset="0"/>
                  </a:rPr>
                  <a:t>/</a:t>
                </a:r>
                <a:r>
                  <a:rPr lang="ro-RO" sz="1200" b="1" i="0" kern="1200" dirty="0" err="1">
                    <a:solidFill>
                      <a:schemeClr val="tx1"/>
                    </a:solidFill>
                    <a:effectLst/>
                    <a:latin typeface="Times New Roman" panose="02020603050405020304" pitchFamily="18" charset="0"/>
                    <a:ea typeface="+mn-ea"/>
                    <a:cs typeface="Times New Roman" panose="02020603050405020304" pitchFamily="18" charset="0"/>
                  </a:rPr>
                  <a:t>loss-ul</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total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combină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doi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termeni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 egal media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sumei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dintre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Reconstruction Loss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alpha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Entropy Loss.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Coeficientul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alpha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setat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0.0002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funcționează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bine pe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toate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seturile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date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fără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tuning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suplimentar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ro-RO"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La test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nu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avem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loss, nu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folosim</a:t>
                </a:r>
                <a:r>
                  <a:rPr lang="en-US" dirty="0">
                    <a:latin typeface="Times New Roman" panose="02020603050405020304" pitchFamily="18" charset="0"/>
                    <a:cs typeface="Times New Roman" panose="02020603050405020304" pitchFamily="18" charset="0"/>
                  </a:rPr>
                  <a:t> loss-ul total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învățare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folosim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eroarea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reconstrucție</a:t>
                </a:r>
                <a:r>
                  <a:rPr lang="en-US" dirty="0">
                    <a:latin typeface="Times New Roman" panose="02020603050405020304" pitchFamily="18" charset="0"/>
                    <a:cs typeface="Times New Roman" panose="02020603050405020304" pitchFamily="18" charset="0"/>
                  </a:rPr>
                  <a:t> ca </a:t>
                </a:r>
                <a:r>
                  <a:rPr lang="en-US" dirty="0" err="1">
                    <a:latin typeface="Times New Roman" panose="02020603050405020304" pitchFamily="18" charset="0"/>
                    <a:cs typeface="Times New Roman" panose="02020603050405020304" pitchFamily="18" charset="0"/>
                  </a:rPr>
                  <a:t>măsură</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cât</a:t>
                </a:r>
                <a:r>
                  <a:rPr lang="en-US" dirty="0">
                    <a:latin typeface="Times New Roman" panose="02020603050405020304" pitchFamily="18" charset="0"/>
                    <a:cs typeface="Times New Roman" panose="02020603050405020304" pitchFamily="18" charset="0"/>
                  </a:rPr>
                  <a:t> de anormal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exemplu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apoi</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normalizăm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într</a:t>
                </a:r>
                <a:r>
                  <a:rPr lang="en-US" dirty="0">
                    <a:latin typeface="Times New Roman" panose="02020603050405020304" pitchFamily="18" charset="0"/>
                    <a:cs typeface="Times New Roman" panose="02020603050405020304" pitchFamily="18" charset="0"/>
                  </a:rPr>
                  <a:t>-un </a:t>
                </a:r>
                <a:r>
                  <a:rPr lang="en-US" dirty="0" err="1">
                    <a:latin typeface="Times New Roman" panose="02020603050405020304" pitchFamily="18" charset="0"/>
                    <a:cs typeface="Times New Roman" panose="02020603050405020304" pitchFamily="18" charset="0"/>
                  </a:rPr>
                  <a:t>scor</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normalitate</a:t>
                </a:r>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𝑝</m:t>
                        </m:r>
                      </m:e>
                      <m:sub>
                        <m:r>
                          <a:rPr lang="en-US" sz="1200" i="1" kern="1200">
                            <a:solidFill>
                              <a:schemeClr val="tx1"/>
                            </a:solidFill>
                            <a:latin typeface="Cambria Math" panose="02040503050406030204" pitchFamily="18" charset="0"/>
                            <a:ea typeface="+mn-ea"/>
                            <a:cs typeface="+mn-cs"/>
                          </a:rPr>
                          <m:t>𝑢</m:t>
                        </m:r>
                      </m:sub>
                    </m:sSub>
                  </m:oMath>
                </a14:m>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Nu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optimizăm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nimic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Parametrii</a:t>
                </a:r>
                <a:r>
                  <a:rPr lang="en-US" dirty="0">
                    <a:latin typeface="Times New Roman" panose="02020603050405020304" pitchFamily="18" charset="0"/>
                    <a:cs typeface="Times New Roman" panose="02020603050405020304" pitchFamily="18" charset="0"/>
                  </a:rPr>
                  <a:t> sunt </a:t>
                </a:r>
                <a:r>
                  <a:rPr lang="en-US" dirty="0" err="1">
                    <a:latin typeface="Times New Roman" panose="02020603050405020304" pitchFamily="18" charset="0"/>
                    <a:cs typeface="Times New Roman" panose="02020603050405020304" pitchFamily="18" charset="0"/>
                  </a:rPr>
                  <a:t>fixați</a:t>
                </a:r>
                <a:r>
                  <a:rPr lang="en-US" dirty="0">
                    <a:latin typeface="Times New Roman" panose="02020603050405020304" pitchFamily="18" charset="0"/>
                    <a:cs typeface="Times New Roman" panose="02020603050405020304" pitchFamily="18" charset="0"/>
                  </a:rPr>
                  <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p>
              <a:p>
                <a:r>
                  <a:rPr lang="en-US" dirty="0" err="1">
                    <a:latin typeface="Times New Roman" panose="02020603050405020304" pitchFamily="18" charset="0"/>
                    <a:cs typeface="Times New Roman" panose="02020603050405020304" pitchFamily="18" charset="0"/>
                  </a:rPr>
                  <a:t>Scorul</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normalitate</a:t>
                </a:r>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𝑝</m:t>
                        </m:r>
                      </m:e>
                      <m:sub>
                        <m:r>
                          <a:rPr lang="en-US" sz="1200" i="1" kern="1200">
                            <a:solidFill>
                              <a:schemeClr val="tx1"/>
                            </a:solidFill>
                            <a:latin typeface="Cambria Math" panose="02040503050406030204" pitchFamily="18" charset="0"/>
                            <a:ea typeface="+mn-ea"/>
                            <a:cs typeface="+mn-cs"/>
                          </a:rPr>
                          <m:t>𝑢</m:t>
                        </m:r>
                      </m:sub>
                    </m:sSub>
                  </m:oMath>
                </a14:m>
                <a:r>
                  <a:rPr lang="en-US" dirty="0">
                    <a:latin typeface="Times New Roman" panose="02020603050405020304" pitchFamily="18" charset="0"/>
                    <a:cs typeface="Times New Roman" panose="02020603050405020304" pitchFamily="18" charset="0"/>
                  </a:rPr>
                  <a:t>nu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reconstrui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antrena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El are un </a:t>
                </a:r>
                <a:r>
                  <a:rPr lang="en-US" dirty="0" err="1">
                    <a:latin typeface="Times New Roman" panose="02020603050405020304" pitchFamily="18" charset="0"/>
                    <a:cs typeface="Times New Roman" panose="02020603050405020304" pitchFamily="18" charset="0"/>
                  </a:rPr>
                  <a:t>rol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foarte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simplu</a:t>
                </a:r>
                <a:r>
                  <a:rPr lang="en-US" dirty="0">
                    <a:latin typeface="Times New Roman" panose="02020603050405020304" pitchFamily="18" charset="0"/>
                    <a:cs typeface="Times New Roman" panose="02020603050405020304" pitchFamily="18" charset="0"/>
                  </a:rPr>
                  <a:t>:</a:t>
                </a:r>
              </a:p>
              <a:p>
                <a:r>
                  <a:rPr lang="en-US" b="1" dirty="0" err="1">
                    <a:latin typeface="Times New Roman" panose="02020603050405020304" pitchFamily="18" charset="0"/>
                    <a:cs typeface="Times New Roman" panose="02020603050405020304" pitchFamily="18" charset="0"/>
                  </a:rPr>
                  <a:t>transformă</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eroarea</a:t>
                </a:r>
                <a:r>
                  <a:rPr lang="en-US" b="1" dirty="0">
                    <a:latin typeface="Times New Roman" panose="02020603050405020304" pitchFamily="18" charset="0"/>
                    <a:cs typeface="Times New Roman" panose="02020603050405020304" pitchFamily="18" charset="0"/>
                  </a:rPr>
                  <a:t> de </a:t>
                </a:r>
                <a:r>
                  <a:rPr lang="en-US" b="1" dirty="0" err="1">
                    <a:latin typeface="Times New Roman" panose="02020603050405020304" pitchFamily="18" charset="0"/>
                    <a:cs typeface="Times New Roman" panose="02020603050405020304" pitchFamily="18" charset="0"/>
                  </a:rPr>
                  <a:t>reconstrucție</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într</a:t>
                </a:r>
                <a:r>
                  <a:rPr lang="en-US" b="1" dirty="0">
                    <a:latin typeface="Times New Roman" panose="02020603050405020304" pitchFamily="18" charset="0"/>
                    <a:cs typeface="Times New Roman" panose="02020603050405020304" pitchFamily="18" charset="0"/>
                  </a:rPr>
                  <a:t>-un </a:t>
                </a:r>
                <a:r>
                  <a:rPr lang="en-US" b="1" dirty="0" err="1">
                    <a:latin typeface="Times New Roman" panose="02020603050405020304" pitchFamily="18" charset="0"/>
                    <a:cs typeface="Times New Roman" panose="02020603050405020304" pitchFamily="18" charset="0"/>
                  </a:rPr>
                  <a:t>scor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ușor</a:t>
                </a:r>
                <a:r>
                  <a:rPr lang="en-US" b="1" dirty="0">
                    <a:latin typeface="Times New Roman" panose="02020603050405020304" pitchFamily="18" charset="0"/>
                    <a:cs typeface="Times New Roman" panose="02020603050405020304" pitchFamily="18" charset="0"/>
                  </a:rPr>
                  <a:t> de </a:t>
                </a:r>
                <a:r>
                  <a:rPr lang="en-US" b="1" dirty="0" err="1">
                    <a:latin typeface="Times New Roman" panose="02020603050405020304" pitchFamily="18" charset="0"/>
                    <a:cs typeface="Times New Roman" panose="02020603050405020304" pitchFamily="18" charset="0"/>
                  </a:rPr>
                  <a:t>interpretat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între</a:t>
                </a:r>
                <a:r>
                  <a:rPr lang="en-US" b="1" dirty="0">
                    <a:latin typeface="Times New Roman" panose="02020603050405020304" pitchFamily="18" charset="0"/>
                    <a:cs typeface="Times New Roman" panose="02020603050405020304" pitchFamily="18" charset="0"/>
                  </a:rPr>
                  <a:t> 0 </a:t>
                </a:r>
                <a:r>
                  <a:rPr lang="en-US" b="1" dirty="0" err="1">
                    <a:latin typeface="Times New Roman" panose="02020603050405020304" pitchFamily="18" charset="0"/>
                    <a:cs typeface="Times New Roman" panose="02020603050405020304" pitchFamily="18" charset="0"/>
                  </a:rPr>
                  <a:t>și</a:t>
                </a:r>
                <a:r>
                  <a:rPr lang="en-US" b="1" dirty="0">
                    <a:latin typeface="Times New Roman" panose="02020603050405020304" pitchFamily="18" charset="0"/>
                    <a:cs typeface="Times New Roman" panose="02020603050405020304" pitchFamily="18" charset="0"/>
                  </a:rPr>
                  <a:t> 1.</a:t>
                </a:r>
                <a:endParaRPr lang="en-US" dirty="0">
                  <a:latin typeface="Times New Roman" panose="02020603050405020304" pitchFamily="18" charset="0"/>
                  <a:cs typeface="Times New Roman" panose="02020603050405020304" pitchFamily="18" charset="0"/>
                </a:endParaRP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Folosim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eroarea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reconstrucție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unui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frame ca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Aceasta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normalizată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intervalul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0-1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pentru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obține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scorul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normalitate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aproape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0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indică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aproape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1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indică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normal.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Graficele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din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articol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scorul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scade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imediat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apare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video."</a:t>
                </a:r>
              </a:p>
              <a:p>
                <a:endParaRPr lang="en-US" dirty="0">
                  <a:latin typeface="Times New Roman" panose="02020603050405020304" pitchFamily="18" charset="0"/>
                  <a:cs typeface="Times New Roman" panose="02020603050405020304" pitchFamily="18" charset="0"/>
                </a:endParaRPr>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MemAE</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antrenează</a:t>
                </a:r>
                <a:r>
                  <a:rPr lang="en-US" sz="1200" b="0" i="0" kern="1200" dirty="0">
                    <a:solidFill>
                      <a:schemeClr val="tx1"/>
                    </a:solidFill>
                    <a:effectLst/>
                    <a:latin typeface="+mn-lt"/>
                    <a:ea typeface="+mn-ea"/>
                    <a:cs typeface="+mn-cs"/>
                  </a:rPr>
                  <a:t> cu </a:t>
                </a:r>
                <a:r>
                  <a:rPr lang="en-US" sz="1200" b="1" i="0" kern="1200" dirty="0" err="1">
                    <a:solidFill>
                      <a:schemeClr val="tx1"/>
                    </a:solidFill>
                    <a:effectLst/>
                    <a:latin typeface="+mn-lt"/>
                    <a:ea typeface="+mn-ea"/>
                    <a:cs typeface="+mn-cs"/>
                  </a:rPr>
                  <a:t>două</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funcții</a:t>
                </a:r>
                <a:r>
                  <a:rPr lang="en-US" sz="1200" b="1" i="0" kern="1200" dirty="0">
                    <a:solidFill>
                      <a:schemeClr val="tx1"/>
                    </a:solidFill>
                    <a:effectLst/>
                    <a:latin typeface="+mn-lt"/>
                    <a:ea typeface="+mn-ea"/>
                    <a:cs typeface="+mn-cs"/>
                  </a:rPr>
                  <a:t> de </a:t>
                </a:r>
                <a:r>
                  <a:rPr lang="en-US" sz="1200" b="1" i="0" kern="1200" dirty="0" err="1">
                    <a:solidFill>
                      <a:schemeClr val="tx1"/>
                    </a:solidFill>
                    <a:effectLst/>
                    <a:latin typeface="+mn-lt"/>
                    <a:ea typeface="+mn-ea"/>
                    <a:cs typeface="+mn-cs"/>
                  </a:rPr>
                  <a:t>pierdere</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Prima </a:t>
                </a:r>
                <a:r>
                  <a:rPr lang="en-US" sz="1200" b="1" i="0" kern="1200" dirty="0" err="1">
                    <a:solidFill>
                      <a:schemeClr val="tx1"/>
                    </a:solidFill>
                    <a:effectLst/>
                    <a:latin typeface="+mn-lt"/>
                    <a:ea typeface="+mn-ea"/>
                    <a:cs typeface="+mn-cs"/>
                  </a:rPr>
                  <a:t>este</a:t>
                </a:r>
                <a:r>
                  <a:rPr lang="en-US" sz="1200" b="1" i="0" kern="1200" dirty="0">
                    <a:solidFill>
                      <a:schemeClr val="tx1"/>
                    </a:solidFill>
                    <a:effectLst/>
                    <a:latin typeface="+mn-lt"/>
                    <a:ea typeface="+mn-ea"/>
                    <a:cs typeface="+mn-cs"/>
                  </a:rPr>
                  <a:t> Reconstruction Loss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simpla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eroare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pătratică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medie</a:t>
                </a:r>
                <a:r>
                  <a:rPr lang="en-US" sz="1200" b="0" i="0" kern="1200" dirty="0">
                    <a:solidFill>
                      <a:schemeClr val="tx1"/>
                    </a:solidFill>
                    <a:effectLst/>
                    <a:latin typeface="+mn-lt"/>
                    <a:ea typeface="+mn-ea"/>
                    <a:cs typeface="+mn-cs"/>
                  </a:rPr>
                  <a:t>, MSE, </a:t>
                </a:r>
                <a:r>
                  <a:rPr lang="en-US" sz="1200" b="0" i="0" kern="1200" dirty="0" err="1">
                    <a:solidFill>
                      <a:schemeClr val="tx1"/>
                    </a:solidFill>
                    <a:effectLst/>
                    <a:latin typeface="+mn-lt"/>
                    <a:ea typeface="+mn-ea"/>
                    <a:cs typeface="+mn-cs"/>
                  </a:rPr>
                  <a:t>dintre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inputul</a:t>
                </a:r>
                <a:r>
                  <a:rPr lang="en-US" sz="1200" b="0" i="0" kern="1200" dirty="0">
                    <a:solidFill>
                      <a:schemeClr val="tx1"/>
                    </a:solidFill>
                    <a:effectLst/>
                    <a:latin typeface="+mn-lt"/>
                    <a:ea typeface="+mn-ea"/>
                    <a:cs typeface="+mn-cs"/>
                  </a:rPr>
                  <a:t> original </a:t>
                </a:r>
                <a:r>
                  <a:rPr lang="en-US" sz="1200" b="0" i="0" kern="1200" dirty="0" err="1">
                    <a:solidFill>
                      <a:schemeClr val="tx1"/>
                    </a:solidFill>
                    <a:effectLst/>
                    <a:latin typeface="+mn-lt"/>
                    <a:ea typeface="+mn-ea"/>
                    <a:cs typeface="+mn-cs"/>
                  </a:rPr>
                  <a:t>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reconstrucție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Aceasta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optimizează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encoderul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decoderul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și</a:t>
                </a:r>
                <a:r>
                  <a:rPr lang="en-US" sz="1200" b="0" i="0" kern="1200" dirty="0">
                    <a:solidFill>
                      <a:schemeClr val="tx1"/>
                    </a:solidFill>
                    <a:effectLst/>
                    <a:latin typeface="+mn-lt"/>
                    <a:ea typeface="+mn-ea"/>
                    <a:cs typeface="+mn-cs"/>
                  </a:rPr>
                  <a:t> memoria </a:t>
                </a:r>
                <a:r>
                  <a:rPr lang="en-US" sz="1200" b="0" i="0" kern="1200" dirty="0" err="1">
                    <a:solidFill>
                      <a:schemeClr val="tx1"/>
                    </a:solidFill>
                    <a:effectLst/>
                    <a:latin typeface="+mn-lt"/>
                    <a:ea typeface="+mn-ea"/>
                    <a:cs typeface="+mn-cs"/>
                  </a:rPr>
                  <a:t>să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colaboreze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mai</a:t>
                </a:r>
                <a:r>
                  <a:rPr lang="en-US" sz="1200" b="0" i="0" kern="1200" dirty="0">
                    <a:solidFill>
                      <a:schemeClr val="tx1"/>
                    </a:solidFill>
                    <a:effectLst/>
                    <a:latin typeface="+mn-lt"/>
                    <a:ea typeface="+mn-ea"/>
                    <a:cs typeface="+mn-cs"/>
                  </a:rPr>
                  <a:t> bine </a:t>
                </a:r>
                <a:r>
                  <a:rPr lang="en-US" sz="1200" b="0" i="0" kern="1200" dirty="0" err="1">
                    <a:solidFill>
                      <a:schemeClr val="tx1"/>
                    </a:solidFill>
                    <a:effectLst/>
                    <a:latin typeface="+mn-lt"/>
                    <a:ea typeface="+mn-ea"/>
                    <a:cs typeface="+mn-cs"/>
                  </a:rPr>
                  <a:t>pentru</a:t>
                </a:r>
                <a:r>
                  <a:rPr lang="en-US" sz="1200" b="0" i="0" kern="1200" dirty="0">
                    <a:solidFill>
                      <a:schemeClr val="tx1"/>
                    </a:solidFill>
                    <a:effectLst/>
                    <a:latin typeface="+mn-lt"/>
                    <a:ea typeface="+mn-ea"/>
                    <a:cs typeface="+mn-cs"/>
                  </a:rPr>
                  <a:t> date </a:t>
                </a:r>
                <a:r>
                  <a:rPr lang="en-US" sz="1200" b="0" i="0" kern="1200" dirty="0" err="1">
                    <a:solidFill>
                      <a:schemeClr val="tx1"/>
                    </a:solidFill>
                    <a:effectLst/>
                    <a:latin typeface="+mn-lt"/>
                    <a:ea typeface="+mn-ea"/>
                    <a:cs typeface="+mn-cs"/>
                  </a:rPr>
                  <a:t>normale</a:t>
                </a:r>
                <a:r>
                  <a:rPr lang="en-US" sz="1200" b="0" i="0" kern="1200" dirty="0">
                    <a:solidFill>
                      <a:schemeClr val="tx1"/>
                    </a:solidFill>
                    <a:effectLst/>
                    <a:latin typeface="+mn-lt"/>
                    <a:ea typeface="+mn-ea"/>
                    <a:cs typeface="+mn-cs"/>
                  </a:rPr>
                  <a:t>.</a:t>
                </a:r>
              </a:p>
              <a:p>
                <a:endParaRPr lang="ro-RO"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 </a:t>
                </a:r>
                <a:r>
                  <a:rPr lang="en-US" sz="1200" b="1" i="0" kern="1200" dirty="0" err="1">
                    <a:solidFill>
                      <a:schemeClr val="tx1"/>
                    </a:solidFill>
                    <a:effectLst/>
                    <a:latin typeface="+mn-lt"/>
                    <a:ea typeface="+mn-ea"/>
                    <a:cs typeface="+mn-cs"/>
                  </a:rPr>
                  <a:t>doua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este</a:t>
                </a:r>
                <a:r>
                  <a:rPr lang="en-US" sz="1200" b="1" i="0" kern="1200" dirty="0">
                    <a:solidFill>
                      <a:schemeClr val="tx1"/>
                    </a:solidFill>
                    <a:effectLst/>
                    <a:latin typeface="+mn-lt"/>
                    <a:ea typeface="+mn-ea"/>
                    <a:cs typeface="+mn-cs"/>
                  </a:rPr>
                  <a:t> Entropy Loss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aceasta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cheia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pentru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sparsitate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Entropia</a:t>
                </a:r>
                <a:r>
                  <a:rPr lang="en-US" sz="1200" b="0" i="0" kern="1200" dirty="0">
                    <a:solidFill>
                      <a:schemeClr val="tx1"/>
                    </a:solidFill>
                    <a:effectLst/>
                    <a:latin typeface="+mn-lt"/>
                    <a:ea typeface="+mn-ea"/>
                    <a:cs typeface="+mn-cs"/>
                  </a:rPr>
                  <a:t> Shannon a </a:t>
                </a:r>
                <a:r>
                  <a:rPr lang="en-US" sz="1200" b="0" i="0" kern="1200" dirty="0" err="1">
                    <a:solidFill>
                      <a:schemeClr val="tx1"/>
                    </a:solidFill>
                    <a:effectLst/>
                    <a:latin typeface="+mn-lt"/>
                    <a:ea typeface="+mn-ea"/>
                    <a:cs typeface="+mn-cs"/>
                  </a:rPr>
                  <a:t>vectorului</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ponderi</a:t>
                </a:r>
                <a:r>
                  <a:rPr lang="en-US" sz="1200" b="0" i="0" kern="1200" dirty="0">
                    <a:solidFill>
                      <a:schemeClr val="tx1"/>
                    </a:solidFill>
                    <a:effectLst/>
                    <a:latin typeface="+mn-lt"/>
                    <a:ea typeface="+mn-ea"/>
                    <a:cs typeface="+mn-cs"/>
                  </a:rPr>
                  <a:t> ŵ </a:t>
                </a:r>
                <a:r>
                  <a:rPr lang="en-US" sz="1200" b="0" i="0" kern="1200" dirty="0" err="1">
                    <a:solidFill>
                      <a:schemeClr val="tx1"/>
                    </a:solidFill>
                    <a:effectLst/>
                    <a:latin typeface="+mn-lt"/>
                    <a:ea typeface="+mn-ea"/>
                    <a:cs typeface="+mn-cs"/>
                  </a:rPr>
                  <a:t>este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minimizată</a:t>
                </a:r>
                <a:r>
                  <a:rPr lang="en-US" sz="1200" b="0" i="0" kern="1200" dirty="0">
                    <a:solidFill>
                      <a:schemeClr val="tx1"/>
                    </a:solidFill>
                    <a:effectLst/>
                    <a:latin typeface="+mn-lt"/>
                    <a:ea typeface="+mn-ea"/>
                    <a:cs typeface="+mn-cs"/>
                  </a:rPr>
                  <a:t>. Minimum de </a:t>
                </a:r>
                <a:r>
                  <a:rPr lang="en-US" sz="1200" b="0" i="0" kern="1200" dirty="0" err="1">
                    <a:solidFill>
                      <a:schemeClr val="tx1"/>
                    </a:solidFill>
                    <a:effectLst/>
                    <a:latin typeface="+mn-lt"/>
                    <a:ea typeface="+mn-ea"/>
                    <a:cs typeface="+mn-cs"/>
                  </a:rPr>
                  <a:t>entropie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înseamnă</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distribuție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concentrată</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adică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puține</a:t>
                </a:r>
                <a:r>
                  <a:rPr lang="en-US" sz="1200" b="0" i="0" kern="1200" dirty="0">
                    <a:solidFill>
                      <a:schemeClr val="tx1"/>
                    </a:solidFill>
                    <a:effectLst/>
                    <a:latin typeface="+mn-lt"/>
                    <a:ea typeface="+mn-ea"/>
                    <a:cs typeface="+mn-cs"/>
                  </a:rPr>
                  <a:t> slot-</a:t>
                </a:r>
                <a:r>
                  <a:rPr lang="en-US" sz="1200" b="0" i="0" kern="1200" dirty="0" err="1">
                    <a:solidFill>
                      <a:schemeClr val="tx1"/>
                    </a:solidFill>
                    <a:effectLst/>
                    <a:latin typeface="+mn-lt"/>
                    <a:ea typeface="+mn-ea"/>
                    <a:cs typeface="+mn-cs"/>
                  </a:rPr>
                  <a:t>uri</a:t>
                </a:r>
                <a:r>
                  <a:rPr lang="en-US" sz="1200" b="0" i="0" kern="1200" dirty="0">
                    <a:solidFill>
                      <a:schemeClr val="tx1"/>
                    </a:solidFill>
                    <a:effectLst/>
                    <a:latin typeface="+mn-lt"/>
                    <a:ea typeface="+mn-ea"/>
                    <a:cs typeface="+mn-cs"/>
                  </a:rPr>
                  <a:t> active. </a:t>
                </a:r>
                <a:r>
                  <a:rPr lang="en-US" sz="1200" b="0" i="0" kern="1200" dirty="0" err="1">
                    <a:solidFill>
                      <a:schemeClr val="tx1"/>
                    </a:solidFill>
                    <a:effectLst/>
                    <a:latin typeface="+mn-lt"/>
                    <a:ea typeface="+mn-ea"/>
                    <a:cs typeface="+mn-cs"/>
                  </a:rPr>
                  <a:t>Aceasta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complementează</a:t>
                </a:r>
                <a:r>
                  <a:rPr lang="en-US" sz="1200" b="0" i="0" kern="1200" dirty="0">
                    <a:solidFill>
                      <a:schemeClr val="tx1"/>
                    </a:solidFill>
                    <a:effectLst/>
                    <a:latin typeface="+mn-lt"/>
                    <a:ea typeface="+mn-ea"/>
                    <a:cs typeface="+mn-cs"/>
                  </a:rPr>
                  <a:t> hard shrinkage: </a:t>
                </a:r>
                <a:r>
                  <a:rPr lang="en-US" sz="1200" b="0" i="0" kern="1200" dirty="0" err="1">
                    <a:solidFill>
                      <a:schemeClr val="tx1"/>
                    </a:solidFill>
                    <a:effectLst/>
                    <a:latin typeface="+mn-lt"/>
                    <a:ea typeface="+mn-ea"/>
                    <a:cs typeface="+mn-cs"/>
                  </a:rPr>
                  <a:t>în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fazele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timpurii</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antrenare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când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modelul</a:t>
                </a:r>
                <a:r>
                  <a:rPr lang="en-US" sz="1200" b="0" i="0" kern="1200" dirty="0">
                    <a:solidFill>
                      <a:schemeClr val="tx1"/>
                    </a:solidFill>
                    <a:effectLst/>
                    <a:latin typeface="+mn-lt"/>
                    <a:ea typeface="+mn-ea"/>
                    <a:cs typeface="+mn-cs"/>
                  </a:rPr>
                  <a:t> nu a </a:t>
                </a:r>
                <a:r>
                  <a:rPr lang="en-US" sz="1200" b="0" i="0" kern="1200" dirty="0" err="1">
                    <a:solidFill>
                      <a:schemeClr val="tx1"/>
                    </a:solidFill>
                    <a:effectLst/>
                    <a:latin typeface="+mn-lt"/>
                    <a:ea typeface="+mn-ea"/>
                    <a:cs typeface="+mn-cs"/>
                  </a:rPr>
                  <a:t>convercat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încă</a:t>
                </a:r>
                <a:r>
                  <a:rPr lang="en-US" sz="1200" b="0" i="0" kern="1200" dirty="0">
                    <a:solidFill>
                      <a:schemeClr val="tx1"/>
                    </a:solidFill>
                    <a:effectLst/>
                    <a:latin typeface="+mn-lt"/>
                    <a:ea typeface="+mn-ea"/>
                    <a:cs typeface="+mn-cs"/>
                  </a:rPr>
                  <a:t>, entropy loss </a:t>
                </a:r>
                <a:r>
                  <a:rPr lang="en-US" sz="1200" b="0" i="0" kern="1200" dirty="0" err="1">
                    <a:solidFill>
                      <a:schemeClr val="tx1"/>
                    </a:solidFill>
                    <a:effectLst/>
                    <a:latin typeface="+mn-lt"/>
                    <a:ea typeface="+mn-ea"/>
                    <a:cs typeface="+mn-cs"/>
                  </a:rPr>
                  <a:t>ghidează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modelul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spre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adresare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sparsă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chiar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înainte</a:t>
                </a:r>
                <a:r>
                  <a:rPr lang="en-US" sz="1200" b="0" i="0" kern="1200" dirty="0">
                    <a:solidFill>
                      <a:schemeClr val="tx1"/>
                    </a:solidFill>
                    <a:effectLst/>
                    <a:latin typeface="+mn-lt"/>
                    <a:ea typeface="+mn-ea"/>
                    <a:cs typeface="+mn-cs"/>
                  </a:rPr>
                  <a:t> ca shrinkage-ul </a:t>
                </a:r>
                <a:r>
                  <a:rPr lang="en-US" sz="1200" b="0" i="0" kern="1200" dirty="0" err="1">
                    <a:solidFill>
                      <a:schemeClr val="tx1"/>
                    </a:solidFill>
                    <a:effectLst/>
                    <a:latin typeface="+mn-lt"/>
                    <a:ea typeface="+mn-ea"/>
                    <a:cs typeface="+mn-cs"/>
                  </a:rPr>
                  <a:t>să</a:t>
                </a:r>
                <a:r>
                  <a:rPr lang="en-US" sz="1200" b="0" i="0" kern="1200" dirty="0">
                    <a:solidFill>
                      <a:schemeClr val="tx1"/>
                    </a:solidFill>
                    <a:effectLst/>
                    <a:latin typeface="+mn-lt"/>
                    <a:ea typeface="+mn-ea"/>
                    <a:cs typeface="+mn-cs"/>
                  </a:rPr>
                  <a:t> fie </a:t>
                </a:r>
                <a:r>
                  <a:rPr lang="en-US" sz="1200" b="0" i="0" kern="1200" dirty="0" err="1">
                    <a:solidFill>
                      <a:schemeClr val="tx1"/>
                    </a:solidFill>
                    <a:effectLst/>
                    <a:latin typeface="+mn-lt"/>
                    <a:ea typeface="+mn-ea"/>
                    <a:cs typeface="+mn-cs"/>
                  </a:rPr>
                  <a:t>eficient</a:t>
                </a:r>
                <a:r>
                  <a:rPr lang="en-US" sz="1200" b="0" i="0" kern="1200" dirty="0">
                    <a:solidFill>
                      <a:schemeClr val="tx1"/>
                    </a:solidFill>
                    <a:effectLst/>
                    <a:latin typeface="+mn-lt"/>
                    <a:ea typeface="+mn-ea"/>
                    <a:cs typeface="+mn-cs"/>
                  </a:rPr>
                  <a:t>.</a:t>
                </a:r>
              </a:p>
              <a:p>
                <a:endParaRPr lang="ro-RO" sz="1200" b="1"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Obiectivul</a:t>
                </a:r>
                <a:r>
                  <a:rPr lang="ro-RO" sz="1200" b="1" i="0" kern="1200" dirty="0">
                    <a:solidFill>
                      <a:schemeClr val="tx1"/>
                    </a:solidFill>
                    <a:effectLst/>
                    <a:latin typeface="+mn-lt"/>
                    <a:ea typeface="+mn-ea"/>
                    <a:cs typeface="+mn-cs"/>
                  </a:rPr>
                  <a:t>/</a:t>
                </a:r>
                <a:r>
                  <a:rPr lang="ro-RO" sz="1200" b="1" i="0" kern="1200" dirty="0" err="1">
                    <a:solidFill>
                      <a:schemeClr val="tx1"/>
                    </a:solidFill>
                    <a:effectLst/>
                    <a:latin typeface="+mn-lt"/>
                    <a:ea typeface="+mn-ea"/>
                    <a:cs typeface="+mn-cs"/>
                  </a:rPr>
                  <a:t>loss-ul</a:t>
                </a:r>
                <a:r>
                  <a:rPr lang="en-US" sz="1200" b="1" i="0" kern="1200" dirty="0">
                    <a:solidFill>
                      <a:schemeClr val="tx1"/>
                    </a:solidFill>
                    <a:effectLst/>
                    <a:latin typeface="+mn-lt"/>
                    <a:ea typeface="+mn-ea"/>
                    <a:cs typeface="+mn-cs"/>
                  </a:rPr>
                  <a:t> total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combină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cei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doi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termeni</a:t>
                </a:r>
                <a:r>
                  <a:rPr lang="en-US" sz="1200" b="0" i="0" kern="1200" dirty="0">
                    <a:solidFill>
                      <a:schemeClr val="tx1"/>
                    </a:solidFill>
                    <a:effectLst/>
                    <a:latin typeface="+mn-lt"/>
                    <a:ea typeface="+mn-ea"/>
                    <a:cs typeface="+mn-cs"/>
                  </a:rPr>
                  <a:t>: L egal media </a:t>
                </a:r>
                <a:r>
                  <a:rPr lang="en-US" sz="1200" b="0" i="0" kern="1200" dirty="0" err="1">
                    <a:solidFill>
                      <a:schemeClr val="tx1"/>
                    </a:solidFill>
                    <a:effectLst/>
                    <a:latin typeface="+mn-lt"/>
                    <a:ea typeface="+mn-ea"/>
                    <a:cs typeface="+mn-cs"/>
                  </a:rPr>
                  <a:t>sumei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dintre</a:t>
                </a:r>
                <a:r>
                  <a:rPr lang="en-US" sz="1200" b="0" i="0" kern="1200" dirty="0">
                    <a:solidFill>
                      <a:schemeClr val="tx1"/>
                    </a:solidFill>
                    <a:effectLst/>
                    <a:latin typeface="+mn-lt"/>
                    <a:ea typeface="+mn-ea"/>
                    <a:cs typeface="+mn-cs"/>
                  </a:rPr>
                  <a:t> Reconstruction Loss </a:t>
                </a:r>
                <a:r>
                  <a:rPr lang="en-US" sz="1200" b="0" i="0" kern="1200" dirty="0" err="1">
                    <a:solidFill>
                      <a:schemeClr val="tx1"/>
                    </a:solidFill>
                    <a:effectLst/>
                    <a:latin typeface="+mn-lt"/>
                    <a:ea typeface="+mn-ea"/>
                    <a:cs typeface="+mn-cs"/>
                  </a:rPr>
                  <a:t>și</a:t>
                </a:r>
                <a:r>
                  <a:rPr lang="en-US" sz="1200" b="0" i="0" kern="1200" dirty="0">
                    <a:solidFill>
                      <a:schemeClr val="tx1"/>
                    </a:solidFill>
                    <a:effectLst/>
                    <a:latin typeface="+mn-lt"/>
                    <a:ea typeface="+mn-ea"/>
                    <a:cs typeface="+mn-cs"/>
                  </a:rPr>
                  <a:t> alpha </a:t>
                </a:r>
                <a:r>
                  <a:rPr lang="en-US" sz="1200" b="0" i="0" kern="1200" dirty="0" err="1">
                    <a:solidFill>
                      <a:schemeClr val="tx1"/>
                    </a:solidFill>
                    <a:effectLst/>
                    <a:latin typeface="+mn-lt"/>
                    <a:ea typeface="+mn-ea"/>
                    <a:cs typeface="+mn-cs"/>
                  </a:rPr>
                  <a:t>ori</a:t>
                </a:r>
                <a:r>
                  <a:rPr lang="en-US" sz="1200" b="0" i="0" kern="1200" dirty="0">
                    <a:solidFill>
                      <a:schemeClr val="tx1"/>
                    </a:solidFill>
                    <a:effectLst/>
                    <a:latin typeface="+mn-lt"/>
                    <a:ea typeface="+mn-ea"/>
                    <a:cs typeface="+mn-cs"/>
                  </a:rPr>
                  <a:t> Entropy Loss. </a:t>
                </a:r>
                <a:r>
                  <a:rPr lang="en-US" sz="1200" b="0" i="0" kern="1200" dirty="0" err="1">
                    <a:solidFill>
                      <a:schemeClr val="tx1"/>
                    </a:solidFill>
                    <a:effectLst/>
                    <a:latin typeface="+mn-lt"/>
                    <a:ea typeface="+mn-ea"/>
                    <a:cs typeface="+mn-cs"/>
                  </a:rPr>
                  <a:t>Coeficientul</a:t>
                </a:r>
                <a:r>
                  <a:rPr lang="en-US" sz="1200" b="0" i="0" kern="1200" dirty="0">
                    <a:solidFill>
                      <a:schemeClr val="tx1"/>
                    </a:solidFill>
                    <a:effectLst/>
                    <a:latin typeface="+mn-lt"/>
                    <a:ea typeface="+mn-ea"/>
                    <a:cs typeface="+mn-cs"/>
                  </a:rPr>
                  <a:t> alpha </a:t>
                </a:r>
                <a:r>
                  <a:rPr lang="en-US" sz="1200" b="0" i="0" kern="1200" dirty="0" err="1">
                    <a:solidFill>
                      <a:schemeClr val="tx1"/>
                    </a:solidFill>
                    <a:effectLst/>
                    <a:latin typeface="+mn-lt"/>
                    <a:ea typeface="+mn-ea"/>
                    <a:cs typeface="+mn-cs"/>
                  </a:rPr>
                  <a:t>este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setat</a:t>
                </a:r>
                <a:r>
                  <a:rPr lang="en-US" sz="1200" b="0" i="0" kern="1200" dirty="0">
                    <a:solidFill>
                      <a:schemeClr val="tx1"/>
                    </a:solidFill>
                    <a:effectLst/>
                    <a:latin typeface="+mn-lt"/>
                    <a:ea typeface="+mn-ea"/>
                    <a:cs typeface="+mn-cs"/>
                  </a:rPr>
                  <a:t> la 0.0002 </a:t>
                </a:r>
                <a:r>
                  <a:rPr lang="en-US" sz="1200" b="0" i="0" kern="1200" dirty="0" err="1">
                    <a:solidFill>
                      <a:schemeClr val="tx1"/>
                    </a:solidFill>
                    <a:effectLst/>
                    <a:latin typeface="+mn-lt"/>
                    <a:ea typeface="+mn-ea"/>
                    <a:cs typeface="+mn-cs"/>
                  </a:rPr>
                  <a:t>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funcționează</a:t>
                </a:r>
                <a:r>
                  <a:rPr lang="en-US" sz="1200" b="0" i="0" kern="1200" dirty="0">
                    <a:solidFill>
                      <a:schemeClr val="tx1"/>
                    </a:solidFill>
                    <a:effectLst/>
                    <a:latin typeface="+mn-lt"/>
                    <a:ea typeface="+mn-ea"/>
                    <a:cs typeface="+mn-cs"/>
                  </a:rPr>
                  <a:t> bine pe </a:t>
                </a:r>
                <a:r>
                  <a:rPr lang="en-US" sz="1200" b="0" i="0" kern="1200" dirty="0" err="1">
                    <a:solidFill>
                      <a:schemeClr val="tx1"/>
                    </a:solidFill>
                    <a:effectLst/>
                    <a:latin typeface="+mn-lt"/>
                    <a:ea typeface="+mn-ea"/>
                    <a:cs typeface="+mn-cs"/>
                  </a:rPr>
                  <a:t>toate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seturile</a:t>
                </a:r>
                <a:r>
                  <a:rPr lang="en-US" sz="1200" b="0" i="0" kern="1200" dirty="0">
                    <a:solidFill>
                      <a:schemeClr val="tx1"/>
                    </a:solidFill>
                    <a:effectLst/>
                    <a:latin typeface="+mn-lt"/>
                    <a:ea typeface="+mn-ea"/>
                    <a:cs typeface="+mn-cs"/>
                  </a:rPr>
                  <a:t> de date </a:t>
                </a:r>
                <a:r>
                  <a:rPr lang="en-US" sz="1200" b="0" i="0" kern="1200" dirty="0" err="1">
                    <a:solidFill>
                      <a:schemeClr val="tx1"/>
                    </a:solidFill>
                    <a:effectLst/>
                    <a:latin typeface="+mn-lt"/>
                    <a:ea typeface="+mn-ea"/>
                    <a:cs typeface="+mn-cs"/>
                  </a:rPr>
                  <a:t>fără</a:t>
                </a:r>
                <a:r>
                  <a:rPr lang="en-US" sz="1200" b="0" i="0" kern="1200" dirty="0">
                    <a:solidFill>
                      <a:schemeClr val="tx1"/>
                    </a:solidFill>
                    <a:effectLst/>
                    <a:latin typeface="+mn-lt"/>
                    <a:ea typeface="+mn-ea"/>
                    <a:cs typeface="+mn-cs"/>
                  </a:rPr>
                  <a:t> tuning </a:t>
                </a:r>
                <a:r>
                  <a:rPr lang="en-US" sz="1200" b="0" i="0" kern="1200" dirty="0" err="1">
                    <a:solidFill>
                      <a:schemeClr val="tx1"/>
                    </a:solidFill>
                    <a:effectLst/>
                    <a:latin typeface="+mn-lt"/>
                    <a:ea typeface="+mn-ea"/>
                    <a:cs typeface="+mn-cs"/>
                  </a:rPr>
                  <a:t>suplimentar</a:t>
                </a:r>
                <a:r>
                  <a:rPr lang="en-US" sz="1200" b="0" i="0" kern="1200" dirty="0">
                    <a:solidFill>
                      <a:schemeClr val="tx1"/>
                    </a:solidFill>
                    <a:effectLst/>
                    <a:latin typeface="+mn-lt"/>
                    <a:ea typeface="+mn-ea"/>
                    <a:cs typeface="+mn-cs"/>
                  </a:rPr>
                  <a:t>.</a:t>
                </a:r>
                <a:endParaRPr lang="ro-RO"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La test</a:t>
                </a:r>
                <a:r>
                  <a:rPr lang="en-US" sz="1200" b="0" i="0" kern="1200" dirty="0">
                    <a:solidFill>
                      <a:schemeClr val="tx1"/>
                    </a:solidFill>
                    <a:effectLst/>
                    <a:latin typeface="+mn-lt"/>
                    <a:ea typeface="+mn-ea"/>
                    <a:cs typeface="+mn-cs"/>
                  </a:rPr>
                  <a:t>, nu </a:t>
                </a:r>
                <a:r>
                  <a:rPr lang="en-US" sz="1200" b="0" i="0" kern="1200" dirty="0" err="1">
                    <a:solidFill>
                      <a:schemeClr val="tx1"/>
                    </a:solidFill>
                    <a:effectLst/>
                    <a:latin typeface="+mn-lt"/>
                    <a:ea typeface="+mn-ea"/>
                    <a:cs typeface="+mn-cs"/>
                  </a:rPr>
                  <a:t>mai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avem</a:t>
                </a:r>
                <a:r>
                  <a:rPr lang="en-US" sz="1200" b="0" i="0" kern="1200" dirty="0">
                    <a:solidFill>
                      <a:schemeClr val="tx1"/>
                    </a:solidFill>
                    <a:effectLst/>
                    <a:latin typeface="+mn-lt"/>
                    <a:ea typeface="+mn-ea"/>
                    <a:cs typeface="+mn-cs"/>
                  </a:rPr>
                  <a:t> loss, nu </a:t>
                </a:r>
                <a:r>
                  <a:rPr lang="en-US" sz="1200" b="0" i="0" kern="1200" dirty="0" err="1">
                    <a:solidFill>
                      <a:schemeClr val="tx1"/>
                    </a:solidFill>
                    <a:effectLst/>
                    <a:latin typeface="+mn-lt"/>
                    <a:ea typeface="+mn-ea"/>
                    <a:cs typeface="+mn-cs"/>
                  </a:rPr>
                  <a:t>mai</a:t>
                </a:r>
                <a:r>
                  <a:rPr lang="en-US" sz="1200" b="0" i="0" kern="1200" dirty="0">
                    <a:solidFill>
                      <a:schemeClr val="tx1"/>
                    </a:solidFill>
                    <a:effectLst/>
                    <a:latin typeface="+mn-lt"/>
                    <a:ea typeface="+mn-ea"/>
                    <a:cs typeface="+mn-cs"/>
                  </a:rPr>
                  <a:t> </a:t>
                </a:r>
                <a:r>
                  <a:rPr lang="en-US" dirty="0" err="1"/>
                  <a:t>folosim</a:t>
                </a:r>
                <a:r>
                  <a:rPr lang="en-US" dirty="0"/>
                  <a:t> loss-ul total </a:t>
                </a:r>
                <a:r>
                  <a:rPr lang="en-US" dirty="0" err="1"/>
                  <a:t>pentru</a:t>
                </a:r>
                <a:r>
                  <a:rPr lang="en-US" dirty="0"/>
                  <a:t> </a:t>
                </a:r>
                <a:r>
                  <a:rPr lang="en-US" dirty="0" err="1"/>
                  <a:t>învățare</a:t>
                </a:r>
                <a:r>
                  <a:rPr lang="en-US" dirty="0"/>
                  <a:t>; </a:t>
                </a:r>
                <a:r>
                  <a:rPr lang="en-US" dirty="0" err="1"/>
                  <a:t>folosim</a:t>
                </a:r>
                <a:r>
                  <a:rPr lang="en-US" dirty="0"/>
                  <a:t> </a:t>
                </a:r>
                <a:r>
                  <a:rPr lang="en-US" dirty="0" err="1"/>
                  <a:t>doar</a:t>
                </a:r>
                <a:r>
                  <a:rPr lang="en-US" dirty="0"/>
                  <a:t> </a:t>
                </a:r>
                <a:r>
                  <a:rPr lang="en-US" dirty="0" err="1"/>
                  <a:t>eroarea</a:t>
                </a:r>
                <a:r>
                  <a:rPr lang="en-US" dirty="0"/>
                  <a:t> de </a:t>
                </a:r>
                <a:r>
                  <a:rPr lang="en-US" dirty="0" err="1"/>
                  <a:t>reconstrucție</a:t>
                </a:r>
                <a:r>
                  <a:rPr lang="en-US" dirty="0"/>
                  <a:t> ca </a:t>
                </a:r>
                <a:r>
                  <a:rPr lang="en-US" dirty="0" err="1"/>
                  <a:t>măsură</a:t>
                </a:r>
                <a:r>
                  <a:rPr lang="en-US" dirty="0"/>
                  <a:t> a </a:t>
                </a:r>
                <a:r>
                  <a:rPr lang="en-US" dirty="0" err="1"/>
                  <a:t>cât</a:t>
                </a:r>
                <a:r>
                  <a:rPr lang="en-US" dirty="0"/>
                  <a:t> de anormal </a:t>
                </a:r>
                <a:r>
                  <a:rPr lang="en-US" dirty="0" err="1"/>
                  <a:t>este</a:t>
                </a:r>
                <a:r>
                  <a:rPr lang="en-US" dirty="0"/>
                  <a:t> un </a:t>
                </a:r>
                <a:r>
                  <a:rPr lang="en-US" dirty="0" err="1"/>
                  <a:t>exemplu</a:t>
                </a:r>
                <a:r>
                  <a:rPr lang="en-US" dirty="0"/>
                  <a:t>, </a:t>
                </a:r>
                <a:r>
                  <a:rPr lang="en-US" dirty="0" err="1"/>
                  <a:t>apoi</a:t>
                </a:r>
                <a:r>
                  <a:rPr lang="en-US" dirty="0"/>
                  <a:t> o </a:t>
                </a:r>
                <a:r>
                  <a:rPr lang="en-US" dirty="0" err="1"/>
                  <a:t>normalizăm</a:t>
                </a:r>
                <a:r>
                  <a:rPr lang="en-US" dirty="0"/>
                  <a:t> </a:t>
                </a:r>
                <a:r>
                  <a:rPr lang="en-US" dirty="0" err="1"/>
                  <a:t>într</a:t>
                </a:r>
                <a:r>
                  <a:rPr lang="en-US" dirty="0"/>
                  <a:t>-un </a:t>
                </a:r>
                <a:r>
                  <a:rPr lang="en-US" dirty="0" err="1"/>
                  <a:t>scor</a:t>
                </a:r>
                <a:r>
                  <a:rPr lang="en-US" dirty="0"/>
                  <a:t> de </a:t>
                </a:r>
                <a:r>
                  <a:rPr lang="en-US" dirty="0" err="1"/>
                  <a:t>normalitate</a:t>
                </a:r>
                <a:r>
                  <a:rPr lang="en-US" dirty="0"/>
                  <a:t> </a:t>
                </a:r>
                <a:r>
                  <a:rPr lang="en-US" sz="1200" i="0" kern="1200">
                    <a:solidFill>
                      <a:schemeClr val="tx1"/>
                    </a:solidFill>
                    <a:latin typeface="+mn-lt"/>
                    <a:ea typeface="+mn-ea"/>
                    <a:cs typeface="+mn-cs"/>
                  </a:rPr>
                  <a:t>𝑝_𝑢</a:t>
                </a:r>
                <a:r>
                  <a:rPr lang="en-US" sz="1200" b="0" i="0" kern="1200" dirty="0">
                    <a:solidFill>
                      <a:schemeClr val="tx1"/>
                    </a:solidFill>
                    <a:effectLst/>
                    <a:latin typeface="+mn-lt"/>
                    <a:ea typeface="+mn-ea"/>
                    <a:cs typeface="+mn-cs"/>
                  </a:rPr>
                  <a:t>. </a:t>
                </a:r>
                <a:r>
                  <a:rPr lang="en-US" dirty="0"/>
                  <a:t>Nu </a:t>
                </a:r>
                <a:r>
                  <a:rPr lang="en-US" dirty="0" err="1"/>
                  <a:t>mai</a:t>
                </a:r>
                <a:r>
                  <a:rPr lang="en-US" dirty="0"/>
                  <a:t> </a:t>
                </a:r>
                <a:r>
                  <a:rPr lang="en-US" dirty="0" err="1"/>
                  <a:t>optimizăm</a:t>
                </a:r>
                <a:r>
                  <a:rPr lang="en-US" dirty="0"/>
                  <a:t> </a:t>
                </a:r>
                <a:r>
                  <a:rPr lang="en-US" dirty="0" err="1"/>
                  <a:t>nimic</a:t>
                </a:r>
                <a:r>
                  <a:rPr lang="en-US" dirty="0"/>
                  <a:t>. </a:t>
                </a:r>
                <a:r>
                  <a:rPr lang="en-US" dirty="0" err="1"/>
                  <a:t>Parametrii</a:t>
                </a:r>
                <a:r>
                  <a:rPr lang="en-US" dirty="0"/>
                  <a:t> sunt </a:t>
                </a:r>
                <a:r>
                  <a:rPr lang="en-US" dirty="0" err="1"/>
                  <a:t>fixați</a:t>
                </a:r>
                <a:r>
                  <a:rPr lang="en-US" dirty="0"/>
                  <a:t>.</a:t>
                </a:r>
                <a:r>
                  <a:rPr lang="en-US" sz="1200" b="0" i="0" kern="1200" dirty="0">
                    <a:solidFill>
                      <a:schemeClr val="tx1"/>
                    </a:solidFill>
                    <a:effectLst/>
                    <a:latin typeface="+mn-lt"/>
                    <a:ea typeface="+mn-ea"/>
                    <a:cs typeface="+mn-cs"/>
                  </a:rPr>
                  <a:t> </a:t>
                </a:r>
              </a:p>
              <a:p>
                <a:r>
                  <a:rPr lang="en-US" dirty="0" err="1"/>
                  <a:t>Scorul</a:t>
                </a:r>
                <a:r>
                  <a:rPr lang="en-US" dirty="0"/>
                  <a:t> de </a:t>
                </a:r>
                <a:r>
                  <a:rPr lang="en-US" dirty="0" err="1"/>
                  <a:t>normalitate</a:t>
                </a:r>
                <a:r>
                  <a:rPr lang="en-US" dirty="0"/>
                  <a:t> </a:t>
                </a:r>
                <a:r>
                  <a:rPr lang="en-US" sz="1200" i="0" kern="1200">
                    <a:solidFill>
                      <a:schemeClr val="tx1"/>
                    </a:solidFill>
                    <a:latin typeface="+mn-lt"/>
                    <a:ea typeface="+mn-ea"/>
                    <a:cs typeface="+mn-cs"/>
                  </a:rPr>
                  <a:t>𝑝_𝑢</a:t>
                </a:r>
                <a:r>
                  <a:rPr lang="en-US" dirty="0"/>
                  <a:t>nu </a:t>
                </a:r>
                <a:r>
                  <a:rPr lang="en-US" dirty="0" err="1"/>
                  <a:t>este</a:t>
                </a:r>
                <a:r>
                  <a:rPr lang="en-US" dirty="0"/>
                  <a:t> </a:t>
                </a:r>
                <a:r>
                  <a:rPr lang="en-US" dirty="0" err="1"/>
                  <a:t>folosit</a:t>
                </a:r>
                <a:r>
                  <a:rPr lang="en-US" dirty="0"/>
                  <a:t> </a:t>
                </a:r>
                <a:r>
                  <a:rPr lang="en-US" dirty="0" err="1"/>
                  <a:t>pentru</a:t>
                </a:r>
                <a:r>
                  <a:rPr lang="en-US" dirty="0"/>
                  <a:t> a </a:t>
                </a:r>
                <a:r>
                  <a:rPr lang="en-US" dirty="0" err="1"/>
                  <a:t>reconstrui</a:t>
                </a:r>
                <a:r>
                  <a:rPr lang="en-US" dirty="0"/>
                  <a:t> </a:t>
                </a:r>
                <a:r>
                  <a:rPr lang="en-US" dirty="0" err="1"/>
                  <a:t>sau</a:t>
                </a:r>
                <a:r>
                  <a:rPr lang="en-US" dirty="0"/>
                  <a:t> </a:t>
                </a:r>
                <a:r>
                  <a:rPr lang="en-US" dirty="0" err="1"/>
                  <a:t>antrena</a:t>
                </a:r>
                <a:r>
                  <a:rPr lang="en-US" dirty="0"/>
                  <a:t> </a:t>
                </a:r>
                <a:r>
                  <a:rPr lang="en-US" dirty="0" err="1"/>
                  <a:t>modelul</a:t>
                </a:r>
                <a:r>
                  <a:rPr lang="en-US" dirty="0"/>
                  <a:t>. El are un </a:t>
                </a:r>
                <a:r>
                  <a:rPr lang="en-US" dirty="0" err="1"/>
                  <a:t>rol</a:t>
                </a:r>
                <a:r>
                  <a:rPr lang="en-US" dirty="0"/>
                  <a:t> </a:t>
                </a:r>
                <a:r>
                  <a:rPr lang="en-US" dirty="0" err="1"/>
                  <a:t>foarte</a:t>
                </a:r>
                <a:r>
                  <a:rPr lang="en-US" dirty="0"/>
                  <a:t> </a:t>
                </a:r>
                <a:r>
                  <a:rPr lang="en-US" dirty="0" err="1"/>
                  <a:t>simplu</a:t>
                </a:r>
                <a:r>
                  <a:rPr lang="en-US" dirty="0"/>
                  <a:t>:</a:t>
                </a:r>
              </a:p>
              <a:p>
                <a:r>
                  <a:rPr lang="en-US" b="1" dirty="0" err="1"/>
                  <a:t>transformă</a:t>
                </a:r>
                <a:r>
                  <a:rPr lang="en-US" b="1" dirty="0"/>
                  <a:t> </a:t>
                </a:r>
                <a:r>
                  <a:rPr lang="en-US" b="1" dirty="0" err="1"/>
                  <a:t>eroarea</a:t>
                </a:r>
                <a:r>
                  <a:rPr lang="en-US" b="1" dirty="0"/>
                  <a:t> de </a:t>
                </a:r>
                <a:r>
                  <a:rPr lang="en-US" b="1" dirty="0" err="1"/>
                  <a:t>reconstrucție</a:t>
                </a:r>
                <a:r>
                  <a:rPr lang="en-US" b="1" dirty="0"/>
                  <a:t> </a:t>
                </a:r>
                <a:r>
                  <a:rPr lang="en-US" b="1" dirty="0" err="1"/>
                  <a:t>într</a:t>
                </a:r>
                <a:r>
                  <a:rPr lang="en-US" b="1" dirty="0"/>
                  <a:t>-un </a:t>
                </a:r>
                <a:r>
                  <a:rPr lang="en-US" b="1" dirty="0" err="1"/>
                  <a:t>scor</a:t>
                </a:r>
                <a:r>
                  <a:rPr lang="en-US" b="1" dirty="0"/>
                  <a:t> </a:t>
                </a:r>
                <a:r>
                  <a:rPr lang="en-US" b="1" dirty="0" err="1"/>
                  <a:t>ușor</a:t>
                </a:r>
                <a:r>
                  <a:rPr lang="en-US" b="1" dirty="0"/>
                  <a:t> de </a:t>
                </a:r>
                <a:r>
                  <a:rPr lang="en-US" b="1" dirty="0" err="1"/>
                  <a:t>interpretat</a:t>
                </a:r>
                <a:r>
                  <a:rPr lang="en-US" b="1" dirty="0"/>
                  <a:t> </a:t>
                </a:r>
                <a:r>
                  <a:rPr lang="en-US" b="1" dirty="0" err="1"/>
                  <a:t>între</a:t>
                </a:r>
                <a:r>
                  <a:rPr lang="en-US" b="1" dirty="0"/>
                  <a:t> 0 </a:t>
                </a:r>
                <a:r>
                  <a:rPr lang="en-US" b="1" dirty="0" err="1"/>
                  <a:t>și</a:t>
                </a:r>
                <a:r>
                  <a:rPr lang="en-US" b="1" dirty="0"/>
                  <a:t> 1.</a:t>
                </a:r>
                <a:endParaRPr lang="en-US" dirty="0"/>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Folosim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eroarea</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reconstrucție</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unui</a:t>
                </a:r>
                <a:r>
                  <a:rPr lang="en-US" sz="1200" b="0" i="0" kern="1200" dirty="0">
                    <a:solidFill>
                      <a:schemeClr val="tx1"/>
                    </a:solidFill>
                    <a:effectLst/>
                    <a:latin typeface="+mn-lt"/>
                    <a:ea typeface="+mn-ea"/>
                    <a:cs typeface="+mn-cs"/>
                  </a:rPr>
                  <a:t> frame ca </a:t>
                </a:r>
                <a:r>
                  <a:rPr lang="en-US" sz="1200" b="0" i="0" kern="1200" dirty="0" err="1">
                    <a:solidFill>
                      <a:schemeClr val="tx1"/>
                    </a:solidFill>
                    <a:effectLst/>
                    <a:latin typeface="+mn-lt"/>
                    <a:ea typeface="+mn-ea"/>
                    <a:cs typeface="+mn-cs"/>
                  </a:rPr>
                  <a:t>scor</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anomalie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Aceasta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normalizată</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intervalul</a:t>
                </a:r>
                <a:r>
                  <a:rPr lang="en-US" sz="1200" b="0" i="0" kern="1200" dirty="0">
                    <a:solidFill>
                      <a:schemeClr val="tx1"/>
                    </a:solidFill>
                    <a:effectLst/>
                    <a:latin typeface="+mn-lt"/>
                    <a:ea typeface="+mn-ea"/>
                    <a:cs typeface="+mn-cs"/>
                  </a:rPr>
                  <a:t> 0-1 </a:t>
                </a:r>
                <a:r>
                  <a:rPr lang="en-US" sz="1200" b="0" i="0" kern="1200" dirty="0" err="1">
                    <a:solidFill>
                      <a:schemeClr val="tx1"/>
                    </a:solidFill>
                    <a:effectLst/>
                    <a:latin typeface="+mn-lt"/>
                    <a:ea typeface="+mn-ea"/>
                    <a:cs typeface="+mn-cs"/>
                  </a:rPr>
                  <a:t>pentru</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obține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scorul</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normalitate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pu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aproape</a:t>
                </a:r>
                <a:r>
                  <a:rPr lang="en-US" sz="1200" b="0" i="0" kern="1200" dirty="0">
                    <a:solidFill>
                      <a:schemeClr val="tx1"/>
                    </a:solidFill>
                    <a:effectLst/>
                    <a:latin typeface="+mn-lt"/>
                    <a:ea typeface="+mn-ea"/>
                    <a:cs typeface="+mn-cs"/>
                  </a:rPr>
                  <a:t> de 0 </a:t>
                </a:r>
                <a:r>
                  <a:rPr lang="en-US" sz="1200" b="0" i="0" kern="1200" dirty="0" err="1">
                    <a:solidFill>
                      <a:schemeClr val="tx1"/>
                    </a:solidFill>
                    <a:effectLst/>
                    <a:latin typeface="+mn-lt"/>
                    <a:ea typeface="+mn-ea"/>
                    <a:cs typeface="+mn-cs"/>
                  </a:rPr>
                  <a:t>indică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anomalie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aproape</a:t>
                </a:r>
                <a:r>
                  <a:rPr lang="en-US" sz="1200" b="0" i="0" kern="1200" dirty="0">
                    <a:solidFill>
                      <a:schemeClr val="tx1"/>
                    </a:solidFill>
                    <a:effectLst/>
                    <a:latin typeface="+mn-lt"/>
                    <a:ea typeface="+mn-ea"/>
                    <a:cs typeface="+mn-cs"/>
                  </a:rPr>
                  <a:t> de 1 </a:t>
                </a:r>
                <a:r>
                  <a:rPr lang="en-US" sz="1200" b="0" i="0" kern="1200" dirty="0" err="1">
                    <a:solidFill>
                      <a:schemeClr val="tx1"/>
                    </a:solidFill>
                    <a:effectLst/>
                    <a:latin typeface="+mn-lt"/>
                    <a:ea typeface="+mn-ea"/>
                    <a:cs typeface="+mn-cs"/>
                  </a:rPr>
                  <a:t>indică</a:t>
                </a:r>
                <a:r>
                  <a:rPr lang="en-US" sz="1200" b="0" i="0" kern="1200" dirty="0">
                    <a:solidFill>
                      <a:schemeClr val="tx1"/>
                    </a:solidFill>
                    <a:effectLst/>
                    <a:latin typeface="+mn-lt"/>
                    <a:ea typeface="+mn-ea"/>
                    <a:cs typeface="+mn-cs"/>
                  </a:rPr>
                  <a:t> normal. </a:t>
                </a:r>
                <a:r>
                  <a:rPr lang="en-US" sz="1200" b="0" i="0" kern="1200" dirty="0" err="1">
                    <a:solidFill>
                      <a:schemeClr val="tx1"/>
                    </a:solidFill>
                    <a:effectLst/>
                    <a:latin typeface="+mn-lt"/>
                    <a:ea typeface="+mn-ea"/>
                    <a:cs typeface="+mn-cs"/>
                  </a:rPr>
                  <a:t>Graficele</a:t>
                </a:r>
                <a:r>
                  <a:rPr lang="en-US" sz="1200" b="0" i="0" kern="1200" dirty="0">
                    <a:solidFill>
                      <a:schemeClr val="tx1"/>
                    </a:solidFill>
                    <a:effectLst/>
                    <a:latin typeface="+mn-lt"/>
                    <a:ea typeface="+mn-ea"/>
                    <a:cs typeface="+mn-cs"/>
                  </a:rPr>
                  <a:t> din </a:t>
                </a:r>
                <a:r>
                  <a:rPr lang="en-US" sz="1200" b="0" i="0" kern="1200" dirty="0" err="1">
                    <a:solidFill>
                      <a:schemeClr val="tx1"/>
                    </a:solidFill>
                    <a:effectLst/>
                    <a:latin typeface="+mn-lt"/>
                    <a:ea typeface="+mn-ea"/>
                    <a:cs typeface="+mn-cs"/>
                  </a:rPr>
                  <a:t>articol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arată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scorul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scade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imediat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când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apare</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anomalie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a:t>
                </a:r>
                <a:r>
                  <a:rPr lang="en-US" sz="1200" b="0" i="0" kern="1200" dirty="0">
                    <a:solidFill>
                      <a:schemeClr val="tx1"/>
                    </a:solidFill>
                    <a:effectLst/>
                    <a:latin typeface="+mn-lt"/>
                    <a:ea typeface="+mn-ea"/>
                    <a:cs typeface="+mn-cs"/>
                  </a:rPr>
                  <a:t> video."</a:t>
                </a:r>
              </a:p>
              <a:p>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6</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acest</a:t>
            </a:r>
            <a:r>
              <a:rPr lang="en-US" dirty="0">
                <a:latin typeface="Times New Roman" panose="02020603050405020304" pitchFamily="18" charset="0"/>
                <a:cs typeface="Times New Roman" panose="02020603050405020304" pitchFamily="18" charset="0"/>
              </a:rPr>
              <a:t> slide sunt </a:t>
            </a:r>
            <a:r>
              <a:rPr lang="en-US" dirty="0" err="1">
                <a:latin typeface="Times New Roman" panose="02020603050405020304" pitchFamily="18" charset="0"/>
                <a:cs typeface="Times New Roman" panose="02020603050405020304" pitchFamily="18" charset="0"/>
              </a:rPr>
              <a:t>sintetizate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rezultatele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experimentale</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cele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trei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direcții</a:t>
            </a:r>
            <a:r>
              <a:rPr lang="en-US" dirty="0">
                <a:latin typeface="Times New Roman" panose="02020603050405020304" pitchFamily="18" charset="0"/>
                <a:cs typeface="Times New Roman" panose="02020603050405020304" pitchFamily="18" charset="0"/>
              </a:rPr>
              <a:t> testate de </a:t>
            </a:r>
            <a:r>
              <a:rPr lang="en-US" dirty="0" err="1">
                <a:latin typeface="Times New Roman" panose="02020603050405020304" pitchFamily="18" charset="0"/>
                <a:cs typeface="Times New Roman" panose="02020603050405020304" pitchFamily="18" charset="0"/>
              </a:rPr>
              <a:t>autori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imagini</a:t>
            </a:r>
            <a:r>
              <a:rPr lang="en-US" dirty="0">
                <a:latin typeface="Times New Roman" panose="02020603050405020304" pitchFamily="18" charset="0"/>
                <a:cs typeface="Times New Roman" panose="02020603050405020304" pitchFamily="18" charset="0"/>
              </a:rPr>
              <a:t>, video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cybersecurity. </a:t>
            </a:r>
            <a:r>
              <a:rPr lang="en-US" dirty="0" err="1">
                <a:latin typeface="Times New Roman" panose="02020603050405020304" pitchFamily="18" charset="0"/>
                <a:cs typeface="Times New Roman" panose="02020603050405020304" pitchFamily="18" charset="0"/>
              </a:rPr>
              <a:t>Scopul</a:t>
            </a:r>
            <a:r>
              <a:rPr lang="en-US" dirty="0">
                <a:latin typeface="Times New Roman" panose="02020603050405020304" pitchFamily="18" charset="0"/>
                <a:cs typeface="Times New Roman" panose="02020603050405020304" pitchFamily="18" charset="0"/>
              </a:rPr>
              <a:t> lor nu a </a:t>
            </a:r>
            <a:r>
              <a:rPr lang="en-US" dirty="0" err="1">
                <a:latin typeface="Times New Roman" panose="02020603050405020304" pitchFamily="18" charset="0"/>
                <a:cs typeface="Times New Roman" panose="02020603050405020304" pitchFamily="18" charset="0"/>
              </a:rPr>
              <a:t>fost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merge bine pe un </a:t>
            </a:r>
            <a:r>
              <a:rPr lang="en-US" dirty="0" err="1">
                <a:latin typeface="Times New Roman" panose="02020603050405020304" pitchFamily="18" charset="0"/>
                <a:cs typeface="Times New Roman" panose="02020603050405020304" pitchFamily="18" charset="0"/>
              </a:rPr>
              <a:t>singur</a:t>
            </a:r>
            <a:r>
              <a:rPr lang="en-US" dirty="0">
                <a:latin typeface="Times New Roman" panose="02020603050405020304" pitchFamily="18" charset="0"/>
                <a:cs typeface="Times New Roman" panose="02020603050405020304" pitchFamily="18" charset="0"/>
              </a:rPr>
              <a:t> dataset, ci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ideea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normalității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generală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fi </a:t>
            </a:r>
            <a:r>
              <a:rPr lang="en-US" dirty="0" err="1">
                <a:latin typeface="Times New Roman" panose="02020603050405020304" pitchFamily="18" charset="0"/>
                <a:cs typeface="Times New Roman" panose="02020603050405020304" pitchFamily="18" charset="0"/>
              </a:rPr>
              <a:t>aplicată</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tipuri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diferite</a:t>
            </a:r>
            <a:r>
              <a:rPr lang="en-US" dirty="0">
                <a:latin typeface="Times New Roman" panose="02020603050405020304" pitchFamily="18" charset="0"/>
                <a:cs typeface="Times New Roman" panose="02020603050405020304" pitchFamily="18" charset="0"/>
              </a:rPr>
              <a:t> de date.</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imaginile</a:t>
            </a:r>
            <a:r>
              <a:rPr lang="en-US" dirty="0">
                <a:latin typeface="Times New Roman" panose="02020603050405020304" pitchFamily="18" charset="0"/>
                <a:cs typeface="Times New Roman" panose="02020603050405020304" pitchFamily="18" charset="0"/>
              </a:rPr>
              <a:t> MNIST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CIFAR-10 se </a:t>
            </a:r>
            <a:r>
              <a:rPr lang="en-US" dirty="0" err="1">
                <a:latin typeface="Times New Roman" panose="02020603050405020304" pitchFamily="18" charset="0"/>
                <a:cs typeface="Times New Roman" panose="02020603050405020304" pitchFamily="18" charset="0"/>
              </a:rPr>
              <a:t>folosește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metrica</a:t>
            </a:r>
            <a:r>
              <a:rPr lang="en-US" dirty="0">
                <a:latin typeface="Times New Roman" panose="02020603050405020304" pitchFamily="18" charset="0"/>
                <a:cs typeface="Times New Roman" panose="02020603050405020304" pitchFamily="18" charset="0"/>
              </a:rPr>
              <a:t> AUC. AUC </a:t>
            </a:r>
            <a:r>
              <a:rPr lang="en-US" dirty="0" err="1">
                <a:latin typeface="Times New Roman" panose="02020603050405020304" pitchFamily="18" charset="0"/>
                <a:cs typeface="Times New Roman" panose="02020603050405020304" pitchFamily="18" charset="0"/>
              </a:rPr>
              <a:t>înseamnă</a:t>
            </a:r>
            <a:r>
              <a:rPr lang="en-US" dirty="0">
                <a:latin typeface="Times New Roman" panose="02020603050405020304" pitchFamily="18" charset="0"/>
                <a:cs typeface="Times New Roman" panose="02020603050405020304" pitchFamily="18" charset="0"/>
              </a:rPr>
              <a:t> Area Under the ROC Curve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măsoară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a:t>
            </a:r>
            <a:r>
              <a:rPr lang="en-US" dirty="0">
                <a:latin typeface="Times New Roman" panose="02020603050405020304" pitchFamily="18" charset="0"/>
                <a:cs typeface="Times New Roman" panose="02020603050405020304" pitchFamily="18" charset="0"/>
              </a:rPr>
              <a:t> de bine </a:t>
            </a:r>
            <a:r>
              <a:rPr lang="en-US" dirty="0" err="1">
                <a:latin typeface="Times New Roman" panose="02020603050405020304" pitchFamily="18" charset="0"/>
                <a:cs typeface="Times New Roman" panose="02020603050405020304" pitchFamily="18" charset="0"/>
              </a:rPr>
              <a:t>separă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exemplele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cele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indiferent</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pragul</a:t>
            </a:r>
            <a:r>
              <a:rPr lang="en-US" dirty="0">
                <a:latin typeface="Times New Roman" panose="02020603050405020304" pitchFamily="18" charset="0"/>
                <a:cs typeface="Times New Roman" panose="02020603050405020304" pitchFamily="18" charset="0"/>
              </a:rPr>
              <a:t> ales. Asta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important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anomaly detection,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produce de </a:t>
            </a:r>
            <a:r>
              <a:rPr lang="en-US" dirty="0" err="1">
                <a:latin typeface="Times New Roman" panose="02020603050405020304" pitchFamily="18" charset="0"/>
                <a:cs typeface="Times New Roman" panose="02020603050405020304" pitchFamily="18" charset="0"/>
              </a:rPr>
              <a:t>obicei</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scor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continuu</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exemplu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eroarea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reconstrucție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pragul</a:t>
            </a:r>
            <a:r>
              <a:rPr lang="en-US" dirty="0">
                <a:latin typeface="Times New Roman" panose="02020603050405020304" pitchFamily="18" charset="0"/>
                <a:cs typeface="Times New Roman" panose="02020603050405020304" pitchFamily="18" charset="0"/>
              </a:rPr>
              <a:t> de la care </a:t>
            </a:r>
            <a:r>
              <a:rPr lang="en-US" dirty="0" err="1">
                <a:latin typeface="Times New Roman" panose="02020603050405020304" pitchFamily="18" charset="0"/>
                <a:cs typeface="Times New Roman" panose="02020603050405020304" pitchFamily="18" charset="0"/>
              </a:rPr>
              <a:t>spunem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aceasta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varia de la o </a:t>
            </a:r>
            <a:r>
              <a:rPr lang="en-US" dirty="0" err="1">
                <a:latin typeface="Times New Roman" panose="02020603050405020304" pitchFamily="18" charset="0"/>
                <a:cs typeface="Times New Roman" panose="02020603050405020304" pitchFamily="18" charset="0"/>
              </a:rPr>
              <a:t>aplicație</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alta.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Practic</a:t>
            </a:r>
            <a:r>
              <a:rPr lang="en-US" dirty="0">
                <a:latin typeface="Times New Roman" panose="02020603050405020304" pitchFamily="18" charset="0"/>
                <a:cs typeface="Times New Roman" panose="02020603050405020304" pitchFamily="18" charset="0"/>
              </a:rPr>
              <a:t>, un AUC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mare </a:t>
            </a:r>
            <a:r>
              <a:rPr lang="en-US" dirty="0" err="1">
                <a:latin typeface="Times New Roman" panose="02020603050405020304" pitchFamily="18" charset="0"/>
                <a:cs typeface="Times New Roman" panose="02020603050405020304" pitchFamily="18" charset="0"/>
              </a:rPr>
              <a:t>înseamnă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general, </a:t>
            </a:r>
            <a:r>
              <a:rPr lang="en-US" dirty="0" err="1">
                <a:latin typeface="Times New Roman" panose="02020603050405020304" pitchFamily="18" charset="0"/>
                <a:cs typeface="Times New Roman" panose="02020603050405020304" pitchFamily="18" charset="0"/>
              </a:rPr>
              <a:t>anomaliile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sus ca </a:t>
            </a:r>
            <a:r>
              <a:rPr lang="en-US" dirty="0" err="1">
                <a:latin typeface="Times New Roman" panose="02020603050405020304" pitchFamily="18" charset="0"/>
                <a:cs typeface="Times New Roman" panose="02020603050405020304" pitchFamily="18" charset="0"/>
              </a:rPr>
              <a:t>scor</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anomalie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decât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exemplele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Pe </a:t>
            </a:r>
            <a:r>
              <a:rPr lang="en-US" dirty="0" err="1">
                <a:latin typeface="Times New Roman" panose="02020603050405020304" pitchFamily="18" charset="0"/>
                <a:cs typeface="Times New Roman" panose="02020603050405020304" pitchFamily="18" charset="0"/>
              </a:rPr>
              <a:t>imagini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obține</a:t>
            </a:r>
            <a:r>
              <a:rPr lang="en-US" dirty="0">
                <a:latin typeface="Times New Roman" panose="02020603050405020304" pitchFamily="18" charset="0"/>
                <a:cs typeface="Times New Roman" panose="02020603050405020304" pitchFamily="18" charset="0"/>
              </a:rPr>
              <a:t> 0.9751 AUC pe MNIST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0.6088 pe CIFAR-10. </a:t>
            </a:r>
            <a:r>
              <a:rPr lang="en-US" dirty="0" err="1">
                <a:latin typeface="Times New Roman" panose="02020603050405020304" pitchFamily="18" charset="0"/>
                <a:cs typeface="Times New Roman" panose="02020603050405020304" pitchFamily="18" charset="0"/>
              </a:rPr>
              <a:t>Diferența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dintre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normală</a:t>
            </a:r>
            <a:r>
              <a:rPr lang="en-US" dirty="0">
                <a:latin typeface="Times New Roman" panose="02020603050405020304" pitchFamily="18" charset="0"/>
                <a:cs typeface="Times New Roman" panose="02020603050405020304" pitchFamily="18" charset="0"/>
              </a:rPr>
              <a:t>: MNIST </a:t>
            </a:r>
            <a:r>
              <a:rPr lang="en-US" dirty="0" err="1">
                <a:latin typeface="Times New Roman" panose="02020603050405020304" pitchFamily="18" charset="0"/>
                <a:cs typeface="Times New Roman" panose="02020603050405020304" pitchFamily="18" charset="0"/>
              </a:rPr>
              <a:t>conține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cifre</a:t>
            </a:r>
            <a:r>
              <a:rPr lang="en-US" dirty="0">
                <a:latin typeface="Times New Roman" panose="02020603050405020304" pitchFamily="18" charset="0"/>
                <a:cs typeface="Times New Roman" panose="02020603050405020304" pitchFamily="18" charset="0"/>
              </a:rPr>
              <a:t> simple, </a:t>
            </a:r>
            <a:r>
              <a:rPr lang="en-US" dirty="0" err="1">
                <a:latin typeface="Times New Roman" panose="02020603050405020304" pitchFamily="18" charset="0"/>
                <a:cs typeface="Times New Roman" panose="02020603050405020304" pitchFamily="18" charset="0"/>
              </a:rPr>
              <a:t>deci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normalitatea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ușor</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învățat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timp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CIFAR-10 are </a:t>
            </a:r>
            <a:r>
              <a:rPr lang="en-US" dirty="0" err="1">
                <a:latin typeface="Times New Roman" panose="02020603050405020304" pitchFamily="18" charset="0"/>
                <a:cs typeface="Times New Roman" panose="02020603050405020304" pitchFamily="18" charset="0"/>
              </a:rPr>
              <a:t>imagini</a:t>
            </a:r>
            <a:r>
              <a:rPr lang="en-US" dirty="0">
                <a:latin typeface="Times New Roman" panose="02020603050405020304" pitchFamily="18" charset="0"/>
                <a:cs typeface="Times New Roman" panose="02020603050405020304" pitchFamily="18" charset="0"/>
              </a:rPr>
              <a:t> color, </a:t>
            </a:r>
            <a:r>
              <a:rPr lang="en-US" dirty="0" err="1">
                <a:latin typeface="Times New Roman" panose="02020603050405020304" pitchFamily="18" charset="0"/>
                <a:cs typeface="Times New Roman" panose="02020603050405020304" pitchFamily="18" charset="0"/>
              </a:rPr>
              <a:t>obiecte</a:t>
            </a:r>
            <a:r>
              <a:rPr lang="en-US" dirty="0">
                <a:latin typeface="Times New Roman" panose="02020603050405020304" pitchFamily="18" charset="0"/>
                <a:cs typeface="Times New Roman" panose="02020603050405020304" pitchFamily="18" charset="0"/>
              </a:rPr>
              <a:t> variate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mult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multă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diversitate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vizuală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Totuși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depășește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simplu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varianta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fără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sparsitate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memoria </a:t>
            </a:r>
            <a:r>
              <a:rPr lang="en-US" dirty="0" err="1">
                <a:latin typeface="Times New Roman" panose="02020603050405020304" pitchFamily="18" charset="0"/>
                <a:cs typeface="Times New Roman" panose="02020603050405020304" pitchFamily="18" charset="0"/>
              </a:rPr>
              <a:t>ajută</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video se </a:t>
            </a:r>
            <a:r>
              <a:rPr lang="en-US" dirty="0" err="1">
                <a:latin typeface="Times New Roman" panose="02020603050405020304" pitchFamily="18" charset="0"/>
                <a:cs typeface="Times New Roman" panose="02020603050405020304" pitchFamily="18" charset="0"/>
              </a:rPr>
              <a:t>folosește</a:t>
            </a:r>
            <a:r>
              <a:rPr lang="en-US" dirty="0">
                <a:latin typeface="Times New Roman" panose="02020603050405020304" pitchFamily="18" charset="0"/>
                <a:cs typeface="Times New Roman" panose="02020603050405020304" pitchFamily="18" charset="0"/>
              </a:rPr>
              <a:t> tot AUC, </a:t>
            </a:r>
            <a:r>
              <a:rPr lang="en-US" dirty="0" err="1">
                <a:latin typeface="Times New Roman" panose="02020603050405020304" pitchFamily="18" charset="0"/>
                <a:cs typeface="Times New Roman" panose="02020603050405020304" pitchFamily="18" charset="0"/>
              </a:rPr>
              <a:t>deoarece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aici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produce un </a:t>
            </a:r>
            <a:r>
              <a:rPr lang="en-US" dirty="0" err="1">
                <a:latin typeface="Times New Roman" panose="02020603050405020304" pitchFamily="18" charset="0"/>
                <a:cs typeface="Times New Roman" panose="02020603050405020304" pitchFamily="18" charset="0"/>
              </a:rPr>
              <a:t>scor</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anomalie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fiecare</a:t>
            </a:r>
            <a:r>
              <a:rPr lang="en-US" dirty="0">
                <a:latin typeface="Times New Roman" panose="02020603050405020304" pitchFamily="18" charset="0"/>
                <a:cs typeface="Times New Roman" panose="02020603050405020304" pitchFamily="18" charset="0"/>
              </a:rPr>
              <a:t> frame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secvență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eroarea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reconstrucție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mare, frame-ul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probabil</a:t>
            </a:r>
            <a:r>
              <a:rPr lang="en-US" dirty="0">
                <a:latin typeface="Times New Roman" panose="02020603050405020304" pitchFamily="18" charset="0"/>
                <a:cs typeface="Times New Roman" panose="02020603050405020304" pitchFamily="18" charset="0"/>
              </a:rPr>
              <a:t> anormal. AUC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util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evaluează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performanța</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toate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pragurile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posibile</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unul</a:t>
            </a:r>
            <a:r>
              <a:rPr lang="en-US" dirty="0">
                <a:latin typeface="Times New Roman" panose="02020603050405020304" pitchFamily="18" charset="0"/>
                <a:cs typeface="Times New Roman" panose="02020603050405020304" pitchFamily="18" charset="0"/>
              </a:rPr>
              <a:t> ales manual. Pe UCSD-Ped2, Avenue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ShanghaiTech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obține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rezultate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decât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baseline. Este important de </a:t>
            </a:r>
            <a:r>
              <a:rPr lang="en-US" dirty="0" err="1">
                <a:latin typeface="Times New Roman" panose="02020603050405020304" pitchFamily="18" charset="0"/>
                <a:cs typeface="Times New Roman" panose="02020603050405020304" pitchFamily="18" charset="0"/>
              </a:rPr>
              <a:t>menționat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Frame-Pred are </a:t>
            </a:r>
            <a:r>
              <a:rPr lang="en-US" dirty="0" err="1">
                <a:latin typeface="Times New Roman" panose="02020603050405020304" pitchFamily="18" charset="0"/>
                <a:cs typeface="Times New Roman" panose="02020603050405020304" pitchFamily="18" charset="0"/>
              </a:rPr>
              <a:t>scoruri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mari</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unele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dataseturi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metodă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specializată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video, care </a:t>
            </a:r>
            <a:r>
              <a:rPr lang="en-US" dirty="0" err="1">
                <a:latin typeface="Times New Roman" panose="02020603050405020304" pitchFamily="18" charset="0"/>
                <a:cs typeface="Times New Roman" panose="02020603050405020304" pitchFamily="18" charset="0"/>
              </a:rPr>
              <a:t>folosește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informații</a:t>
            </a:r>
            <a:r>
              <a:rPr lang="en-US" dirty="0">
                <a:latin typeface="Times New Roman" panose="02020603050405020304" pitchFamily="18" charset="0"/>
                <a:cs typeface="Times New Roman" panose="02020603050405020304" pitchFamily="18" charset="0"/>
              </a:rPr>
              <a:t> precum </a:t>
            </a:r>
            <a:r>
              <a:rPr lang="en-US" dirty="0" err="1">
                <a:latin typeface="Times New Roman" panose="02020603050405020304" pitchFamily="18" charset="0"/>
                <a:cs typeface="Times New Roman" panose="02020603050405020304" pitchFamily="18" charset="0"/>
              </a:rPr>
              <a:t>predicția</a:t>
            </a:r>
            <a:r>
              <a:rPr lang="en-US" dirty="0">
                <a:latin typeface="Times New Roman" panose="02020603050405020304" pitchFamily="18" charset="0"/>
                <a:cs typeface="Times New Roman" panose="02020603050405020304" pitchFamily="18" charset="0"/>
              </a:rPr>
              <a:t> de frame-</a:t>
            </a:r>
            <a:r>
              <a:rPr lang="en-US" dirty="0" err="1">
                <a:latin typeface="Times New Roman" panose="02020603050405020304" pitchFamily="18" charset="0"/>
                <a:cs typeface="Times New Roman" panose="02020603050405020304" pitchFamily="18" charset="0"/>
              </a:rPr>
              <a: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optical flow.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general: </a:t>
            </a:r>
            <a:r>
              <a:rPr lang="en-US" dirty="0" err="1">
                <a:latin typeface="Times New Roman" panose="02020603050405020304" pitchFamily="18" charset="0"/>
                <a:cs typeface="Times New Roman" panose="02020603050405020304" pitchFamily="18" charset="0"/>
              </a:rPr>
              <a:t>folosește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reconstrucția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memoria </a:t>
            </a:r>
            <a:r>
              <a:rPr lang="en-US" dirty="0" err="1">
                <a:latin typeface="Times New Roman" panose="02020603050405020304" pitchFamily="18" charset="0"/>
                <a:cs typeface="Times New Roman" panose="02020603050405020304" pitchFamily="18" charset="0"/>
              </a:rPr>
              <a:t>normalității</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raportează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viteză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aproximativ</a:t>
            </a:r>
            <a:r>
              <a:rPr lang="en-US" dirty="0">
                <a:latin typeface="Times New Roman" panose="02020603050405020304" pitchFamily="18" charset="0"/>
                <a:cs typeface="Times New Roman" panose="02020603050405020304" pitchFamily="18" charset="0"/>
              </a:rPr>
              <a:t> 38 de cadre pe </a:t>
            </a:r>
            <a:r>
              <a:rPr lang="en-US" dirty="0" err="1">
                <a:latin typeface="Times New Roman" panose="02020603050405020304" pitchFamily="18" charset="0"/>
                <a:cs typeface="Times New Roman" panose="02020603050405020304" pitchFamily="18" charset="0"/>
              </a:rPr>
              <a:t>secundă</a:t>
            </a:r>
            <a:r>
              <a:rPr lang="en-US" dirty="0">
                <a:latin typeface="Times New Roman" panose="02020603050405020304" pitchFamily="18" charset="0"/>
                <a:cs typeface="Times New Roman" panose="02020603050405020304" pitchFamily="18" charset="0"/>
              </a:rPr>
              <a:t> pe UCSD-Ped2, </a:t>
            </a:r>
            <a:r>
              <a:rPr lang="en-US" dirty="0" err="1">
                <a:latin typeface="Times New Roman" panose="02020603050405020304" pitchFamily="18" charset="0"/>
                <a:cs typeface="Times New Roman" panose="02020603050405020304" pitchFamily="18" charset="0"/>
              </a:rPr>
              <a:t>ceea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modulul</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adaugă</a:t>
            </a:r>
            <a:r>
              <a:rPr lang="en-US" dirty="0">
                <a:latin typeface="Times New Roman" panose="02020603050405020304" pitchFamily="18" charset="0"/>
                <a:cs typeface="Times New Roman" panose="02020603050405020304" pitchFamily="18" charset="0"/>
              </a:rPr>
              <a:t> un cost </a:t>
            </a:r>
            <a:r>
              <a:rPr lang="en-US" dirty="0" err="1">
                <a:latin typeface="Times New Roman" panose="02020603050405020304" pitchFamily="18" charset="0"/>
                <a:cs typeface="Times New Roman" panose="02020603050405020304" pitchFamily="18" charset="0"/>
              </a:rPr>
              <a:t>computațional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semnificativ</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metoda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fi </a:t>
            </a:r>
            <a:r>
              <a:rPr lang="en-US" dirty="0" err="1">
                <a:latin typeface="Times New Roman" panose="02020603050405020304" pitchFamily="18" charset="0"/>
                <a:cs typeface="Times New Roman" panose="02020603050405020304" pitchFamily="18" charset="0"/>
              </a:rPr>
              <a:t>folosită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aproape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timp</a:t>
            </a:r>
            <a:r>
              <a:rPr lang="en-US" dirty="0">
                <a:latin typeface="Times New Roman" panose="02020603050405020304" pitchFamily="18" charset="0"/>
                <a:cs typeface="Times New Roman" panose="02020603050405020304" pitchFamily="18" charset="0"/>
              </a:rPr>
              <a:t> real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supraveghere</a:t>
            </a:r>
            <a:r>
              <a:rPr lang="en-US" dirty="0">
                <a:latin typeface="Times New Roman" panose="02020603050405020304" pitchFamily="18" charset="0"/>
                <a:cs typeface="Times New Roman" panose="02020603050405020304" pitchFamily="18" charset="0"/>
              </a:rPr>
              <a:t> video.</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partea</a:t>
            </a:r>
            <a:r>
              <a:rPr lang="en-US" dirty="0">
                <a:latin typeface="Times New Roman" panose="02020603050405020304" pitchFamily="18" charset="0"/>
                <a:cs typeface="Times New Roman" panose="02020603050405020304" pitchFamily="18" charset="0"/>
              </a:rPr>
              <a:t> de cybersecurity,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folosesc</a:t>
            </a:r>
            <a:r>
              <a:rPr lang="en-US" dirty="0">
                <a:latin typeface="Times New Roman" panose="02020603050405020304" pitchFamily="18" charset="0"/>
                <a:cs typeface="Times New Roman" panose="02020603050405020304" pitchFamily="18" charset="0"/>
              </a:rPr>
              <a:t> Precision, Recall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F1, nu AUC. </a:t>
            </a:r>
            <a:r>
              <a:rPr lang="en-US" dirty="0" err="1">
                <a:latin typeface="Times New Roman" panose="02020603050405020304" pitchFamily="18" charset="0"/>
                <a:cs typeface="Times New Roman" panose="02020603050405020304" pitchFamily="18" charset="0"/>
              </a:rPr>
              <a:t>Aici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evaluarea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formulată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direct ca o </a:t>
            </a:r>
            <a:r>
              <a:rPr lang="en-US" dirty="0" err="1">
                <a:latin typeface="Times New Roman" panose="02020603050405020304" pitchFamily="18" charset="0"/>
                <a:cs typeface="Times New Roman" panose="02020603050405020304" pitchFamily="18" charset="0"/>
              </a:rPr>
              <a:t>problemă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detecție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atacuri</a:t>
            </a:r>
            <a:r>
              <a:rPr lang="en-US" dirty="0">
                <a:latin typeface="Times New Roman" panose="02020603050405020304" pitchFamily="18" charset="0"/>
                <a:cs typeface="Times New Roman" panose="02020603050405020304" pitchFamily="18" charset="0"/>
              </a:rPr>
              <a:t> sunt </a:t>
            </a:r>
            <a:r>
              <a:rPr lang="en-US" dirty="0" err="1">
                <a:latin typeface="Times New Roman" panose="02020603050405020304" pitchFamily="18" charset="0"/>
                <a:cs typeface="Times New Roman" panose="02020603050405020304" pitchFamily="18" charset="0"/>
              </a:rPr>
              <a:t>detectate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corect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alarme</a:t>
            </a:r>
            <a:r>
              <a:rPr lang="en-US" dirty="0">
                <a:latin typeface="Times New Roman" panose="02020603050405020304" pitchFamily="18" charset="0"/>
                <a:cs typeface="Times New Roman" panose="02020603050405020304" pitchFamily="18" charset="0"/>
              </a:rPr>
              <a:t> false apar. Precision </a:t>
            </a:r>
            <a:r>
              <a:rPr lang="en-US" dirty="0" err="1">
                <a:latin typeface="Times New Roman" panose="02020603050405020304" pitchFamily="18" charset="0"/>
                <a:cs typeface="Times New Roman" panose="02020603050405020304" pitchFamily="18" charset="0"/>
              </a:rPr>
              <a:t>răspunde</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întrebarea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dintre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alarmele</a:t>
            </a:r>
            <a:r>
              <a:rPr lang="en-US" dirty="0">
                <a:latin typeface="Times New Roman" panose="02020603050405020304" pitchFamily="18" charset="0"/>
                <a:cs typeface="Times New Roman" panose="02020603050405020304" pitchFamily="18" charset="0"/>
              </a:rPr>
              <a:t> generate de model, </a:t>
            </a:r>
            <a:r>
              <a:rPr lang="en-US" dirty="0" err="1">
                <a:latin typeface="Times New Roman" panose="02020603050405020304" pitchFamily="18" charset="0"/>
                <a:cs typeface="Times New Roman" panose="02020603050405020304" pitchFamily="18" charset="0"/>
              </a:rPr>
              <a:t>câte</a:t>
            </a:r>
            <a:r>
              <a:rPr lang="en-US" dirty="0">
                <a:latin typeface="Times New Roman" panose="02020603050405020304" pitchFamily="18" charset="0"/>
                <a:cs typeface="Times New Roman" panose="02020603050405020304" pitchFamily="18" charset="0"/>
              </a:rPr>
              <a:t> sunt </a:t>
            </a:r>
            <a:r>
              <a:rPr lang="en-US" dirty="0" err="1">
                <a:latin typeface="Times New Roman" panose="02020603050405020304" pitchFamily="18" charset="0"/>
                <a:cs typeface="Times New Roman" panose="02020603050405020304" pitchFamily="18" charset="0"/>
              </a:rPr>
              <a:t>într-adevăr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a:t>
            </a:r>
            <a:r>
              <a:rPr lang="en-US" dirty="0">
                <a:latin typeface="Times New Roman" panose="02020603050405020304" pitchFamily="18" charset="0"/>
                <a:cs typeface="Times New Roman" panose="02020603050405020304" pitchFamily="18" charset="0"/>
              </a:rPr>
              <a:t>? Recall </a:t>
            </a:r>
            <a:r>
              <a:rPr lang="en-US" dirty="0" err="1">
                <a:latin typeface="Times New Roman" panose="02020603050405020304" pitchFamily="18" charset="0"/>
                <a:cs typeface="Times New Roman" panose="02020603050405020304" pitchFamily="18" charset="0"/>
              </a:rPr>
              <a:t>răspunde</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întrebarea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dintre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câte</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găsit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F1 </a:t>
            </a:r>
            <a:r>
              <a:rPr lang="en-US" dirty="0" err="1">
                <a:latin typeface="Times New Roman" panose="02020603050405020304" pitchFamily="18" charset="0"/>
                <a:cs typeface="Times New Roman" panose="02020603050405020304" pitchFamily="18" charset="0"/>
              </a:rPr>
              <a:t>combină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două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într</a:t>
            </a:r>
            <a:r>
              <a:rPr lang="en-US" dirty="0">
                <a:latin typeface="Times New Roman" panose="02020603050405020304" pitchFamily="18" charset="0"/>
                <a:cs typeface="Times New Roman" panose="02020603050405020304" pitchFamily="18" charset="0"/>
              </a:rPr>
              <a:t>-un </a:t>
            </a:r>
            <a:r>
              <a:rPr lang="en-US" dirty="0" err="1">
                <a:latin typeface="Times New Roman" panose="02020603050405020304" pitchFamily="18" charset="0"/>
                <a:cs typeface="Times New Roman" panose="02020603050405020304" pitchFamily="18" charset="0"/>
              </a:rPr>
              <a:t>singur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scor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fiind</a:t>
            </a:r>
            <a:r>
              <a:rPr lang="en-US" dirty="0">
                <a:latin typeface="Times New Roman" panose="02020603050405020304" pitchFamily="18" charset="0"/>
                <a:cs typeface="Times New Roman" panose="02020603050405020304" pitchFamily="18" charset="0"/>
              </a:rPr>
              <a:t> util </a:t>
            </a:r>
            <a:r>
              <a:rPr lang="en-US" dirty="0" err="1">
                <a:latin typeface="Times New Roman" panose="02020603050405020304" pitchFamily="18" charset="0"/>
                <a:cs typeface="Times New Roman" panose="02020603050405020304" pitchFamily="18" charset="0"/>
              </a:rPr>
              <a:t>când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vrem</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echilibru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între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alarme</a:t>
            </a:r>
            <a:r>
              <a:rPr lang="en-US" dirty="0">
                <a:latin typeface="Times New Roman" panose="02020603050405020304" pitchFamily="18" charset="0"/>
                <a:cs typeface="Times New Roman" panose="02020603050405020304" pitchFamily="18" charset="0"/>
              </a:rPr>
              <a:t> false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ratate</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Rezultatul</a:t>
            </a:r>
            <a:r>
              <a:rPr lang="en-US" dirty="0">
                <a:latin typeface="Times New Roman" panose="02020603050405020304" pitchFamily="18" charset="0"/>
                <a:cs typeface="Times New Roman" panose="02020603050405020304" pitchFamily="18" charset="0"/>
              </a:rPr>
              <a:t> important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are F1 de </a:t>
            </a:r>
            <a:r>
              <a:rPr lang="en-US" dirty="0" err="1">
                <a:latin typeface="Times New Roman" panose="02020603050405020304" pitchFamily="18" charset="0"/>
                <a:cs typeface="Times New Roman" panose="02020603050405020304" pitchFamily="18" charset="0"/>
              </a:rPr>
              <a:t>aproximativ</a:t>
            </a:r>
            <a:r>
              <a:rPr lang="en-US" dirty="0">
                <a:latin typeface="Times New Roman" panose="02020603050405020304" pitchFamily="18" charset="0"/>
                <a:cs typeface="Times New Roman" panose="02020603050405020304" pitchFamily="18" charset="0"/>
              </a:rPr>
              <a:t> 0.964,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mare </a:t>
            </a:r>
            <a:r>
              <a:rPr lang="en-US" dirty="0" err="1">
                <a:latin typeface="Times New Roman" panose="02020603050405020304" pitchFamily="18" charset="0"/>
                <a:cs typeface="Times New Roman" panose="02020603050405020304" pitchFamily="18" charset="0"/>
              </a:rPr>
              <a:t>decât</a:t>
            </a:r>
            <a:r>
              <a:rPr lang="en-US" dirty="0">
                <a:latin typeface="Times New Roman" panose="02020603050405020304" pitchFamily="18" charset="0"/>
                <a:cs typeface="Times New Roman" panose="02020603050405020304" pitchFamily="18" charset="0"/>
              </a:rPr>
              <a:t> DAGMM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decât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simplu</a:t>
            </a:r>
            <a:r>
              <a:rPr lang="en-US" dirty="0">
                <a:latin typeface="Times New Roman" panose="02020603050405020304" pitchFamily="18" charset="0"/>
                <a:cs typeface="Times New Roman" panose="02020603050405020304" pitchFamily="18" charset="0"/>
              </a:rPr>
              <a:t>. Asta </a:t>
            </a:r>
            <a:r>
              <a:rPr lang="en-US" dirty="0" err="1">
                <a:latin typeface="Times New Roman" panose="02020603050405020304" pitchFamily="18" charset="0"/>
                <a:cs typeface="Times New Roman" panose="02020603050405020304" pitchFamily="18" charset="0"/>
              </a:rPr>
              <a:t>sugerează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memoria nu </a:t>
            </a:r>
            <a:r>
              <a:rPr lang="en-US" dirty="0" err="1">
                <a:latin typeface="Times New Roman" panose="02020603050405020304" pitchFamily="18" charset="0"/>
                <a:cs typeface="Times New Roman" panose="02020603050405020304" pitchFamily="18" charset="0"/>
              </a:rPr>
              <a:t>ajută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imagini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video, ci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pe date </a:t>
            </a:r>
            <a:r>
              <a:rPr lang="en-US" dirty="0" err="1">
                <a:latin typeface="Times New Roman" panose="02020603050405020304" pitchFamily="18" charset="0"/>
                <a:cs typeface="Times New Roman" panose="02020603050405020304" pitchFamily="18" charset="0"/>
              </a:rPr>
              <a:t>tabulare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securitate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Concluzia</a:t>
            </a:r>
            <a:r>
              <a:rPr lang="en-US" dirty="0">
                <a:latin typeface="Times New Roman" panose="02020603050405020304" pitchFamily="18" charset="0"/>
                <a:cs typeface="Times New Roman" panose="02020603050405020304" pitchFamily="18" charset="0"/>
              </a:rPr>
              <a:t> slide-</a:t>
            </a:r>
            <a:r>
              <a:rPr lang="en-US" dirty="0" err="1">
                <a:latin typeface="Times New Roman" panose="02020603050405020304" pitchFamily="18" charset="0"/>
                <a:cs typeface="Times New Roman" panose="02020603050405020304" pitchFamily="18" charset="0"/>
              </a:rPr>
              <a:t>ului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memoria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sparsitatea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îmbunătățesc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mod consistent,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metoda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rămâne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flexibilă</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tipuri</a:t>
            </a:r>
            <a:r>
              <a:rPr lang="en-US" dirty="0">
                <a:latin typeface="Times New Roman" panose="02020603050405020304" pitchFamily="18" charset="0"/>
                <a:cs typeface="Times New Roman" panose="02020603050405020304" pitchFamily="18" charset="0"/>
              </a:rPr>
              <a:t> de date.</a:t>
            </a: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7</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acest</a:t>
            </a:r>
            <a:r>
              <a:rPr lang="en-US" dirty="0">
                <a:latin typeface="Times New Roman" panose="02020603050405020304" pitchFamily="18" charset="0"/>
                <a:cs typeface="Times New Roman" panose="02020603050405020304" pitchFamily="18" charset="0"/>
              </a:rPr>
              <a:t> slide </a:t>
            </a:r>
            <a:r>
              <a:rPr lang="en-US" dirty="0" err="1">
                <a:latin typeface="Times New Roman" panose="02020603050405020304" pitchFamily="18" charset="0"/>
                <a:cs typeface="Times New Roman" panose="02020603050405020304" pitchFamily="18" charset="0"/>
              </a:rPr>
              <a:t>avem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două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lucruri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stânga</a:t>
            </a:r>
            <a:r>
              <a:rPr lang="en-US" dirty="0">
                <a:latin typeface="Times New Roman" panose="02020603050405020304" pitchFamily="18" charset="0"/>
                <a:cs typeface="Times New Roman" panose="02020603050405020304" pitchFamily="18" charset="0"/>
              </a:rPr>
              <a:t> sunt </a:t>
            </a:r>
            <a:r>
              <a:rPr lang="en-US" dirty="0" err="1">
                <a:latin typeface="Times New Roman" panose="02020603050405020304" pitchFamily="18" charset="0"/>
                <a:cs typeface="Times New Roman" panose="02020603050405020304" pitchFamily="18" charset="0"/>
              </a:rPr>
              <a:t>studiile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ablație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dreapta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sensibilitatea</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hiperparametri</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Aceste</a:t>
            </a:r>
            <a:r>
              <a:rPr lang="en-US" dirty="0">
                <a:latin typeface="Times New Roman" panose="02020603050405020304" pitchFamily="18" charset="0"/>
                <a:cs typeface="Times New Roman" panose="02020603050405020304" pitchFamily="18" charset="0"/>
              </a:rPr>
              <a:t> ablation studies sunt </a:t>
            </a:r>
            <a:r>
              <a:rPr lang="en-US" dirty="0" err="1">
                <a:latin typeface="Times New Roman" panose="02020603050405020304" pitchFamily="18" charset="0"/>
                <a:cs typeface="Times New Roman" panose="02020603050405020304" pitchFamily="18" charset="0"/>
              </a:rPr>
              <a:t>făcute</a:t>
            </a:r>
            <a:r>
              <a:rPr lang="en-US" dirty="0">
                <a:latin typeface="Times New Roman" panose="02020603050405020304" pitchFamily="18" charset="0"/>
                <a:cs typeface="Times New Roman" panose="02020603050405020304" pitchFamily="18" charset="0"/>
              </a:rPr>
              <a:t> pe UCSD-Ped2, un dataset video de </a:t>
            </a:r>
            <a:r>
              <a:rPr lang="en-US" dirty="0" err="1">
                <a:latin typeface="Times New Roman" panose="02020603050405020304" pitchFamily="18" charset="0"/>
                <a:cs typeface="Times New Roman" panose="02020603050405020304" pitchFamily="18" charset="0"/>
              </a:rPr>
              <a:t>supraveghere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normalul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înseamnă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pietoni</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merg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anomaliile</a:t>
            </a:r>
            <a:r>
              <a:rPr lang="en-US" dirty="0">
                <a:latin typeface="Times New Roman" panose="02020603050405020304" pitchFamily="18" charset="0"/>
                <a:cs typeface="Times New Roman" panose="02020603050405020304" pitchFamily="18" charset="0"/>
              </a:rPr>
              <a:t> sunt </a:t>
            </a:r>
            <a:r>
              <a:rPr lang="en-US" dirty="0" err="1">
                <a:latin typeface="Times New Roman" panose="02020603050405020304" pitchFamily="18" charset="0"/>
                <a:cs typeface="Times New Roman" panose="02020603050405020304" pitchFamily="18" charset="0"/>
              </a:rPr>
              <a:t>obiecte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comportamente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neobișnuite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exemplu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biciclete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vehicule</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trotuar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folosesc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acest</a:t>
            </a:r>
            <a:r>
              <a:rPr lang="en-US" dirty="0">
                <a:latin typeface="Times New Roman" panose="02020603050405020304" pitchFamily="18" charset="0"/>
                <a:cs typeface="Times New Roman" panose="02020603050405020304" pitchFamily="18" charset="0"/>
              </a:rPr>
              <a:t> dataset ca </a:t>
            </a:r>
            <a:r>
              <a:rPr lang="en-US" dirty="0" err="1">
                <a:latin typeface="Times New Roman" panose="02020603050405020304" pitchFamily="18" charset="0"/>
                <a:cs typeface="Times New Roman" panose="02020603050405020304" pitchFamily="18" charset="0"/>
              </a:rPr>
              <a:t>studiu</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caz</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vedea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contribuie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fiecare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componentă</a:t>
            </a:r>
            <a:r>
              <a:rPr lang="en-US" dirty="0">
                <a:latin typeface="Times New Roman" panose="02020603050405020304" pitchFamily="18" charset="0"/>
                <a:cs typeface="Times New Roman" panose="02020603050405020304" pitchFamily="18" charset="0"/>
              </a:rPr>
              <a:t> din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memoria, shrinkage-ul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entropy loss-ul.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Mai </a:t>
            </a:r>
            <a:r>
              <a:rPr lang="en-US" dirty="0" err="1">
                <a:latin typeface="Times New Roman" panose="02020603050405020304" pitchFamily="18" charset="0"/>
                <a:cs typeface="Times New Roman" panose="02020603050405020304" pitchFamily="18" charset="0"/>
              </a:rPr>
              <a:t>întâi</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studiu</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ablație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înseamnă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pornesc</a:t>
            </a:r>
            <a:r>
              <a:rPr lang="en-US" dirty="0">
                <a:latin typeface="Times New Roman" panose="02020603050405020304" pitchFamily="18" charset="0"/>
                <a:cs typeface="Times New Roman" panose="02020603050405020304" pitchFamily="18" charset="0"/>
              </a:rPr>
              <a:t> de la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complet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scot</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rând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câte</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componentă</a:t>
            </a:r>
            <a:r>
              <a:rPr lang="en-US" dirty="0">
                <a:latin typeface="Times New Roman" panose="02020603050405020304" pitchFamily="18" charset="0"/>
                <a:cs typeface="Times New Roman" panose="02020603050405020304" pitchFamily="18" charset="0"/>
              </a:rPr>
              <a:t>, ca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vadă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contribuie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fiecare</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performanță</a:t>
            </a:r>
            <a:r>
              <a:rPr lang="en-US" dirty="0">
                <a:latin typeface="Times New Roman" panose="02020603050405020304" pitchFamily="18" charset="0"/>
                <a:cs typeface="Times New Roman" panose="02020603050405020304" pitchFamily="18" charset="0"/>
              </a:rPr>
              <a:t>. Este ca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cum ai </a:t>
            </a:r>
            <a:r>
              <a:rPr lang="en-US" dirty="0" err="1">
                <a:latin typeface="Times New Roman" panose="02020603050405020304" pitchFamily="18" charset="0"/>
                <a:cs typeface="Times New Roman" panose="02020603050405020304" pitchFamily="18" charset="0"/>
              </a:rPr>
              <a:t>testa</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mașină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întâi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completă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apoi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fără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anumită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piesă</a:t>
            </a:r>
            <a:r>
              <a:rPr lang="en-US" dirty="0">
                <a:latin typeface="Times New Roman" panose="02020603050405020304" pitchFamily="18" charset="0"/>
                <a:cs typeface="Times New Roman" panose="02020603050405020304" pitchFamily="18" charset="0"/>
              </a:rPr>
              <a:t>, ca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vezi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importantă</a:t>
            </a:r>
            <a:r>
              <a:rPr lang="en-US" dirty="0">
                <a:latin typeface="Times New Roman" panose="02020603050405020304" pitchFamily="18" charset="0"/>
                <a:cs typeface="Times New Roman" panose="02020603050405020304" pitchFamily="18" charset="0"/>
              </a:rPr>
              <a:t> era </a:t>
            </a:r>
            <a:r>
              <a:rPr lang="en-US" dirty="0" err="1">
                <a:latin typeface="Times New Roman" panose="02020603050405020304" pitchFamily="18" charset="0"/>
                <a:cs typeface="Times New Roman" panose="02020603050405020304" pitchFamily="18" charset="0"/>
              </a:rPr>
              <a:t>acea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piesă</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Baseline-ul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AE, </a:t>
            </a:r>
            <a:r>
              <a:rPr lang="en-US" dirty="0" err="1">
                <a:latin typeface="Times New Roman" panose="02020603050405020304" pitchFamily="18" charset="0"/>
                <a:cs typeface="Times New Roman" panose="02020603050405020304" pitchFamily="18" charset="0"/>
              </a:rPr>
              <a:t>adică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simplu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fără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Acesta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obține</a:t>
            </a:r>
            <a:r>
              <a:rPr lang="en-US" dirty="0">
                <a:latin typeface="Times New Roman" panose="02020603050405020304" pitchFamily="18" charset="0"/>
                <a:cs typeface="Times New Roman" panose="02020603050405020304" pitchFamily="18" charset="0"/>
              </a:rPr>
              <a:t> AUC 0.917. </a:t>
            </a:r>
            <a:r>
              <a:rPr lang="en-US" dirty="0" err="1">
                <a:latin typeface="Times New Roman" panose="02020603050405020304" pitchFamily="18" charset="0"/>
                <a:cs typeface="Times New Roman" panose="02020603050405020304" pitchFamily="18" charset="0"/>
              </a:rPr>
              <a:t>Când</a:t>
            </a:r>
            <a:r>
              <a:rPr lang="en-US" dirty="0">
                <a:latin typeface="Times New Roman" panose="02020603050405020304" pitchFamily="18" charset="0"/>
                <a:cs typeface="Times New Roman" panose="02020603050405020304" pitchFamily="18" charset="0"/>
              </a:rPr>
              <a:t> se </a:t>
            </a:r>
            <a:r>
              <a:rPr lang="en-US" dirty="0" err="1">
                <a:latin typeface="Times New Roman" panose="02020603050405020304" pitchFamily="18" charset="0"/>
                <a:cs typeface="Times New Roman" panose="02020603050405020304" pitchFamily="18" charset="0"/>
              </a:rPr>
              <a:t>adaugă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regularizare</a:t>
            </a:r>
            <a:r>
              <a:rPr lang="en-US" dirty="0">
                <a:latin typeface="Times New Roman" panose="02020603050405020304" pitchFamily="18" charset="0"/>
                <a:cs typeface="Times New Roman" panose="02020603050405020304" pitchFamily="18" charset="0"/>
              </a:rPr>
              <a:t> de tip L1 pe </a:t>
            </a:r>
            <a:r>
              <a:rPr lang="en-US" dirty="0" err="1">
                <a:latin typeface="Times New Roman" panose="02020603050405020304" pitchFamily="18" charset="0"/>
                <a:cs typeface="Times New Roman" panose="02020603050405020304" pitchFamily="18" charset="0"/>
              </a:rPr>
              <a:t>reprezentarea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latentă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performanța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crește</a:t>
            </a:r>
            <a:r>
              <a:rPr lang="en-US" dirty="0">
                <a:latin typeface="Times New Roman" panose="02020603050405020304" pitchFamily="18" charset="0"/>
                <a:cs typeface="Times New Roman" panose="02020603050405020304" pitchFamily="18" charset="0"/>
              </a:rPr>
              <a:t> la 0.9286. Asta </a:t>
            </a:r>
            <a:r>
              <a:rPr lang="en-US" dirty="0" err="1">
                <a:latin typeface="Times New Roman" panose="02020603050405020304" pitchFamily="18" charset="0"/>
                <a:cs typeface="Times New Roman" panose="02020603050405020304" pitchFamily="18" charset="0"/>
              </a:rPr>
              <a:t>arată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sparsitatea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ajută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suficientă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singură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Apoi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fără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sparsitate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ajunge</a:t>
            </a:r>
            <a:r>
              <a:rPr lang="en-US" dirty="0">
                <a:latin typeface="Times New Roman" panose="02020603050405020304" pitchFamily="18" charset="0"/>
                <a:cs typeface="Times New Roman" panose="02020603050405020304" pitchFamily="18" charset="0"/>
              </a:rPr>
              <a:t> la 0.9293, </a:t>
            </a:r>
            <a:r>
              <a:rPr lang="en-US" dirty="0" err="1">
                <a:latin typeface="Times New Roman" panose="02020603050405020304" pitchFamily="18" charset="0"/>
                <a:cs typeface="Times New Roman" panose="02020603050405020304" pitchFamily="18" charset="0"/>
              </a:rPr>
              <a:t>ceea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simpla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adăugare</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memoriei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ajută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rețină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tipare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Totuși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variantă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complet</a:t>
            </a:r>
            <a:r>
              <a:rPr lang="en-US" dirty="0">
                <a:latin typeface="Times New Roman" panose="02020603050405020304" pitchFamily="18" charset="0"/>
                <a:cs typeface="Times New Roman" panose="02020603050405020304" pitchFamily="18" charset="0"/>
              </a:rPr>
              <a:t>, cu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hard shrinkage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entropy loss, care </a:t>
            </a:r>
            <a:r>
              <a:rPr lang="en-US" dirty="0" err="1">
                <a:latin typeface="Times New Roman" panose="02020603050405020304" pitchFamily="18" charset="0"/>
                <a:cs typeface="Times New Roman" panose="02020603050405020304" pitchFamily="18" charset="0"/>
              </a:rPr>
              <a:t>ajunge</a:t>
            </a:r>
            <a:r>
              <a:rPr lang="en-US" dirty="0">
                <a:latin typeface="Times New Roman" panose="02020603050405020304" pitchFamily="18" charset="0"/>
                <a:cs typeface="Times New Roman" panose="02020603050405020304" pitchFamily="18" charset="0"/>
              </a:rPr>
              <a:t> la 0.941. Deci </a:t>
            </a:r>
            <a:r>
              <a:rPr lang="en-US" dirty="0" err="1">
                <a:latin typeface="Times New Roman" panose="02020603050405020304" pitchFamily="18" charset="0"/>
                <a:cs typeface="Times New Roman" panose="02020603050405020304" pitchFamily="18" charset="0"/>
              </a:rPr>
              <a:t>concluzia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memoria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componenta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principală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sparsitatea</a:t>
            </a:r>
            <a:r>
              <a:rPr lang="en-US" dirty="0">
                <a:latin typeface="Times New Roman" panose="02020603050405020304" pitchFamily="18" charset="0"/>
                <a:cs typeface="Times New Roman" panose="02020603050405020304" pitchFamily="18" charset="0"/>
              </a:rPr>
              <a:t> o face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eficientă</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Hiperparametrii</a:t>
            </a:r>
            <a:r>
              <a:rPr lang="en-US" dirty="0">
                <a:latin typeface="Times New Roman" panose="02020603050405020304" pitchFamily="18" charset="0"/>
                <a:cs typeface="Times New Roman" panose="02020603050405020304" pitchFamily="18" charset="0"/>
              </a:rPr>
              <a:t> sunt </a:t>
            </a:r>
            <a:r>
              <a:rPr lang="en-US" dirty="0" err="1">
                <a:latin typeface="Times New Roman" panose="02020603050405020304" pitchFamily="18" charset="0"/>
                <a:cs typeface="Times New Roman" panose="02020603050405020304" pitchFamily="18" charset="0"/>
              </a:rPr>
              <a:t>setări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alese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înainte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antrenare</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învățate</a:t>
            </a:r>
            <a:r>
              <a:rPr lang="en-US" dirty="0">
                <a:latin typeface="Times New Roman" panose="02020603050405020304" pitchFamily="18" charset="0"/>
                <a:cs typeface="Times New Roman" panose="02020603050405020304" pitchFamily="18" charset="0"/>
              </a:rPr>
              <a:t> automat de model.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articol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importanți</a:t>
            </a:r>
            <a:r>
              <a:rPr lang="en-US" dirty="0">
                <a:latin typeface="Times New Roman" panose="02020603050405020304" pitchFamily="18" charset="0"/>
                <a:cs typeface="Times New Roman" panose="02020603050405020304" pitchFamily="18" charset="0"/>
              </a:rPr>
              <a:t> sunt N, λ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α.</a:t>
            </a:r>
          </a:p>
          <a:p>
            <a:r>
              <a:rPr lang="en-US" dirty="0">
                <a:latin typeface="Times New Roman" panose="02020603050405020304" pitchFamily="18" charset="0"/>
                <a:cs typeface="Times New Roman" panose="02020603050405020304" pitchFamily="18" charset="0"/>
              </a:rPr>
              <a:t>N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dimensiunea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memoriei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numărul</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stoca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prototipuri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N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mic, memoria nu are </a:t>
            </a:r>
            <a:r>
              <a:rPr lang="en-US" dirty="0" err="1">
                <a:latin typeface="Times New Roman" panose="02020603050405020304" pitchFamily="18" charset="0"/>
                <a:cs typeface="Times New Roman" panose="02020603050405020304" pitchFamily="18" charset="0"/>
              </a:rPr>
              <a:t>suficient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spațiu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rețină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diversitatea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normalului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N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suficient</a:t>
            </a:r>
            <a:r>
              <a:rPr lang="en-US" dirty="0">
                <a:latin typeface="Times New Roman" panose="02020603050405020304" pitchFamily="18" charset="0"/>
                <a:cs typeface="Times New Roman" panose="02020603050405020304" pitchFamily="18" charset="0"/>
              </a:rPr>
              <a:t> de mare, </a:t>
            </a:r>
            <a:r>
              <a:rPr lang="en-US" dirty="0" err="1">
                <a:latin typeface="Times New Roman" panose="02020603050405020304" pitchFamily="18" charset="0"/>
                <a:cs typeface="Times New Roman" panose="02020603050405020304" pitchFamily="18" charset="0"/>
              </a:rPr>
              <a:t>performanța</a:t>
            </a:r>
            <a:r>
              <a:rPr lang="en-US" dirty="0">
                <a:latin typeface="Times New Roman" panose="02020603050405020304" pitchFamily="18" charset="0"/>
                <a:cs typeface="Times New Roman" panose="02020603050405020304" pitchFamily="18" charset="0"/>
              </a:rPr>
              <a:t> se </a:t>
            </a:r>
            <a:r>
              <a:rPr lang="en-US" dirty="0" err="1">
                <a:latin typeface="Times New Roman" panose="02020603050405020304" pitchFamily="18" charset="0"/>
                <a:cs typeface="Times New Roman" panose="02020603050405020304" pitchFamily="18" charset="0"/>
              </a:rPr>
              <a:t>stabilizează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lucru</a:t>
            </a:r>
            <a:r>
              <a:rPr lang="en-US" dirty="0">
                <a:latin typeface="Times New Roman" panose="02020603050405020304" pitchFamily="18" charset="0"/>
                <a:cs typeface="Times New Roman" panose="02020603050405020304" pitchFamily="18" charset="0"/>
              </a:rPr>
              <a:t> care se </a:t>
            </a:r>
            <a:r>
              <a:rPr lang="en-US" dirty="0" err="1">
                <a:latin typeface="Times New Roman" panose="02020603050405020304" pitchFamily="18" charset="0"/>
                <a:cs typeface="Times New Roman" panose="02020603050405020304" pitchFamily="18" charset="0"/>
              </a:rPr>
              <a:t>vede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grafic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după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anumită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dimensiune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creșterea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memoriei</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aduce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câștiguri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mari</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λ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pragul</a:t>
            </a:r>
            <a:r>
              <a:rPr lang="en-US" dirty="0">
                <a:latin typeface="Times New Roman" panose="02020603050405020304" pitchFamily="18" charset="0"/>
                <a:cs typeface="Times New Roman" panose="02020603050405020304" pitchFamily="18" charset="0"/>
              </a:rPr>
              <a:t> de shrinkage. El decide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ponderi</a:t>
            </a:r>
            <a:r>
              <a:rPr lang="en-US" dirty="0">
                <a:latin typeface="Times New Roman" panose="02020603050405020304" pitchFamily="18" charset="0"/>
                <a:cs typeface="Times New Roman" panose="02020603050405020304" pitchFamily="18" charset="0"/>
              </a:rPr>
              <a:t> de attention sunt </a:t>
            </a:r>
            <a:r>
              <a:rPr lang="en-US" dirty="0" err="1">
                <a:latin typeface="Times New Roman" panose="02020603050405020304" pitchFamily="18" charset="0"/>
                <a:cs typeface="Times New Roman" panose="02020603050405020304" pitchFamily="18" charset="0"/>
              </a:rPr>
              <a:t>păstrate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ponderi</a:t>
            </a:r>
            <a:r>
              <a:rPr lang="en-US" dirty="0">
                <a:latin typeface="Times New Roman" panose="02020603050405020304" pitchFamily="18" charset="0"/>
                <a:cs typeface="Times New Roman" panose="02020603050405020304" pitchFamily="18" charset="0"/>
              </a:rPr>
              <a:t> sunt </a:t>
            </a:r>
            <a:r>
              <a:rPr lang="en-US" dirty="0" err="1">
                <a:latin typeface="Times New Roman" panose="02020603050405020304" pitchFamily="18" charset="0"/>
                <a:cs typeface="Times New Roman" panose="02020603050405020304" pitchFamily="18" charset="0"/>
              </a:rPr>
              <a:t>tăiate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recomandă</a:t>
            </a:r>
            <a:r>
              <a:rPr lang="en-US" dirty="0">
                <a:latin typeface="Times New Roman" panose="02020603050405020304" pitchFamily="18" charset="0"/>
                <a:cs typeface="Times New Roman" panose="02020603050405020304" pitchFamily="18" charset="0"/>
              </a:rPr>
              <a:t> λ </a:t>
            </a:r>
            <a:r>
              <a:rPr lang="en-US" dirty="0" err="1">
                <a:latin typeface="Times New Roman" panose="02020603050405020304" pitchFamily="18" charset="0"/>
                <a:cs typeface="Times New Roman" panose="02020603050405020304" pitchFamily="18" charset="0"/>
              </a:rPr>
              <a:t>între</a:t>
            </a:r>
            <a:r>
              <a:rPr lang="en-US" dirty="0">
                <a:latin typeface="Times New Roman" panose="02020603050405020304" pitchFamily="18" charset="0"/>
                <a:cs typeface="Times New Roman" panose="02020603050405020304" pitchFamily="18" charset="0"/>
              </a:rPr>
              <a:t> 1/N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3/N. </a:t>
            </a:r>
            <a:r>
              <a:rPr lang="en-US" dirty="0" err="1">
                <a:latin typeface="Times New Roman" panose="02020603050405020304" pitchFamily="18" charset="0"/>
                <a:cs typeface="Times New Roman" panose="02020603050405020304" pitchFamily="18" charset="0"/>
              </a:rPr>
              <a:t>Intuiția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1/N </a:t>
            </a:r>
            <a:r>
              <a:rPr lang="en-US" dirty="0" err="1">
                <a:latin typeface="Times New Roman" panose="02020603050405020304" pitchFamily="18" charset="0"/>
                <a:cs typeface="Times New Roman" panose="02020603050405020304" pitchFamily="18" charset="0"/>
              </a:rPr>
              <a:t>reprezintă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ponderea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medie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attention-ul </a:t>
            </a:r>
            <a:r>
              <a:rPr lang="en-US" dirty="0" err="1">
                <a:latin typeface="Times New Roman" panose="02020603050405020304" pitchFamily="18" charset="0"/>
                <a:cs typeface="Times New Roman" panose="02020603050405020304" pitchFamily="18" charset="0"/>
              </a:rPr>
              <a:t>ar</a:t>
            </a:r>
            <a:r>
              <a:rPr lang="en-US" dirty="0">
                <a:latin typeface="Times New Roman" panose="02020603050405020304" pitchFamily="18" charset="0"/>
                <a:cs typeface="Times New Roman" panose="02020603050405020304" pitchFamily="18" charset="0"/>
              </a:rPr>
              <a:t> fi </a:t>
            </a:r>
            <a:r>
              <a:rPr lang="en-US" dirty="0" err="1">
                <a:latin typeface="Times New Roman" panose="02020603050405020304" pitchFamily="18" charset="0"/>
                <a:cs typeface="Times New Roman" panose="02020603050405020304" pitchFamily="18" charset="0"/>
              </a:rPr>
              <a:t>împărțit</a:t>
            </a:r>
            <a:r>
              <a:rPr lang="en-US" dirty="0">
                <a:latin typeface="Times New Roman" panose="02020603050405020304" pitchFamily="18" charset="0"/>
                <a:cs typeface="Times New Roman" panose="02020603050405020304" pitchFamily="18" charset="0"/>
              </a:rPr>
              <a:t> uniform pe </a:t>
            </a:r>
            <a:r>
              <a:rPr lang="en-US" dirty="0" err="1">
                <a:latin typeface="Times New Roman" panose="02020603050405020304" pitchFamily="18" charset="0"/>
                <a:cs typeface="Times New Roman" panose="02020603050405020304" pitchFamily="18" charset="0"/>
              </a:rPr>
              <a:t>toate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sloturile</a:t>
            </a:r>
            <a:r>
              <a:rPr lang="en-US" dirty="0">
                <a:latin typeface="Times New Roman" panose="02020603050405020304" pitchFamily="18" charset="0"/>
                <a:cs typeface="Times New Roman" panose="02020603050405020304" pitchFamily="18" charset="0"/>
              </a:rPr>
              <a:t>. Prin </a:t>
            </a:r>
            <a:r>
              <a:rPr lang="en-US" dirty="0" err="1">
                <a:latin typeface="Times New Roman" panose="02020603050405020304" pitchFamily="18" charset="0"/>
                <a:cs typeface="Times New Roman" panose="02020603050405020304" pitchFamily="18" charset="0"/>
              </a:rPr>
              <a:t>acest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păstrează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relevante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decât</a:t>
            </a:r>
            <a:r>
              <a:rPr lang="en-US" dirty="0">
                <a:latin typeface="Times New Roman" panose="02020603050405020304" pitchFamily="18" charset="0"/>
                <a:cs typeface="Times New Roman" panose="02020603050405020304" pitchFamily="18" charset="0"/>
              </a:rPr>
              <a:t> media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elimină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contribuțiile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λ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mic,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bine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λ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mare, se </a:t>
            </a:r>
            <a:r>
              <a:rPr lang="en-US" dirty="0" err="1">
                <a:latin typeface="Times New Roman" panose="02020603050405020304" pitchFamily="18" charset="0"/>
                <a:cs typeface="Times New Roman" panose="02020603050405020304" pitchFamily="18" charset="0"/>
              </a:rPr>
              <a:t>pierd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informații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pot fi </a:t>
            </a:r>
            <a:r>
              <a:rPr lang="en-US" dirty="0" err="1">
                <a:latin typeface="Times New Roman" panose="02020603050405020304" pitchFamily="18" charset="0"/>
                <a:cs typeface="Times New Roman" panose="02020603050405020304" pitchFamily="18" charset="0"/>
              </a:rPr>
              <a:t>reconstruite</a:t>
            </a:r>
            <a:r>
              <a:rPr lang="en-US" dirty="0">
                <a:latin typeface="Times New Roman" panose="02020603050405020304" pitchFamily="18" charset="0"/>
                <a:cs typeface="Times New Roman" panose="02020603050405020304" pitchFamily="18" charset="0"/>
              </a:rPr>
              <a:t> prost </a:t>
            </a:r>
            <a:r>
              <a:rPr lang="en-US" dirty="0" err="1">
                <a:latin typeface="Times New Roman" panose="02020603050405020304" pitchFamily="18" charset="0"/>
                <a:cs typeface="Times New Roman" panose="02020603050405020304" pitchFamily="18" charset="0"/>
              </a:rPr>
              <a:t>chiar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exemplele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α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coeficientul</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controlează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importantă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entropy loss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funcția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totală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pierdere</a:t>
            </a:r>
            <a:r>
              <a:rPr lang="en-US" dirty="0">
                <a:latin typeface="Times New Roman" panose="02020603050405020304" pitchFamily="18" charset="0"/>
                <a:cs typeface="Times New Roman" panose="02020603050405020304" pitchFamily="18" charset="0"/>
              </a:rPr>
              <a:t>. Entropy loss </a:t>
            </a:r>
            <a:r>
              <a:rPr lang="en-US" dirty="0" err="1">
                <a:latin typeface="Times New Roman" panose="02020603050405020304" pitchFamily="18" charset="0"/>
                <a:cs typeface="Times New Roman" panose="02020603050405020304" pitchFamily="18" charset="0"/>
              </a:rPr>
              <a:t>penalizează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distribuțiile</a:t>
            </a:r>
            <a:r>
              <a:rPr lang="en-US" dirty="0">
                <a:latin typeface="Times New Roman" panose="02020603050405020304" pitchFamily="18" charset="0"/>
                <a:cs typeface="Times New Roman" panose="02020603050405020304" pitchFamily="18" charset="0"/>
              </a:rPr>
              <a:t> de attention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împrăștiate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situațiile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puțin</a:t>
            </a:r>
            <a:r>
              <a:rPr lang="en-US" dirty="0">
                <a:latin typeface="Times New Roman" panose="02020603050405020304" pitchFamily="18" charset="0"/>
                <a:cs typeface="Times New Roman" panose="02020603050405020304" pitchFamily="18" charset="0"/>
              </a:rPr>
              <a:t> din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folosesc</a:t>
            </a:r>
            <a:r>
              <a:rPr lang="en-US" dirty="0">
                <a:latin typeface="Times New Roman" panose="02020603050405020304" pitchFamily="18" charset="0"/>
                <a:cs typeface="Times New Roman" panose="02020603050405020304" pitchFamily="18" charset="0"/>
              </a:rPr>
              <a:t> α = 0.0002,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ideea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încurajeze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aleagă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câteva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relevante</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toată</a:t>
            </a:r>
            <a:r>
              <a:rPr lang="en-US" dirty="0">
                <a:latin typeface="Times New Roman" panose="02020603050405020304" pitchFamily="18" charset="0"/>
                <a:cs typeface="Times New Roman" panose="02020603050405020304" pitchFamily="18" charset="0"/>
              </a:rPr>
              <a:t> memoria.</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Deci </a:t>
            </a:r>
            <a:r>
              <a:rPr lang="en-US" dirty="0" err="1">
                <a:latin typeface="Times New Roman" panose="02020603050405020304" pitchFamily="18" charset="0"/>
                <a:cs typeface="Times New Roman" panose="02020603050405020304" pitchFamily="18" charset="0"/>
              </a:rPr>
              <a:t>mesajul</a:t>
            </a:r>
            <a:r>
              <a:rPr lang="en-US" dirty="0">
                <a:latin typeface="Times New Roman" panose="02020603050405020304" pitchFamily="18" charset="0"/>
                <a:cs typeface="Times New Roman" panose="02020603050405020304" pitchFamily="18" charset="0"/>
              </a:rPr>
              <a:t> principal al slide-</a:t>
            </a:r>
            <a:r>
              <a:rPr lang="en-US" dirty="0" err="1">
                <a:latin typeface="Times New Roman" panose="02020603050405020304" pitchFamily="18" charset="0"/>
                <a:cs typeface="Times New Roman" panose="02020603050405020304" pitchFamily="18" charset="0"/>
              </a:rPr>
              <a:t>ului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fiecare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componentă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aduce</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câștig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performanța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când</a:t>
            </a:r>
            <a:r>
              <a:rPr lang="en-US" dirty="0">
                <a:latin typeface="Times New Roman" panose="02020603050405020304" pitchFamily="18" charset="0"/>
                <a:cs typeface="Times New Roman" panose="02020603050405020304" pitchFamily="18" charset="0"/>
              </a:rPr>
              <a:t> memoria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combinată</a:t>
            </a:r>
            <a:r>
              <a:rPr lang="en-US" dirty="0">
                <a:latin typeface="Times New Roman" panose="02020603050405020304" pitchFamily="18" charset="0"/>
                <a:cs typeface="Times New Roman" panose="02020603050405020304" pitchFamily="18" charset="0"/>
              </a:rPr>
              <a:t> cu </a:t>
            </a:r>
            <a:r>
              <a:rPr lang="en-US" dirty="0" err="1">
                <a:latin typeface="Times New Roman" panose="02020603050405020304" pitchFamily="18" charset="0"/>
                <a:cs typeface="Times New Roman" panose="02020603050405020304" pitchFamily="18" charset="0"/>
              </a:rPr>
              <a:t>sparsitate</a:t>
            </a:r>
            <a:r>
              <a:rPr lang="en-US" dirty="0">
                <a:latin typeface="Times New Roman" panose="02020603050405020304" pitchFamily="18" charset="0"/>
                <a:cs typeface="Times New Roman" panose="02020603050405020304" pitchFamily="18" charset="0"/>
              </a:rPr>
              <a:t>. Memoria </a:t>
            </a:r>
            <a:r>
              <a:rPr lang="en-US" dirty="0" err="1">
                <a:latin typeface="Times New Roman" panose="02020603050405020304" pitchFamily="18" charset="0"/>
                <a:cs typeface="Times New Roman" panose="02020603050405020304" pitchFamily="18" charset="0"/>
              </a:rPr>
              <a:t>reține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prototipuri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sparsitatea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împiedică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combinații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artificiale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„Ablation study </a:t>
            </a:r>
            <a:r>
              <a:rPr lang="en-US" dirty="0" err="1">
                <a:latin typeface="Times New Roman" panose="02020603050405020304" pitchFamily="18" charset="0"/>
                <a:cs typeface="Times New Roman" panose="02020603050405020304" pitchFamily="18" charset="0"/>
              </a:rPr>
              <a:t>înseamnă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scot</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rând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componente</a:t>
            </a:r>
            <a:r>
              <a:rPr lang="en-US" dirty="0">
                <a:latin typeface="Times New Roman" panose="02020603050405020304" pitchFamily="18" charset="0"/>
                <a:cs typeface="Times New Roman" panose="02020603050405020304" pitchFamily="18" charset="0"/>
              </a:rPr>
              <a:t> din model ca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vadă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contează</a:t>
            </a:r>
            <a:r>
              <a:rPr lang="en-US" dirty="0">
                <a:latin typeface="Times New Roman" panose="02020603050405020304" pitchFamily="18" charset="0"/>
                <a:cs typeface="Times New Roman" panose="02020603050405020304" pitchFamily="18" charset="0"/>
              </a:rPr>
              <a:t>. Se </a:t>
            </a:r>
            <a:r>
              <a:rPr lang="en-US" dirty="0" err="1">
                <a:latin typeface="Times New Roman" panose="02020603050405020304" pitchFamily="18" charset="0"/>
                <a:cs typeface="Times New Roman" panose="02020603050405020304" pitchFamily="18" charset="0"/>
              </a:rPr>
              <a:t>observă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simplu</a:t>
            </a:r>
            <a:r>
              <a:rPr lang="en-US" dirty="0">
                <a:latin typeface="Times New Roman" panose="02020603050405020304" pitchFamily="18" charset="0"/>
                <a:cs typeface="Times New Roman" panose="02020603050405020304" pitchFamily="18" charset="0"/>
              </a:rPr>
              <a:t> are AUC 0.917,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complet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ajunge</a:t>
            </a:r>
            <a:r>
              <a:rPr lang="en-US" dirty="0">
                <a:latin typeface="Times New Roman" panose="02020603050405020304" pitchFamily="18" charset="0"/>
                <a:cs typeface="Times New Roman" panose="02020603050405020304" pitchFamily="18" charset="0"/>
              </a:rPr>
              <a:t> la 0.941, </a:t>
            </a:r>
            <a:r>
              <a:rPr lang="en-US" dirty="0" err="1">
                <a:latin typeface="Times New Roman" panose="02020603050405020304" pitchFamily="18" charset="0"/>
                <a:cs typeface="Times New Roman" panose="02020603050405020304" pitchFamily="18" charset="0"/>
              </a:rPr>
              <a:t>deci</a:t>
            </a:r>
            <a:r>
              <a:rPr lang="en-US" dirty="0">
                <a:latin typeface="Times New Roman" panose="02020603050405020304" pitchFamily="18" charset="0"/>
                <a:cs typeface="Times New Roman" panose="02020603050405020304" pitchFamily="18" charset="0"/>
              </a:rPr>
              <a:t> memoria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sparsitatea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aduc</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câștig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Hiperparametrii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importanți</a:t>
            </a:r>
            <a:r>
              <a:rPr lang="en-US" dirty="0">
                <a:latin typeface="Times New Roman" panose="02020603050405020304" pitchFamily="18" charset="0"/>
                <a:cs typeface="Times New Roman" panose="02020603050405020304" pitchFamily="18" charset="0"/>
              </a:rPr>
              <a:t> sunt </a:t>
            </a:r>
            <a:r>
              <a:rPr lang="en-US" sz="1200" kern="1200" dirty="0">
                <a:solidFill>
                  <a:schemeClr val="tx1"/>
                </a:solidFill>
                <a:latin typeface="Times New Roman" panose="02020603050405020304" pitchFamily="18" charset="0"/>
                <a:ea typeface="+mn-ea"/>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numărul</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a:t>
            </a:r>
            <a:r>
              <a:rPr lang="en-US" sz="1200" kern="1200" dirty="0">
                <a:solidFill>
                  <a:schemeClr val="tx1"/>
                </a:solidFill>
                <a:latin typeface="Times New Roman" panose="02020603050405020304" pitchFamily="18" charset="0"/>
                <a:ea typeface="+mn-ea"/>
                <a:cs typeface="Times New Roman" panose="02020603050405020304" pitchFamily="18" charset="0"/>
              </a:rPr>
              <a:t>λ</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pragul</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taie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ponderile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mici</a:t>
            </a:r>
            <a:r>
              <a:rPr lang="en-US" dirty="0">
                <a:latin typeface="Times New Roman" panose="02020603050405020304" pitchFamily="18" charset="0"/>
                <a:cs typeface="Times New Roman" panose="02020603050405020304" pitchFamily="18" charset="0"/>
              </a:rPr>
              <a:t> de attention,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sz="1200" kern="1200" dirty="0">
                <a:solidFill>
                  <a:schemeClr val="tx1"/>
                </a:solidFill>
                <a:latin typeface="Times New Roman" panose="02020603050405020304" pitchFamily="18" charset="0"/>
                <a:ea typeface="+mn-ea"/>
                <a:cs typeface="Times New Roman" panose="02020603050405020304" pitchFamily="18" charset="0"/>
              </a:rPr>
              <a:t>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coeficientul</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controlează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penalizarea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entropie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Practic</a:t>
            </a:r>
            <a:r>
              <a:rPr lang="en-US" dirty="0">
                <a:latin typeface="Times New Roman" panose="02020603050405020304" pitchFamily="18" charset="0"/>
                <a:cs typeface="Times New Roman" panose="02020603050405020304" pitchFamily="18" charset="0"/>
              </a:rPr>
              <a:t>, </a:t>
            </a:r>
            <a:r>
              <a:rPr lang="en-US" sz="1200" kern="1200" dirty="0">
                <a:solidFill>
                  <a:schemeClr val="tx1"/>
                </a:solidFill>
                <a:latin typeface="Times New Roman" panose="02020603050405020304" pitchFamily="18" charset="0"/>
                <a:ea typeface="+mn-ea"/>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decide </a:t>
            </a:r>
            <a:r>
              <a:rPr lang="en-US" dirty="0" err="1">
                <a:latin typeface="Times New Roman" panose="02020603050405020304" pitchFamily="18" charset="0"/>
                <a:cs typeface="Times New Roman" panose="02020603050405020304" pitchFamily="18" charset="0"/>
              </a:rPr>
              <a:t>câtă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normalitate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sz="1200" kern="1200" dirty="0">
                <a:solidFill>
                  <a:schemeClr val="tx1"/>
                </a:solidFill>
                <a:latin typeface="Times New Roman" panose="02020603050405020304" pitchFamily="18" charset="0"/>
                <a:ea typeface="+mn-ea"/>
                <a:cs typeface="Times New Roman" panose="02020603050405020304" pitchFamily="18" charset="0"/>
              </a:rPr>
              <a:t>λ</a:t>
            </a:r>
            <a:r>
              <a:rPr lang="en-US" dirty="0">
                <a:latin typeface="Times New Roman" panose="02020603050405020304" pitchFamily="18" charset="0"/>
                <a:cs typeface="Times New Roman" panose="02020603050405020304" pitchFamily="18" charset="0"/>
              </a:rPr>
              <a:t> decide </a:t>
            </a:r>
            <a:r>
              <a:rPr lang="en-US" dirty="0" err="1">
                <a:latin typeface="Times New Roman" panose="02020603050405020304" pitchFamily="18" charset="0"/>
                <a:cs typeface="Times New Roman" panose="02020603050405020304" pitchFamily="18" charset="0"/>
              </a:rPr>
              <a:t>cât</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selectiv</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citește</a:t>
            </a:r>
            <a:r>
              <a:rPr lang="en-US" dirty="0">
                <a:latin typeface="Times New Roman" panose="02020603050405020304" pitchFamily="18" charset="0"/>
                <a:cs typeface="Times New Roman" panose="02020603050405020304" pitchFamily="18" charset="0"/>
              </a:rPr>
              <a:t> din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sz="1200" kern="1200" dirty="0">
                <a:solidFill>
                  <a:schemeClr val="tx1"/>
                </a:solidFill>
                <a:latin typeface="Times New Roman" panose="02020603050405020304" pitchFamily="18" charset="0"/>
                <a:ea typeface="+mn-ea"/>
                <a:cs typeface="Times New Roman" panose="02020603050405020304" pitchFamily="18" charset="0"/>
              </a:rPr>
              <a:t>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încurajează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folosească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puține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relevante</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toată</a:t>
            </a:r>
            <a:r>
              <a:rPr lang="en-US" dirty="0">
                <a:latin typeface="Times New Roman" panose="02020603050405020304" pitchFamily="18" charset="0"/>
                <a:cs typeface="Times New Roman" panose="02020603050405020304" pitchFamily="18" charset="0"/>
              </a:rPr>
              <a:t> memoria.”</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8</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acest</a:t>
            </a:r>
            <a:r>
              <a:rPr lang="en-US" dirty="0">
                <a:latin typeface="Times New Roman" panose="02020603050405020304" pitchFamily="18" charset="0"/>
                <a:cs typeface="Times New Roman" panose="02020603050405020304" pitchFamily="18" charset="0"/>
              </a:rPr>
              <a:t> slide am </a:t>
            </a:r>
            <a:r>
              <a:rPr lang="en-US" dirty="0" err="1">
                <a:latin typeface="Times New Roman" panose="02020603050405020304" pitchFamily="18" charset="0"/>
                <a:cs typeface="Times New Roman" panose="02020603050405020304" pitchFamily="18" charset="0"/>
              </a:rPr>
              <a:t>sintetizat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punctele</a:t>
            </a:r>
            <a:r>
              <a:rPr lang="en-US" dirty="0">
                <a:latin typeface="Times New Roman" panose="02020603050405020304" pitchFamily="18" charset="0"/>
                <a:cs typeface="Times New Roman" panose="02020603050405020304" pitchFamily="18" charset="0"/>
              </a:rPr>
              <a:t> tari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limitele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metodei</a:t>
            </a:r>
            <a:r>
              <a:rPr lang="en-US" dirty="0">
                <a:latin typeface="Times New Roman" panose="02020603050405020304" pitchFamily="18" charset="0"/>
                <a:cs typeface="Times New Roman" panose="02020603050405020304" pitchFamily="18" charset="0"/>
              </a:rPr>
              <a:t>. </a:t>
            </a:r>
          </a:p>
          <a:p>
            <a:r>
              <a:rPr lang="en-US" dirty="0" err="1">
                <a:latin typeface="Times New Roman" panose="02020603050405020304" pitchFamily="18" charset="0"/>
                <a:cs typeface="Times New Roman" panose="02020603050405020304" pitchFamily="18" charset="0"/>
              </a:rPr>
              <a:t>Principalul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avantaj</a:t>
            </a:r>
            <a:r>
              <a:rPr lang="en-US" dirty="0">
                <a:latin typeface="Times New Roman" panose="02020603050405020304" pitchFamily="18" charset="0"/>
                <a:cs typeface="Times New Roman" panose="02020603050405020304" pitchFamily="18" charset="0"/>
              </a:rPr>
              <a:t> al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schimbă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complet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ci </a:t>
            </a:r>
            <a:r>
              <a:rPr lang="en-US" dirty="0" err="1">
                <a:latin typeface="Times New Roman" panose="02020603050405020304" pitchFamily="18" charset="0"/>
                <a:cs typeface="Times New Roman" panose="02020603050405020304" pitchFamily="18" charset="0"/>
              </a:rPr>
              <a:t>adaugă</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mecanism</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reține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prototipuri</a:t>
            </a:r>
            <a:r>
              <a:rPr lang="en-US" dirty="0">
                <a:latin typeface="Times New Roman" panose="02020603050405020304" pitchFamily="18" charset="0"/>
                <a:cs typeface="Times New Roman" panose="02020603050405020304" pitchFamily="18" charset="0"/>
              </a:rPr>
              <a:t> ale </a:t>
            </a:r>
            <a:r>
              <a:rPr lang="en-US" dirty="0" err="1">
                <a:latin typeface="Times New Roman" panose="02020603050405020304" pitchFamily="18" charset="0"/>
                <a:cs typeface="Times New Roman" panose="02020603050405020304" pitchFamily="18" charset="0"/>
              </a:rPr>
              <a:t>normalității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Astfel</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testare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reconstrucția</a:t>
            </a:r>
            <a:r>
              <a:rPr lang="en-US" dirty="0">
                <a:latin typeface="Times New Roman" panose="02020603050405020304" pitchFamily="18" charset="0"/>
                <a:cs typeface="Times New Roman" panose="02020603050405020304" pitchFamily="18" charset="0"/>
              </a:rPr>
              <a:t> se face din </a:t>
            </a:r>
            <a:r>
              <a:rPr lang="en-US" dirty="0" err="1">
                <a:latin typeface="Times New Roman" panose="02020603050405020304" pitchFamily="18" charset="0"/>
                <a:cs typeface="Times New Roman" panose="02020603050405020304" pitchFamily="18" charset="0"/>
              </a:rPr>
              <a:t>tipare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amplifică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Metoda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destul</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generală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testează</a:t>
            </a:r>
            <a:r>
              <a:rPr lang="en-US" dirty="0">
                <a:latin typeface="Times New Roman" panose="02020603050405020304" pitchFamily="18" charset="0"/>
                <a:cs typeface="Times New Roman" panose="02020603050405020304" pitchFamily="18" charset="0"/>
              </a:rPr>
              <a:t> pe </a:t>
            </a:r>
            <a:r>
              <a:rPr lang="en-US" dirty="0" err="1">
                <a:latin typeface="Times New Roman" panose="02020603050405020304" pitchFamily="18" charset="0"/>
                <a:cs typeface="Times New Roman" panose="02020603050405020304" pitchFamily="18" charset="0"/>
              </a:rPr>
              <a:t>imagini</a:t>
            </a:r>
            <a:r>
              <a:rPr lang="en-US" dirty="0">
                <a:latin typeface="Times New Roman" panose="02020603050405020304" pitchFamily="18" charset="0"/>
                <a:cs typeface="Times New Roman" panose="02020603050405020304" pitchFamily="18" charset="0"/>
              </a:rPr>
              <a:t>, video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date de cybersecurity,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eficientă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având</a:t>
            </a:r>
            <a:r>
              <a:rPr lang="en-US" dirty="0">
                <a:latin typeface="Times New Roman" panose="02020603050405020304" pitchFamily="18" charset="0"/>
                <a:cs typeface="Times New Roman" panose="02020603050405020304" pitchFamily="18" charset="0"/>
              </a:rPr>
              <a:t> un overhead </a:t>
            </a:r>
            <a:r>
              <a:rPr lang="en-US" dirty="0" err="1">
                <a:latin typeface="Times New Roman" panose="02020603050405020304" pitchFamily="18" charset="0"/>
                <a:cs typeface="Times New Roman" panose="02020603050405020304" pitchFamily="18" charset="0"/>
              </a:rPr>
              <a:t>foarte</a:t>
            </a:r>
            <a:r>
              <a:rPr lang="en-US" dirty="0">
                <a:latin typeface="Times New Roman" panose="02020603050405020304" pitchFamily="18" charset="0"/>
                <a:cs typeface="Times New Roman" panose="02020603050405020304" pitchFamily="18" charset="0"/>
              </a:rPr>
              <a:t> mic </a:t>
            </a:r>
            <a:r>
              <a:rPr lang="en-US" dirty="0" err="1">
                <a:latin typeface="Times New Roman" panose="02020603050405020304" pitchFamily="18" charset="0"/>
                <a:cs typeface="Times New Roman" panose="02020603050405020304" pitchFamily="18" charset="0"/>
              </a:rPr>
              <a:t>față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standard.</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Totuși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metoda</a:t>
            </a:r>
            <a:r>
              <a:rPr lang="en-US" dirty="0">
                <a:latin typeface="Times New Roman" panose="02020603050405020304" pitchFamily="18" charset="0"/>
                <a:cs typeface="Times New Roman" panose="02020603050405020304" pitchFamily="18" charset="0"/>
              </a:rPr>
              <a:t> are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limite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Pe video nu </a:t>
            </a:r>
            <a:r>
              <a:rPr lang="en-US" dirty="0" err="1">
                <a:latin typeface="Times New Roman" panose="02020603050405020304" pitchFamily="18" charset="0"/>
                <a:cs typeface="Times New Roman" panose="02020603050405020304" pitchFamily="18" charset="0"/>
              </a:rPr>
              <a:t>depășește</a:t>
            </a:r>
            <a:r>
              <a:rPr lang="en-US" dirty="0">
                <a:latin typeface="Times New Roman" panose="02020603050405020304" pitchFamily="18" charset="0"/>
                <a:cs typeface="Times New Roman" panose="02020603050405020304" pitchFamily="18" charset="0"/>
              </a:rPr>
              <a:t> Frame-Pred, care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metodă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specializată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video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folosește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informații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suplimentare</a:t>
            </a:r>
            <a:r>
              <a:rPr lang="en-US" dirty="0">
                <a:latin typeface="Times New Roman" panose="02020603050405020304" pitchFamily="18" charset="0"/>
                <a:cs typeface="Times New Roman" panose="02020603050405020304" pitchFamily="18" charset="0"/>
              </a:rPr>
              <a:t> precum </a:t>
            </a:r>
            <a:r>
              <a:rPr lang="en-US" dirty="0" err="1">
                <a:latin typeface="Times New Roman" panose="02020603050405020304" pitchFamily="18" charset="0"/>
                <a:cs typeface="Times New Roman" panose="02020603050405020304" pitchFamily="18" charset="0"/>
              </a:rPr>
              <a:t>predicția</a:t>
            </a:r>
            <a:r>
              <a:rPr lang="en-US" dirty="0">
                <a:latin typeface="Times New Roman" panose="02020603050405020304" pitchFamily="18" charset="0"/>
                <a:cs typeface="Times New Roman" panose="02020603050405020304" pitchFamily="18" charset="0"/>
              </a:rPr>
              <a:t> de cadre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optical flow.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plus, </a:t>
            </a:r>
            <a:r>
              <a:rPr lang="en-US" dirty="0" err="1">
                <a:latin typeface="Times New Roman" panose="02020603050405020304" pitchFamily="18" charset="0"/>
                <a:cs typeface="Times New Roman" panose="02020603050405020304" pitchFamily="18" charset="0"/>
              </a:rPr>
              <a:t>memoria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fixă</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testare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distribuția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normalului</a:t>
            </a:r>
            <a:r>
              <a:rPr lang="en-US" dirty="0">
                <a:latin typeface="Times New Roman" panose="02020603050405020304" pitchFamily="18" charset="0"/>
                <a:cs typeface="Times New Roman" panose="02020603050405020304" pitchFamily="18" charset="0"/>
              </a:rPr>
              <a:t> se </a:t>
            </a:r>
            <a:r>
              <a:rPr lang="en-US" dirty="0" err="1">
                <a:latin typeface="Times New Roman" panose="02020603050405020304" pitchFamily="18" charset="0"/>
                <a:cs typeface="Times New Roman" panose="02020603050405020304" pitchFamily="18" charset="0"/>
              </a:rPr>
              <a:t>schimbă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nu se </a:t>
            </a:r>
            <a:r>
              <a:rPr lang="en-US" dirty="0" err="1">
                <a:latin typeface="Times New Roman" panose="02020603050405020304" pitchFamily="18" charset="0"/>
                <a:cs typeface="Times New Roman" panose="02020603050405020304" pitchFamily="18" charset="0"/>
              </a:rPr>
              <a:t>adaptează</a:t>
            </a:r>
            <a:r>
              <a:rPr lang="en-US" dirty="0">
                <a:latin typeface="Times New Roman" panose="02020603050405020304" pitchFamily="18" charset="0"/>
                <a:cs typeface="Times New Roman" panose="02020603050405020304" pitchFamily="18" charset="0"/>
              </a:rPr>
              <a:t> automat. </a:t>
            </a:r>
            <a:r>
              <a:rPr lang="en-US" dirty="0" err="1">
                <a:latin typeface="Times New Roman" panose="02020603050405020304" pitchFamily="18" charset="0"/>
                <a:cs typeface="Times New Roman" panose="02020603050405020304" pitchFamily="18" charset="0"/>
              </a:rPr>
              <a:t>Alegerea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dimensiunii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memoriei</a:t>
            </a:r>
            <a:r>
              <a:rPr lang="en-US" dirty="0">
                <a:latin typeface="Times New Roman" panose="02020603050405020304" pitchFamily="18" charset="0"/>
                <a:cs typeface="Times New Roman" panose="02020603050405020304" pitchFamily="18" charset="0"/>
              </a:rPr>
              <a:t> N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tot </a:t>
            </a:r>
            <a:r>
              <a:rPr lang="en-US" dirty="0" err="1">
                <a:latin typeface="Times New Roman" panose="02020603050405020304" pitchFamily="18" charset="0"/>
                <a:cs typeface="Times New Roman" panose="02020603050405020304" pitchFamily="18" charset="0"/>
              </a:rPr>
              <a:t>empirică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dacă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anomalie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seamănă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foarte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mult</a:t>
            </a:r>
            <a:r>
              <a:rPr lang="en-US" dirty="0">
                <a:latin typeface="Times New Roman" panose="02020603050405020304" pitchFamily="18" charset="0"/>
                <a:cs typeface="Times New Roman" panose="02020603050405020304" pitchFamily="18" charset="0"/>
              </a:rPr>
              <a:t> cu </a:t>
            </a:r>
            <a:r>
              <a:rPr lang="en-US" dirty="0" err="1">
                <a:latin typeface="Times New Roman" panose="02020603050405020304" pitchFamily="18" charset="0"/>
                <a:cs typeface="Times New Roman" panose="02020603050405020304" pitchFamily="18" charset="0"/>
              </a:rPr>
              <a:t>normalul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fi </a:t>
            </a:r>
            <a:r>
              <a:rPr lang="en-US" dirty="0" err="1">
                <a:latin typeface="Times New Roman" panose="02020603050405020304" pitchFamily="18" charset="0"/>
                <a:cs typeface="Times New Roman" panose="02020603050405020304" pitchFamily="18" charset="0"/>
              </a:rPr>
              <a:t>reconstruită</a:t>
            </a:r>
            <a:r>
              <a:rPr lang="en-US" dirty="0">
                <a:latin typeface="Times New Roman" panose="02020603050405020304" pitchFamily="18" charset="0"/>
                <a:cs typeface="Times New Roman" panose="02020603050405020304" pitchFamily="18" charset="0"/>
              </a:rPr>
              <a:t> bine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deveni</a:t>
            </a:r>
            <a:r>
              <a:rPr lang="en-US" dirty="0">
                <a:latin typeface="Times New Roman" panose="02020603050405020304" pitchFamily="18" charset="0"/>
                <a:cs typeface="Times New Roman" panose="02020603050405020304" pitchFamily="18" charset="0"/>
              </a:rPr>
              <a:t> un false negative. De </a:t>
            </a:r>
            <a:r>
              <a:rPr lang="en-US" dirty="0" err="1">
                <a:latin typeface="Times New Roman" panose="02020603050405020304" pitchFamily="18" charset="0"/>
                <a:cs typeface="Times New Roman" panose="02020603050405020304" pitchFamily="18" charset="0"/>
              </a:rPr>
              <a:t>asemenea</a:t>
            </a:r>
            <a:r>
              <a:rPr lang="en-US" dirty="0">
                <a:latin typeface="Times New Roman" panose="02020603050405020304" pitchFamily="18" charset="0"/>
                <a:cs typeface="Times New Roman" panose="02020603050405020304" pitchFamily="18" charset="0"/>
              </a:rPr>
              <a:t>, pe CIFAR-10 </a:t>
            </a:r>
            <a:r>
              <a:rPr lang="en-US" dirty="0" err="1">
                <a:latin typeface="Times New Roman" panose="02020603050405020304" pitchFamily="18" charset="0"/>
                <a:cs typeface="Times New Roman" panose="02020603050405020304" pitchFamily="18" charset="0"/>
              </a:rPr>
              <a:t>performanța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modestă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metoda</a:t>
            </a:r>
            <a:r>
              <a:rPr lang="en-US" dirty="0">
                <a:latin typeface="Times New Roman" panose="02020603050405020304" pitchFamily="18" charset="0"/>
                <a:cs typeface="Times New Roman" panose="02020603050405020304" pitchFamily="18" charset="0"/>
              </a:rPr>
              <a:t> are </a:t>
            </a:r>
            <a:r>
              <a:rPr lang="en-US" dirty="0" err="1">
                <a:latin typeface="Times New Roman" panose="02020603050405020304" pitchFamily="18" charset="0"/>
                <a:cs typeface="Times New Roman" panose="02020603050405020304" pitchFamily="18" charset="0"/>
              </a:rPr>
              <a:t>dificultăți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normalitatea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vizuală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foarte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variată</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Legat</a:t>
            </a:r>
            <a:r>
              <a:rPr lang="en-US" dirty="0">
                <a:latin typeface="Times New Roman" panose="02020603050405020304" pitchFamily="18" charset="0"/>
                <a:cs typeface="Times New Roman" panose="02020603050405020304" pitchFamily="18" charset="0"/>
              </a:rPr>
              <a:t> de N, ca e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avanaj</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punct</a:t>
            </a:r>
            <a:r>
              <a:rPr lang="en-US" dirty="0">
                <a:latin typeface="Times New Roman" panose="02020603050405020304" pitchFamily="18" charset="0"/>
                <a:cs typeface="Times New Roman" panose="02020603050405020304" pitchFamily="18" charset="0"/>
              </a:rPr>
              <a:t> slab</a:t>
            </a:r>
          </a:p>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Aici</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contradicție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după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memoria</a:t>
            </a:r>
            <a:r>
              <a:rPr lang="en-US" dirty="0">
                <a:latin typeface="Times New Roman" panose="02020603050405020304" pitchFamily="18" charset="0"/>
                <a:cs typeface="Times New Roman" panose="02020603050405020304" pitchFamily="18" charset="0"/>
              </a:rPr>
              <a:t> are </a:t>
            </a:r>
            <a:r>
              <a:rPr lang="en-US" dirty="0" err="1">
                <a:latin typeface="Times New Roman" panose="02020603050405020304" pitchFamily="18" charset="0"/>
                <a:cs typeface="Times New Roman" panose="02020603050405020304" pitchFamily="18" charset="0"/>
              </a:rPr>
              <a:t>suficient</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sloturi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performanța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devine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stabilă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extrem</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sensibil</a:t>
            </a:r>
            <a:r>
              <a:rPr lang="en-US" dirty="0">
                <a:latin typeface="Times New Roman" panose="02020603050405020304" pitchFamily="18" charset="0"/>
                <a:cs typeface="Times New Roman" panose="02020603050405020304" pitchFamily="18" charset="0"/>
              </a:rPr>
              <a:t> la N. </a:t>
            </a:r>
            <a:r>
              <a:rPr lang="en-US" dirty="0" err="1">
                <a:latin typeface="Times New Roman" panose="02020603050405020304" pitchFamily="18" charset="0"/>
                <a:cs typeface="Times New Roman" panose="02020603050405020304" pitchFamily="18" charset="0"/>
              </a:rPr>
              <a:t>Totuși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limita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știm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dinainte</a:t>
            </a:r>
            <a:r>
              <a:rPr lang="en-US" dirty="0">
                <a:latin typeface="Times New Roman" panose="02020603050405020304" pitchFamily="18" charset="0"/>
                <a:cs typeface="Times New Roman" panose="02020603050405020304" pitchFamily="18" charset="0"/>
              </a:rPr>
              <a:t> care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acel</a:t>
            </a:r>
            <a:r>
              <a:rPr lang="en-US" dirty="0">
                <a:latin typeface="Times New Roman" panose="02020603050405020304" pitchFamily="18" charset="0"/>
                <a:cs typeface="Times New Roman" panose="02020603050405020304" pitchFamily="18" charset="0"/>
              </a:rPr>
              <a:t> N </a:t>
            </a:r>
            <a:r>
              <a:rPr lang="en-US" dirty="0" err="1">
                <a:latin typeface="Times New Roman" panose="02020603050405020304" pitchFamily="18" charset="0"/>
                <a:cs typeface="Times New Roman" panose="02020603050405020304" pitchFamily="18" charset="0"/>
              </a:rPr>
              <a:t>suficient</a:t>
            </a:r>
            <a:r>
              <a:rPr lang="en-US" dirty="0">
                <a:latin typeface="Times New Roman" panose="02020603050405020304" pitchFamily="18" charset="0"/>
                <a:cs typeface="Times New Roman" panose="02020603050405020304" pitchFamily="18" charset="0"/>
              </a:rPr>
              <a:t> de mare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un dataset </a:t>
            </a:r>
            <a:r>
              <a:rPr lang="en-US" dirty="0" err="1">
                <a:latin typeface="Times New Roman" panose="02020603050405020304" pitchFamily="18" charset="0"/>
                <a:cs typeface="Times New Roman" panose="02020603050405020304" pitchFamily="18" charset="0"/>
              </a:rPr>
              <a:t>nou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Alegerea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rămâne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empirică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experimente</a:t>
            </a:r>
            <a:r>
              <a:rPr lang="en-US" dirty="0">
                <a:latin typeface="Times New Roman" panose="02020603050405020304" pitchFamily="18" charset="0"/>
                <a:cs typeface="Times New Roman" panose="02020603050405020304" pitchFamily="18" charset="0"/>
              </a:rPr>
              <a:t>. Deci </a:t>
            </a:r>
            <a:r>
              <a:rPr lang="en-US" dirty="0" err="1">
                <a:latin typeface="Times New Roman" panose="02020603050405020304" pitchFamily="18" charset="0"/>
                <a:cs typeface="Times New Roman" panose="02020603050405020304" pitchFamily="18" charset="0"/>
              </a:rPr>
              <a:t>robustețea</a:t>
            </a:r>
            <a:r>
              <a:rPr lang="en-US" dirty="0">
                <a:latin typeface="Times New Roman" panose="02020603050405020304" pitchFamily="18" charset="0"/>
                <a:cs typeface="Times New Roman" panose="02020603050405020304" pitchFamily="18" charset="0"/>
              </a:rPr>
              <a:t> la N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avantaj</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după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ai ales o </a:t>
            </a:r>
            <a:r>
              <a:rPr lang="en-US" dirty="0" err="1">
                <a:latin typeface="Times New Roman" panose="02020603050405020304" pitchFamily="18" charset="0"/>
                <a:cs typeface="Times New Roman" panose="02020603050405020304" pitchFamily="18" charset="0"/>
              </a:rPr>
              <a:t>zonă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procesul</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alegere</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lui</a:t>
            </a:r>
            <a:r>
              <a:rPr lang="en-US" dirty="0">
                <a:latin typeface="Times New Roman" panose="02020603050405020304" pitchFamily="18" charset="0"/>
                <a:cs typeface="Times New Roman" panose="02020603050405020304" pitchFamily="18" charset="0"/>
              </a:rPr>
              <a:t> N </a:t>
            </a:r>
            <a:r>
              <a:rPr lang="en-US" dirty="0" err="1">
                <a:latin typeface="Times New Roman" panose="02020603050405020304" pitchFamily="18" charset="0"/>
                <a:cs typeface="Times New Roman" panose="02020603050405020304" pitchFamily="18" charset="0"/>
              </a:rPr>
              <a:t>rămâne</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punct</a:t>
            </a:r>
            <a:r>
              <a:rPr lang="en-US" dirty="0">
                <a:latin typeface="Times New Roman" panose="02020603050405020304" pitchFamily="18" charset="0"/>
                <a:cs typeface="Times New Roman" panose="02020603050405020304" pitchFamily="18" charset="0"/>
              </a:rPr>
              <a:t> slab.”</a:t>
            </a: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9</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„Am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replicat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MemAE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setul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UCSD-Ped2,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urmând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specificațiile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din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articol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encoder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decoder cu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convoluții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3D, cuboid de 16 frame-</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grayscale, N=2000 slot-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λ=0.001 egal cu 2/N, alpha=0.0002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Adam cu learning rate 0.0001.</a:t>
            </a: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Rezultatele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obținute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sunt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comparabile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din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articol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AUC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aproximativ</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0.935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față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0.941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raportat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diferența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putând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explicată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prin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variații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preprocesare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Am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testat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pe CUHK Avenue cu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rezultate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similare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Observații</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practice: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preprocesarea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critică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normalizarea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frame-</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intervalul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0-1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rezoluția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256×256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trebuie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respectate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exact.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Convergența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necesită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circa 500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epoci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Cazuri</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de False Positives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adică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frame-</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clasificate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greșit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aglomerări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bruște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pietoni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pe care memoria nu le-a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văzut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suficient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antrenare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schimbări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bruște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iluminare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cum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umbrele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mașinilor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mișcări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legitime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rapide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cum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 jogging-ul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sau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gesticulatul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amplu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Cazuri</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de False Negatives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ratate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un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biciclist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care se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mișcă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lent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cărui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siluetă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seamănă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 un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pieton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introduse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gradual,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unde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eroarea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medie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cuboid-</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ului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diluată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frame-urile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inițiale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vehicule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mici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cum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fi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scooterele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care pot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semăna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textural cu un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grup</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compact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oameni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Concluzia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algoritmul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eșuează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împart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pattern-</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uri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locale,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generează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fals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pozitive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când</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normalul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rar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sau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neacoperit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suficient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memorie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10</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partea</a:t>
            </a:r>
            <a:r>
              <a:rPr lang="en-US" dirty="0">
                <a:latin typeface="Times New Roman" panose="02020603050405020304" pitchFamily="18" charset="0"/>
                <a:cs typeface="Times New Roman" panose="02020603050405020304" pitchFamily="18" charset="0"/>
              </a:rPr>
              <a:t> de AI usage report, am </a:t>
            </a:r>
            <a:r>
              <a:rPr lang="en-US" dirty="0" err="1">
                <a:latin typeface="Times New Roman" panose="02020603050405020304" pitchFamily="18" charset="0"/>
                <a:cs typeface="Times New Roman" panose="02020603050405020304" pitchFamily="18" charset="0"/>
              </a:rPr>
              <a:t>folosit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instrumente</a:t>
            </a:r>
            <a:r>
              <a:rPr lang="en-US" dirty="0">
                <a:latin typeface="Times New Roman" panose="02020603050405020304" pitchFamily="18" charset="0"/>
                <a:cs typeface="Times New Roman" panose="02020603050405020304" pitchFamily="18" charset="0"/>
              </a:rPr>
              <a:t> AI </a:t>
            </a:r>
            <a:r>
              <a:rPr lang="en-US" dirty="0" err="1">
                <a:latin typeface="Times New Roman" panose="02020603050405020304" pitchFamily="18" charset="0"/>
                <a:cs typeface="Times New Roman" panose="02020603050405020304" pitchFamily="18" charset="0"/>
              </a:rPr>
              <a:t>mai</a:t>
            </a:r>
            <a:r>
              <a:rPr lang="en-US" dirty="0">
                <a:latin typeface="Times New Roman" panose="02020603050405020304" pitchFamily="18" charset="0"/>
                <a:cs typeface="Times New Roman" panose="02020603050405020304" pitchFamily="18" charset="0"/>
              </a:rPr>
              <a:t> ales ca </a:t>
            </a:r>
            <a:r>
              <a:rPr lang="en-US" dirty="0" err="1">
                <a:latin typeface="Times New Roman" panose="02020603050405020304" pitchFamily="18" charset="0"/>
                <a:cs typeface="Times New Roman" panose="02020603050405020304" pitchFamily="18" charset="0"/>
              </a:rPr>
              <a:t>suport</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înțelegere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verificare</a:t>
            </a:r>
            <a:r>
              <a:rPr lang="en-US" dirty="0">
                <a:latin typeface="Times New Roman" panose="02020603050405020304" pitchFamily="18" charset="0"/>
                <a:cs typeface="Times New Roman" panose="02020603050405020304" pitchFamily="18" charset="0"/>
              </a:rPr>
              <a:t>, nu ca </a:t>
            </a:r>
            <a:r>
              <a:rPr lang="en-US" dirty="0" err="1">
                <a:latin typeface="Times New Roman" panose="02020603050405020304" pitchFamily="18" charset="0"/>
                <a:cs typeface="Times New Roman" panose="02020603050405020304" pitchFamily="18" charset="0"/>
              </a:rPr>
              <a:t>sursă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finală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necriticată</a:t>
            </a:r>
            <a:r>
              <a:rPr lang="en-US" dirty="0">
                <a:latin typeface="Times New Roman" panose="02020603050405020304" pitchFamily="18" charset="0"/>
                <a:cs typeface="Times New Roman" panose="02020603050405020304" pitchFamily="18" charset="0"/>
              </a:rPr>
              <a:t>. M-au </a:t>
            </a:r>
            <a:r>
              <a:rPr lang="en-US" dirty="0" err="1">
                <a:latin typeface="Times New Roman" panose="02020603050405020304" pitchFamily="18" charset="0"/>
                <a:cs typeface="Times New Roman" panose="02020603050405020304" pitchFamily="18" charset="0"/>
              </a:rPr>
              <a:t>ajutat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clarific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concepte</a:t>
            </a:r>
            <a:r>
              <a:rPr lang="en-US" dirty="0">
                <a:latin typeface="Times New Roman" panose="02020603050405020304" pitchFamily="18" charset="0"/>
                <a:cs typeface="Times New Roman" panose="02020603050405020304" pitchFamily="18" charset="0"/>
              </a:rPr>
              <a:t> precum hard shrinkage, entropy loss, </a:t>
            </a:r>
            <a:r>
              <a:rPr lang="en-US" dirty="0" err="1">
                <a:latin typeface="Times New Roman" panose="02020603050405020304" pitchFamily="18" charset="0"/>
                <a:cs typeface="Times New Roman" panose="02020603050405020304" pitchFamily="18" charset="0"/>
              </a:rPr>
              <a:t>diferența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dintre</a:t>
            </a:r>
            <a:r>
              <a:rPr lang="en-US" dirty="0">
                <a:latin typeface="Times New Roman" panose="02020603050405020304" pitchFamily="18" charset="0"/>
                <a:cs typeface="Times New Roman" panose="02020603050405020304" pitchFamily="18" charset="0"/>
              </a:rPr>
              <a:t> Conv2D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Conv3D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logica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modulului</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asemenea</a:t>
            </a:r>
            <a:r>
              <a:rPr lang="en-US" dirty="0">
                <a:latin typeface="Times New Roman" panose="02020603050405020304" pitchFamily="18" charset="0"/>
                <a:cs typeface="Times New Roman" panose="02020603050405020304" pitchFamily="18" charset="0"/>
              </a:rPr>
              <a:t>, AI-ul a </a:t>
            </a:r>
            <a:r>
              <a:rPr lang="en-US" dirty="0" err="1">
                <a:latin typeface="Times New Roman" panose="02020603050405020304" pitchFamily="18" charset="0"/>
                <a:cs typeface="Times New Roman" panose="02020603050405020304" pitchFamily="18" charset="0"/>
              </a:rPr>
              <a:t>fost</a:t>
            </a:r>
            <a:r>
              <a:rPr lang="en-US" dirty="0">
                <a:latin typeface="Times New Roman" panose="02020603050405020304" pitchFamily="18" charset="0"/>
                <a:cs typeface="Times New Roman" panose="02020603050405020304" pitchFamily="18" charset="0"/>
              </a:rPr>
              <a:t> util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structurarea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explicațiilor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verificarea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codului</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replicare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Totuși</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fost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necesară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verificarea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constantă</a:t>
            </a:r>
            <a:r>
              <a:rPr lang="en-US" dirty="0">
                <a:latin typeface="Times New Roman" panose="02020603050405020304" pitchFamily="18" charset="0"/>
                <a:cs typeface="Times New Roman" panose="02020603050405020304" pitchFamily="18" charset="0"/>
              </a:rPr>
              <a:t> cu </a:t>
            </a:r>
            <a:r>
              <a:rPr lang="en-US" dirty="0" err="1">
                <a:latin typeface="Times New Roman" panose="02020603050405020304" pitchFamily="18" charset="0"/>
                <a:cs typeface="Times New Roman" panose="02020603050405020304" pitchFamily="18" charset="0"/>
              </a:rPr>
              <a:t>articolul</a:t>
            </a:r>
            <a:r>
              <a:rPr lang="en-US" dirty="0">
                <a:latin typeface="Times New Roman" panose="02020603050405020304" pitchFamily="18" charset="0"/>
                <a:cs typeface="Times New Roman" panose="02020603050405020304" pitchFamily="18" charset="0"/>
              </a:rPr>
              <a:t> original. De </a:t>
            </a:r>
            <a:r>
              <a:rPr lang="en-US" dirty="0" err="1">
                <a:latin typeface="Times New Roman" panose="02020603050405020304" pitchFamily="18" charset="0"/>
                <a:cs typeface="Times New Roman" panose="02020603050405020304" pitchFamily="18" charset="0"/>
              </a:rPr>
              <a:t>exemplu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unele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răspunsuri</a:t>
            </a:r>
            <a:r>
              <a:rPr lang="en-US" dirty="0">
                <a:latin typeface="Times New Roman" panose="02020603050405020304" pitchFamily="18" charset="0"/>
                <a:cs typeface="Times New Roman" panose="02020603050405020304" pitchFamily="18" charset="0"/>
              </a:rPr>
              <a:t> AI au </a:t>
            </a:r>
            <a:r>
              <a:rPr lang="en-US" dirty="0" err="1">
                <a:latin typeface="Times New Roman" panose="02020603050405020304" pitchFamily="18" charset="0"/>
                <a:cs typeface="Times New Roman" panose="02020603050405020304" pitchFamily="18" charset="0"/>
              </a:rPr>
              <a:t>confundat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cu un VAE, </a:t>
            </a:r>
            <a:r>
              <a:rPr lang="en-US" dirty="0" err="1">
                <a:latin typeface="Times New Roman" panose="02020603050405020304" pitchFamily="18" charset="0"/>
                <a:cs typeface="Times New Roman" panose="02020603050405020304" pitchFamily="18" charset="0"/>
              </a:rPr>
              <a:t>deși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articol</a:t>
            </a:r>
            <a:r>
              <a:rPr lang="en-US" dirty="0">
                <a:latin typeface="Times New Roman" panose="02020603050405020304" pitchFamily="18" charset="0"/>
                <a:cs typeface="Times New Roman" panose="02020603050405020304" pitchFamily="18" charset="0"/>
              </a:rPr>
              <a:t> VAE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baseline, nu </a:t>
            </a:r>
            <a:r>
              <a:rPr lang="en-US" dirty="0" err="1">
                <a:latin typeface="Times New Roman" panose="02020603050405020304" pitchFamily="18" charset="0"/>
                <a:cs typeface="Times New Roman" panose="02020603050405020304" pitchFamily="18" charset="0"/>
              </a:rPr>
              <a:t>baza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metodei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propuse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eroare</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fost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legată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pragul</a:t>
            </a:r>
            <a:r>
              <a:rPr lang="en-US"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λ: </a:t>
            </a:r>
            <a:r>
              <a:rPr lang="en-US" dirty="0">
                <a:latin typeface="Times New Roman" panose="02020603050405020304" pitchFamily="18" charset="0"/>
                <a:cs typeface="Times New Roman" panose="02020603050405020304" pitchFamily="18" charset="0"/>
              </a:rPr>
              <a:t>nu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valoare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fixă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seturile</a:t>
            </a:r>
            <a:r>
              <a:rPr lang="en-US" dirty="0">
                <a:latin typeface="Times New Roman" panose="02020603050405020304" pitchFamily="18" charset="0"/>
                <a:cs typeface="Times New Roman" panose="02020603050405020304" pitchFamily="18" charset="0"/>
              </a:rPr>
              <a:t>, ci </a:t>
            </a:r>
            <a:r>
              <a:rPr lang="en-US" dirty="0" err="1">
                <a:latin typeface="Times New Roman" panose="02020603050405020304" pitchFamily="18" charset="0"/>
                <a:cs typeface="Times New Roman" panose="02020603050405020304" pitchFamily="18" charset="0"/>
              </a:rPr>
              <a:t>autorii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recomandă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intervalul</a:t>
            </a:r>
            <a:r>
              <a:rPr lang="en-US" dirty="0">
                <a:latin typeface="Times New Roman" panose="02020603050405020304" pitchFamily="18" charset="0"/>
                <a:cs typeface="Times New Roman" panose="02020603050405020304" pitchFamily="18" charset="0"/>
              </a:rPr>
              <a:t> [1/N, 3/N]. </a:t>
            </a:r>
          </a:p>
          <a:p>
            <a:r>
              <a:rPr lang="en-US" dirty="0">
                <a:latin typeface="Times New Roman" panose="02020603050405020304" pitchFamily="18" charset="0"/>
                <a:cs typeface="Times New Roman" panose="02020603050405020304" pitchFamily="18" charset="0"/>
              </a:rPr>
              <a:t>De </a:t>
            </a:r>
            <a:r>
              <a:rPr lang="en-US" dirty="0" err="1">
                <a:latin typeface="Times New Roman" panose="02020603050405020304" pitchFamily="18" charset="0"/>
                <a:cs typeface="Times New Roman" panose="02020603050405020304" pitchFamily="18" charset="0"/>
              </a:rPr>
              <a:t>asemenea</a:t>
            </a:r>
            <a:r>
              <a:rPr lang="en-US" dirty="0">
                <a:latin typeface="Times New Roman" panose="02020603050405020304" pitchFamily="18" charset="0"/>
                <a:cs typeface="Times New Roman" panose="02020603050405020304" pitchFamily="18" charset="0"/>
              </a:rPr>
              <a:t>, entropy loss nu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cross-entropy </a:t>
            </a:r>
            <a:r>
              <a:rPr lang="en-US" dirty="0" err="1">
                <a:latin typeface="Times New Roman" panose="02020603050405020304" pitchFamily="18" charset="0"/>
                <a:cs typeface="Times New Roman" panose="02020603050405020304" pitchFamily="18" charset="0"/>
              </a:rPr>
              <a:t>clasică</a:t>
            </a:r>
            <a:r>
              <a:rPr lang="en-US" dirty="0">
                <a:latin typeface="Times New Roman" panose="02020603050405020304" pitchFamily="18" charset="0"/>
                <a:cs typeface="Times New Roman" panose="02020603050405020304" pitchFamily="18" charset="0"/>
              </a:rPr>
              <a:t>, ci </a:t>
            </a:r>
            <a:r>
              <a:rPr lang="en-US" dirty="0" err="1">
                <a:latin typeface="Times New Roman" panose="02020603050405020304" pitchFamily="18" charset="0"/>
                <a:cs typeface="Times New Roman" panose="02020603050405020304" pitchFamily="18" charset="0"/>
              </a:rPr>
              <a:t>entropia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distribuției</a:t>
            </a:r>
            <a:r>
              <a:rPr lang="en-US" dirty="0">
                <a:latin typeface="Times New Roman" panose="02020603050405020304" pitchFamily="18" charset="0"/>
                <a:cs typeface="Times New Roman" panose="02020603050405020304" pitchFamily="18" charset="0"/>
              </a:rPr>
              <a:t> de attention </a:t>
            </a:r>
            <a:r>
              <a:rPr lang="en-US" dirty="0" err="1">
                <a:latin typeface="Times New Roman" panose="02020603050405020304" pitchFamily="18" charset="0"/>
                <a:cs typeface="Times New Roman" panose="02020603050405020304" pitchFamily="18" charset="0"/>
              </a:rPr>
              <a:t>după</a:t>
            </a:r>
            <a:r>
              <a:rPr lang="en-US" dirty="0">
                <a:latin typeface="Times New Roman" panose="02020603050405020304" pitchFamily="18" charset="0"/>
                <a:cs typeface="Times New Roman" panose="02020603050405020304" pitchFamily="18" charset="0"/>
              </a:rPr>
              <a:t> shrinkage.</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Concluzia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principală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rezolvă</a:t>
            </a:r>
            <a:r>
              <a:rPr lang="en-US" dirty="0">
                <a:latin typeface="Times New Roman" panose="02020603050405020304" pitchFamily="18" charset="0"/>
                <a:cs typeface="Times New Roman" panose="02020603050405020304" pitchFamily="18" charset="0"/>
              </a:rPr>
              <a:t> o </a:t>
            </a:r>
            <a:r>
              <a:rPr lang="en-US" dirty="0" err="1">
                <a:latin typeface="Times New Roman" panose="02020603050405020304" pitchFamily="18" charset="0"/>
                <a:cs typeface="Times New Roman" panose="02020603050405020304" pitchFamily="18" charset="0"/>
              </a:rPr>
              <a:t>limitare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reală</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autoencoderului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clasic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faptul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acesta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prea</a:t>
            </a:r>
            <a:r>
              <a:rPr lang="en-US" dirty="0">
                <a:latin typeface="Times New Roman" panose="02020603050405020304" pitchFamily="18" charset="0"/>
                <a:cs typeface="Times New Roman" panose="02020603050405020304" pitchFamily="18" charset="0"/>
              </a:rPr>
              <a:t> bine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memoria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prototipuri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a:t>
            </a:r>
            <a:r>
              <a:rPr lang="en-US" dirty="0">
                <a:latin typeface="Times New Roman" panose="02020603050405020304" pitchFamily="18" charset="0"/>
                <a:cs typeface="Times New Roman" panose="02020603050405020304" pitchFamily="18" charset="0"/>
              </a:rPr>
              <a:t> sparse addressing, </a:t>
            </a:r>
            <a:r>
              <a:rPr lang="en-US" dirty="0" err="1">
                <a:latin typeface="Times New Roman" panose="02020603050405020304" pitchFamily="18" charset="0"/>
                <a:cs typeface="Times New Roman" panose="02020603050405020304" pitchFamily="18" charset="0"/>
              </a:rPr>
              <a:t>modelul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încurajat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inputul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folosind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tipare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relevante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amplifică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multe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Replicarea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analiza</a:t>
            </a:r>
            <a:r>
              <a:rPr lang="en-US" dirty="0">
                <a:latin typeface="Times New Roman" panose="02020603050405020304" pitchFamily="18" charset="0"/>
                <a:cs typeface="Times New Roman" panose="02020603050405020304" pitchFamily="18" charset="0"/>
              </a:rPr>
              <a:t> FP/FN </a:t>
            </a:r>
            <a:r>
              <a:rPr lang="en-US" dirty="0" err="1">
                <a:latin typeface="Times New Roman" panose="02020603050405020304" pitchFamily="18" charset="0"/>
                <a:cs typeface="Times New Roman" panose="02020603050405020304" pitchFamily="18" charset="0"/>
              </a:rPr>
              <a:t>arată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metoda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eficientă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a:t>
            </a:r>
            <a:r>
              <a:rPr lang="en-US" dirty="0">
                <a:latin typeface="Times New Roman" panose="02020603050405020304" pitchFamily="18" charset="0"/>
                <a:cs typeface="Times New Roman" panose="02020603050405020304" pitchFamily="18" charset="0"/>
              </a:rPr>
              <a:t> nu </a:t>
            </a:r>
            <a:r>
              <a:rPr lang="en-US" dirty="0" err="1">
                <a:latin typeface="Times New Roman" panose="02020603050405020304" pitchFamily="18" charset="0"/>
                <a:cs typeface="Times New Roman" panose="02020603050405020304" pitchFamily="18" charset="0"/>
              </a:rPr>
              <a:t>perfectă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atunci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anomalia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seamănă</a:t>
            </a:r>
            <a:r>
              <a:rPr lang="en-US" dirty="0">
                <a:latin typeface="Times New Roman" panose="02020603050405020304" pitchFamily="18" charset="0"/>
                <a:cs typeface="Times New Roman" panose="02020603050405020304" pitchFamily="18" charset="0"/>
              </a:rPr>
              <a:t> semantic cu </a:t>
            </a:r>
            <a:r>
              <a:rPr lang="en-US" dirty="0" err="1">
                <a:latin typeface="Times New Roman" panose="02020603050405020304" pitchFamily="18" charset="0"/>
                <a:cs typeface="Times New Roman" panose="02020603050405020304" pitchFamily="18" charset="0"/>
              </a:rPr>
              <a:t>normalul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normalitatea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foarte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variată</a:t>
            </a:r>
            <a:r>
              <a:rPr lang="en-US" dirty="0">
                <a:latin typeface="Times New Roman" panose="02020603050405020304" pitchFamily="18" charset="0"/>
                <a:cs typeface="Times New Roman" panose="02020603050405020304" pitchFamily="18" charset="0"/>
              </a:rPr>
              <a:t>, pot </a:t>
            </a:r>
            <a:r>
              <a:rPr lang="en-US" dirty="0" err="1">
                <a:latin typeface="Times New Roman" panose="02020603050405020304" pitchFamily="18" charset="0"/>
                <a:cs typeface="Times New Roman" panose="02020603050405020304" pitchFamily="18" charset="0"/>
              </a:rPr>
              <a:t>apărea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erori</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11</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Bună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ziua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Prezentarea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noastră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astăzi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despre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articolul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MemAE</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 Memorizing Normality to Detect Anomaly</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publicat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2019 de Dong Gong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colegii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care </a:t>
            </a:r>
            <a:r>
              <a:rPr lang="en-US" dirty="0" err="1">
                <a:latin typeface="Times New Roman" panose="02020603050405020304" pitchFamily="18" charset="0"/>
                <a:cs typeface="Times New Roman" panose="02020603050405020304" pitchFamily="18" charset="0"/>
              </a:rPr>
              <a:t>propune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adică</a:t>
            </a:r>
            <a:r>
              <a:rPr lang="en-US" dirty="0">
                <a:latin typeface="Times New Roman" panose="02020603050405020304" pitchFamily="18" charset="0"/>
                <a:cs typeface="Times New Roman" panose="02020603050405020304" pitchFamily="18" charset="0"/>
              </a:rPr>
              <a:t> un autoencoder </a:t>
            </a:r>
            <a:r>
              <a:rPr lang="en-US" dirty="0" err="1">
                <a:latin typeface="Times New Roman" panose="02020603050405020304" pitchFamily="18" charset="0"/>
                <a:cs typeface="Times New Roman" panose="02020603050405020304" pitchFamily="18" charset="0"/>
              </a:rPr>
              <a:t>augmentat</a:t>
            </a:r>
            <a:r>
              <a:rPr lang="en-US" dirty="0">
                <a:latin typeface="Times New Roman" panose="02020603050405020304" pitchFamily="18" charset="0"/>
                <a:cs typeface="Times New Roman" panose="02020603050405020304" pitchFamily="18" charset="0"/>
              </a:rPr>
              <a:t> cu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pentru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detecția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nesupervizată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anomalii</a:t>
            </a:r>
            <a:r>
              <a:rPr lang="en-US" dirty="0">
                <a:latin typeface="Times New Roman" panose="02020603050405020304" pitchFamily="18" charset="0"/>
                <a:cs typeface="Times New Roman" panose="02020603050405020304" pitchFamily="18" charset="0"/>
              </a:rPr>
              <a:t>.</a:t>
            </a:r>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Tema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centrală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detectarea</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nesupervizată</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1" i="0" kern="1200" dirty="0" err="1">
                <a:solidFill>
                  <a:schemeClr val="tx1"/>
                </a:solidFill>
                <a:effectLst/>
                <a:latin typeface="Times New Roman" panose="02020603050405020304" pitchFamily="18" charset="0"/>
                <a:ea typeface="+mn-ea"/>
                <a:cs typeface="Times New Roman" panose="02020603050405020304" pitchFamily="18" charset="0"/>
              </a:rPr>
              <a:t>anomaliilor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adică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identificăm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automat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este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neobișnuit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într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-un set de date,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fără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avem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exemple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anomalii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la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antrenare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Insa</a:t>
            </a:r>
            <a:r>
              <a:rPr lang="en-US" dirty="0">
                <a:latin typeface="Times New Roman" panose="02020603050405020304" pitchFamily="18" charset="0"/>
                <a:cs typeface="Times New Roman" panose="02020603050405020304" pitchFamily="18" charset="0"/>
              </a:rPr>
              <a:t> idea </a:t>
            </a:r>
            <a:r>
              <a:rPr lang="en-US" dirty="0" err="1">
                <a:latin typeface="Times New Roman" panose="02020603050405020304" pitchFamily="18" charset="0"/>
                <a:cs typeface="Times New Roman" panose="02020603050405020304" pitchFamily="18" charset="0"/>
              </a:rPr>
              <a:t>prezentata</a:t>
            </a:r>
            <a:r>
              <a:rPr lang="en-US" dirty="0">
                <a:latin typeface="Times New Roman" panose="02020603050405020304" pitchFamily="18" charset="0"/>
                <a:cs typeface="Times New Roman" panose="02020603050405020304" pitchFamily="18" charset="0"/>
              </a:rPr>
              <a:t> care se </a:t>
            </a:r>
            <a:r>
              <a:rPr lang="en-US" dirty="0" err="1">
                <a:latin typeface="Times New Roman" panose="02020603050405020304" pitchFamily="18" charset="0"/>
                <a:cs typeface="Times New Roman" panose="02020603050405020304" pitchFamily="18" charset="0"/>
              </a:rPr>
              <a:t>diferentiaza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ceea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exista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foarte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simplu</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inteles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loc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lăsăm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autoencoderul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orice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forțăm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reconstruiască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printr</a:t>
            </a:r>
            <a:r>
              <a:rPr lang="en-US" dirty="0">
                <a:latin typeface="Times New Roman" panose="02020603050405020304" pitchFamily="18" charset="0"/>
                <a:cs typeface="Times New Roman" panose="02020603050405020304" pitchFamily="18" charset="0"/>
              </a:rPr>
              <a:t>-o </a:t>
            </a:r>
            <a:r>
              <a:rPr lang="en-US" dirty="0" err="1">
                <a:latin typeface="Times New Roman" panose="02020603050405020304" pitchFamily="18" charset="0"/>
                <a:cs typeface="Times New Roman" panose="02020603050405020304" pitchFamily="18" charset="0"/>
              </a:rPr>
              <a:t>memorie</a:t>
            </a:r>
            <a:r>
              <a:rPr lang="en-US" dirty="0">
                <a:latin typeface="Times New Roman" panose="02020603050405020304" pitchFamily="18" charset="0"/>
                <a:cs typeface="Times New Roman" panose="02020603050405020304" pitchFamily="18" charset="0"/>
              </a:rPr>
              <a:t> care a </a:t>
            </a:r>
            <a:r>
              <a:rPr lang="en-US" dirty="0" err="1">
                <a:latin typeface="Times New Roman" panose="02020603050405020304" pitchFamily="18" charset="0"/>
                <a:cs typeface="Times New Roman" panose="02020603050405020304" pitchFamily="18" charset="0"/>
              </a:rPr>
              <a:t>văzut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tipare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normale</a:t>
            </a:r>
            <a:r>
              <a:rPr lang="en-US" dirty="0">
                <a:latin typeface="Times New Roman" panose="02020603050405020304" pitchFamily="18" charset="0"/>
                <a:cs typeface="Times New Roman" panose="02020603050405020304" pitchFamily="18" charset="0"/>
              </a:rPr>
              <a:t>.</a:t>
            </a:r>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Vom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parcurge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ipoteza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autorilor</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arhitectura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propusă</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funcțiile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pierdere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rezultatele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experimentale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vom</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încheia</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 o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secțiune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replicare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codului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și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cu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raportul</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nostru</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de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utilizare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AI."</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12</a:t>
            </a:fld>
            <a:endParaRPr lang="en-US">
              <a:latin typeface="Times New Roman" panose="02020603050405020304" pitchFamily="18" charset="0"/>
            </a:endParaRPr>
          </a:p>
        </p:txBody>
      </p:sp>
    </p:spTree>
    <p:extLst>
      <p:ext uri="{BB962C8B-B14F-4D97-AF65-F5344CB8AC3E}">
        <p14:creationId xmlns:p14="http://schemas.microsoft.com/office/powerpoint/2010/main" val="2363403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Times New Roman" panose="02020603050405020304" pitchFamily="18" charset="0"/>
                <a:cs typeface="Times New Roman" panose="02020603050405020304" pitchFamily="18" charset="0"/>
              </a:rPr>
              <a:t>Aici</a:t>
            </a:r>
            <a:r>
              <a:rPr lang="en-US" dirty="0">
                <a:latin typeface="Times New Roman" panose="02020603050405020304" pitchFamily="18" charset="0"/>
                <a:cs typeface="Times New Roman" panose="02020603050405020304" pitchFamily="18" charset="0"/>
              </a:rPr>
              <a:t> am variat doi hiperparametri. Primul este dimensiunea memoriei N. Dacă N este prea mic, normalitatea nu are suficientă capacitate. Dacă N este prea mare, nu înseamnă automat mai bine, pentru că modelul poate avea nevoie de mai multe date și de tuning. Al doilea este pragul lambda. Fără shrinkage, folosim prea multe sloturi; cu lambda prea mare, tăiem informație utilă. În articol, intervalul recomandat este între 1 pe N și 3 pe N.</a:t>
            </a: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13</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6.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1.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10" Type="http://schemas.openxmlformats.org/officeDocument/2006/relationships/image" Target="../media/image35.png"/><Relationship Id="rId19" Type="http://schemas.openxmlformats.org/officeDocument/2006/relationships/image" Target="../media/image44.png"/><Relationship Id="rId4" Type="http://schemas.openxmlformats.org/officeDocument/2006/relationships/image" Target="../media/image6.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52.png"/><Relationship Id="rId3" Type="http://schemas.openxmlformats.org/officeDocument/2006/relationships/image" Target="../media/image6.png"/><Relationship Id="rId7" Type="http://schemas.openxmlformats.org/officeDocument/2006/relationships/image" Target="../media/image33.png"/><Relationship Id="rId12"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48.png"/><Relationship Id="rId5" Type="http://schemas.openxmlformats.org/officeDocument/2006/relationships/image" Target="../media/image31.png"/><Relationship Id="rId10" Type="http://schemas.openxmlformats.org/officeDocument/2006/relationships/image" Target="../media/image41.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18" Type="http://schemas.openxmlformats.org/officeDocument/2006/relationships/image" Target="../media/image67.png"/><Relationship Id="rId3" Type="http://schemas.openxmlformats.org/officeDocument/2006/relationships/image" Target="../media/image1.png"/><Relationship Id="rId21" Type="http://schemas.openxmlformats.org/officeDocument/2006/relationships/image" Target="../media/image70.png"/><Relationship Id="rId7" Type="http://schemas.openxmlformats.org/officeDocument/2006/relationships/image" Target="../media/image56.png"/><Relationship Id="rId12" Type="http://schemas.openxmlformats.org/officeDocument/2006/relationships/image" Target="../media/image61.png"/><Relationship Id="rId17" Type="http://schemas.openxmlformats.org/officeDocument/2006/relationships/image" Target="../media/image66.png"/><Relationship Id="rId2" Type="http://schemas.openxmlformats.org/officeDocument/2006/relationships/notesSlide" Target="../notesSlides/notesSlide6.xml"/><Relationship Id="rId16" Type="http://schemas.openxmlformats.org/officeDocument/2006/relationships/image" Target="../media/image65.png"/><Relationship Id="rId20"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60.png"/><Relationship Id="rId24" Type="http://schemas.openxmlformats.org/officeDocument/2006/relationships/image" Target="../media/image8.png"/><Relationship Id="rId5" Type="http://schemas.openxmlformats.org/officeDocument/2006/relationships/image" Target="../media/image54.png"/><Relationship Id="rId15" Type="http://schemas.openxmlformats.org/officeDocument/2006/relationships/image" Target="../media/image64.png"/><Relationship Id="rId23" Type="http://schemas.openxmlformats.org/officeDocument/2006/relationships/image" Target="../media/image6.png"/><Relationship Id="rId10" Type="http://schemas.openxmlformats.org/officeDocument/2006/relationships/image" Target="../media/image59.png"/><Relationship Id="rId19" Type="http://schemas.openxmlformats.org/officeDocument/2006/relationships/image" Target="../media/image68.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 Id="rId22" Type="http://schemas.openxmlformats.org/officeDocument/2006/relationships/image" Target="../media/image71.png"/></Relationships>
</file>

<file path=ppt/slides/_rels/slide7.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26" Type="http://schemas.openxmlformats.org/officeDocument/2006/relationships/image" Target="../media/image93.png"/><Relationship Id="rId3" Type="http://schemas.openxmlformats.org/officeDocument/2006/relationships/image" Target="../media/image1.png"/><Relationship Id="rId21" Type="http://schemas.openxmlformats.org/officeDocument/2006/relationships/image" Target="../media/image88.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5" Type="http://schemas.openxmlformats.org/officeDocument/2006/relationships/image" Target="../media/image92.png"/><Relationship Id="rId2" Type="http://schemas.openxmlformats.org/officeDocument/2006/relationships/notesSlide" Target="../notesSlides/notesSlide7.xml"/><Relationship Id="rId16" Type="http://schemas.openxmlformats.org/officeDocument/2006/relationships/image" Target="../media/image83.png"/><Relationship Id="rId20" Type="http://schemas.openxmlformats.org/officeDocument/2006/relationships/image" Target="../media/image87.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78.png"/><Relationship Id="rId24" Type="http://schemas.openxmlformats.org/officeDocument/2006/relationships/image" Target="../media/image91.png"/><Relationship Id="rId5" Type="http://schemas.openxmlformats.org/officeDocument/2006/relationships/image" Target="../media/image73.png"/><Relationship Id="rId15" Type="http://schemas.openxmlformats.org/officeDocument/2006/relationships/image" Target="../media/image82.png"/><Relationship Id="rId23" Type="http://schemas.openxmlformats.org/officeDocument/2006/relationships/image" Target="../media/image90.png"/><Relationship Id="rId28" Type="http://schemas.openxmlformats.org/officeDocument/2006/relationships/image" Target="../media/image8.png"/><Relationship Id="rId10" Type="http://schemas.openxmlformats.org/officeDocument/2006/relationships/image" Target="../media/image77.png"/><Relationship Id="rId19" Type="http://schemas.openxmlformats.org/officeDocument/2006/relationships/image" Target="../media/image86.png"/><Relationship Id="rId4" Type="http://schemas.openxmlformats.org/officeDocument/2006/relationships/image" Target="../media/image72.png"/><Relationship Id="rId9" Type="http://schemas.openxmlformats.org/officeDocument/2006/relationships/image" Target="../media/image76.png"/><Relationship Id="rId14" Type="http://schemas.openxmlformats.org/officeDocument/2006/relationships/image" Target="../media/image81.png"/><Relationship Id="rId22" Type="http://schemas.openxmlformats.org/officeDocument/2006/relationships/image" Target="../media/image89.png"/><Relationship Id="rId27"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108.png"/><Relationship Id="rId3" Type="http://schemas.openxmlformats.org/officeDocument/2006/relationships/image" Target="../media/image1.png"/><Relationship Id="rId21" Type="http://schemas.openxmlformats.org/officeDocument/2006/relationships/image" Target="../media/image111.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8.xml"/><Relationship Id="rId16" Type="http://schemas.openxmlformats.org/officeDocument/2006/relationships/image" Target="../media/image106.png"/><Relationship Id="rId20"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23" Type="http://schemas.openxmlformats.org/officeDocument/2006/relationships/image" Target="../media/image8.png"/><Relationship Id="rId10" Type="http://schemas.openxmlformats.org/officeDocument/2006/relationships/image" Target="../media/image100.png"/><Relationship Id="rId19" Type="http://schemas.openxmlformats.org/officeDocument/2006/relationships/image" Target="../media/image109.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 Id="rId22" Type="http://schemas.openxmlformats.org/officeDocument/2006/relationships/image" Target="../media/image6.png"/></Relationships>
</file>

<file path=ppt/slides/_rels/slide9.xml.rels><?xml version="1.0" encoding="UTF-8" standalone="yes"?>
<Relationships xmlns="http://schemas.openxmlformats.org/package/2006/relationships"><Relationship Id="rId13" Type="http://schemas.openxmlformats.org/officeDocument/2006/relationships/image" Target="../media/image121.png"/><Relationship Id="rId18" Type="http://schemas.openxmlformats.org/officeDocument/2006/relationships/image" Target="../media/image126.png"/><Relationship Id="rId26" Type="http://schemas.openxmlformats.org/officeDocument/2006/relationships/image" Target="../media/image134.png"/><Relationship Id="rId3" Type="http://schemas.openxmlformats.org/officeDocument/2006/relationships/image" Target="../media/image1.png"/><Relationship Id="rId21" Type="http://schemas.openxmlformats.org/officeDocument/2006/relationships/image" Target="../media/image129.png"/><Relationship Id="rId34" Type="http://schemas.openxmlformats.org/officeDocument/2006/relationships/image" Target="../media/image8.png"/><Relationship Id="rId7" Type="http://schemas.openxmlformats.org/officeDocument/2006/relationships/image" Target="../media/image115.png"/><Relationship Id="rId12" Type="http://schemas.openxmlformats.org/officeDocument/2006/relationships/image" Target="../media/image120.png"/><Relationship Id="rId17" Type="http://schemas.openxmlformats.org/officeDocument/2006/relationships/image" Target="../media/image125.png"/><Relationship Id="rId25" Type="http://schemas.openxmlformats.org/officeDocument/2006/relationships/image" Target="../media/image133.png"/><Relationship Id="rId33" Type="http://schemas.openxmlformats.org/officeDocument/2006/relationships/image" Target="../media/image6.png"/><Relationship Id="rId2" Type="http://schemas.openxmlformats.org/officeDocument/2006/relationships/notesSlide" Target="../notesSlides/notesSlide9.xml"/><Relationship Id="rId16" Type="http://schemas.openxmlformats.org/officeDocument/2006/relationships/image" Target="../media/image124.png"/><Relationship Id="rId20" Type="http://schemas.openxmlformats.org/officeDocument/2006/relationships/image" Target="../media/image128.png"/><Relationship Id="rId29" Type="http://schemas.openxmlformats.org/officeDocument/2006/relationships/image" Target="../media/image137.png"/><Relationship Id="rId1" Type="http://schemas.openxmlformats.org/officeDocument/2006/relationships/slideLayout" Target="../slideLayouts/slideLayout1.xml"/><Relationship Id="rId6" Type="http://schemas.openxmlformats.org/officeDocument/2006/relationships/image" Target="../media/image114.png"/><Relationship Id="rId11" Type="http://schemas.openxmlformats.org/officeDocument/2006/relationships/image" Target="../media/image119.png"/><Relationship Id="rId24" Type="http://schemas.openxmlformats.org/officeDocument/2006/relationships/image" Target="../media/image132.png"/><Relationship Id="rId32" Type="http://schemas.openxmlformats.org/officeDocument/2006/relationships/image" Target="../media/image140.png"/><Relationship Id="rId5" Type="http://schemas.openxmlformats.org/officeDocument/2006/relationships/image" Target="../media/image113.png"/><Relationship Id="rId15" Type="http://schemas.openxmlformats.org/officeDocument/2006/relationships/image" Target="../media/image123.png"/><Relationship Id="rId23" Type="http://schemas.openxmlformats.org/officeDocument/2006/relationships/image" Target="../media/image131.png"/><Relationship Id="rId28" Type="http://schemas.openxmlformats.org/officeDocument/2006/relationships/image" Target="../media/image136.png"/><Relationship Id="rId10" Type="http://schemas.openxmlformats.org/officeDocument/2006/relationships/image" Target="../media/image118.png"/><Relationship Id="rId19" Type="http://schemas.openxmlformats.org/officeDocument/2006/relationships/image" Target="../media/image127.png"/><Relationship Id="rId31" Type="http://schemas.openxmlformats.org/officeDocument/2006/relationships/image" Target="../media/image139.png"/><Relationship Id="rId4" Type="http://schemas.openxmlformats.org/officeDocument/2006/relationships/image" Target="../media/image112.png"/><Relationship Id="rId9" Type="http://schemas.openxmlformats.org/officeDocument/2006/relationships/image" Target="../media/image117.png"/><Relationship Id="rId14" Type="http://schemas.openxmlformats.org/officeDocument/2006/relationships/image" Target="../media/image122.png"/><Relationship Id="rId22" Type="http://schemas.openxmlformats.org/officeDocument/2006/relationships/image" Target="../media/image130.png"/><Relationship Id="rId27" Type="http://schemas.openxmlformats.org/officeDocument/2006/relationships/image" Target="../media/image135.png"/><Relationship Id="rId30" Type="http://schemas.openxmlformats.org/officeDocument/2006/relationships/image" Target="../media/image138.png"/><Relationship Id="rId8" Type="http://schemas.openxmlformats.org/officeDocument/2006/relationships/image" Target="../media/image116.png"/></Relationships>
</file>

<file path=ppt/slides/_rels/slide10.xml.rels><?xml version="1.0" encoding="UTF-8" standalone="yes"?>
<Relationships xmlns="http://schemas.openxmlformats.org/package/2006/relationships"><Relationship Id="rId13" Type="http://schemas.openxmlformats.org/officeDocument/2006/relationships/image" Target="../media/image150.png"/><Relationship Id="rId18" Type="http://schemas.openxmlformats.org/officeDocument/2006/relationships/image" Target="../media/image155.png"/><Relationship Id="rId26" Type="http://schemas.openxmlformats.org/officeDocument/2006/relationships/image" Target="../media/image163.png"/><Relationship Id="rId39" Type="http://schemas.openxmlformats.org/officeDocument/2006/relationships/image" Target="../media/image176.png"/><Relationship Id="rId21" Type="http://schemas.openxmlformats.org/officeDocument/2006/relationships/image" Target="../media/image158.png"/><Relationship Id="rId34" Type="http://schemas.openxmlformats.org/officeDocument/2006/relationships/image" Target="../media/image171.png"/><Relationship Id="rId42" Type="http://schemas.openxmlformats.org/officeDocument/2006/relationships/image" Target="../media/image6.png"/><Relationship Id="rId7" Type="http://schemas.openxmlformats.org/officeDocument/2006/relationships/image" Target="../media/image144.png"/><Relationship Id="rId2" Type="http://schemas.openxmlformats.org/officeDocument/2006/relationships/notesSlide" Target="../notesSlides/notesSlide10.xml"/><Relationship Id="rId16" Type="http://schemas.openxmlformats.org/officeDocument/2006/relationships/image" Target="../media/image153.png"/><Relationship Id="rId20" Type="http://schemas.openxmlformats.org/officeDocument/2006/relationships/image" Target="../media/image157.png"/><Relationship Id="rId29" Type="http://schemas.openxmlformats.org/officeDocument/2006/relationships/image" Target="../media/image166.png"/><Relationship Id="rId41" Type="http://schemas.openxmlformats.org/officeDocument/2006/relationships/image" Target="../media/image178.png"/><Relationship Id="rId1" Type="http://schemas.openxmlformats.org/officeDocument/2006/relationships/slideLayout" Target="../slideLayouts/slideLayout1.xml"/><Relationship Id="rId6" Type="http://schemas.openxmlformats.org/officeDocument/2006/relationships/image" Target="../media/image143.png"/><Relationship Id="rId11" Type="http://schemas.openxmlformats.org/officeDocument/2006/relationships/image" Target="../media/image148.png"/><Relationship Id="rId24" Type="http://schemas.openxmlformats.org/officeDocument/2006/relationships/image" Target="../media/image161.png"/><Relationship Id="rId32" Type="http://schemas.openxmlformats.org/officeDocument/2006/relationships/image" Target="../media/image169.png"/><Relationship Id="rId37" Type="http://schemas.openxmlformats.org/officeDocument/2006/relationships/image" Target="../media/image174.png"/><Relationship Id="rId40" Type="http://schemas.openxmlformats.org/officeDocument/2006/relationships/image" Target="../media/image177.png"/><Relationship Id="rId5" Type="http://schemas.openxmlformats.org/officeDocument/2006/relationships/image" Target="../media/image142.png"/><Relationship Id="rId15" Type="http://schemas.openxmlformats.org/officeDocument/2006/relationships/image" Target="../media/image152.png"/><Relationship Id="rId23" Type="http://schemas.openxmlformats.org/officeDocument/2006/relationships/image" Target="../media/image160.png"/><Relationship Id="rId28" Type="http://schemas.openxmlformats.org/officeDocument/2006/relationships/image" Target="../media/image165.png"/><Relationship Id="rId36" Type="http://schemas.openxmlformats.org/officeDocument/2006/relationships/image" Target="../media/image173.png"/><Relationship Id="rId10" Type="http://schemas.openxmlformats.org/officeDocument/2006/relationships/image" Target="../media/image147.png"/><Relationship Id="rId19" Type="http://schemas.openxmlformats.org/officeDocument/2006/relationships/image" Target="../media/image156.png"/><Relationship Id="rId31" Type="http://schemas.openxmlformats.org/officeDocument/2006/relationships/image" Target="../media/image168.png"/><Relationship Id="rId4" Type="http://schemas.openxmlformats.org/officeDocument/2006/relationships/image" Target="../media/image141.png"/><Relationship Id="rId9" Type="http://schemas.openxmlformats.org/officeDocument/2006/relationships/image" Target="../media/image146.png"/><Relationship Id="rId14" Type="http://schemas.openxmlformats.org/officeDocument/2006/relationships/image" Target="../media/image151.png"/><Relationship Id="rId22" Type="http://schemas.openxmlformats.org/officeDocument/2006/relationships/image" Target="../media/image159.png"/><Relationship Id="rId27" Type="http://schemas.openxmlformats.org/officeDocument/2006/relationships/image" Target="../media/image164.png"/><Relationship Id="rId30" Type="http://schemas.openxmlformats.org/officeDocument/2006/relationships/image" Target="../media/image167.png"/><Relationship Id="rId35" Type="http://schemas.openxmlformats.org/officeDocument/2006/relationships/image" Target="../media/image172.png"/><Relationship Id="rId43" Type="http://schemas.openxmlformats.org/officeDocument/2006/relationships/image" Target="../media/image8.png"/><Relationship Id="rId8" Type="http://schemas.openxmlformats.org/officeDocument/2006/relationships/image" Target="../media/image145.png"/><Relationship Id="rId3" Type="http://schemas.openxmlformats.org/officeDocument/2006/relationships/image" Target="../media/image1.png"/><Relationship Id="rId12" Type="http://schemas.openxmlformats.org/officeDocument/2006/relationships/image" Target="../media/image149.png"/><Relationship Id="rId17" Type="http://schemas.openxmlformats.org/officeDocument/2006/relationships/image" Target="../media/image154.png"/><Relationship Id="rId25" Type="http://schemas.openxmlformats.org/officeDocument/2006/relationships/image" Target="../media/image162.png"/><Relationship Id="rId33" Type="http://schemas.openxmlformats.org/officeDocument/2006/relationships/image" Target="../media/image170.png"/><Relationship Id="rId38" Type="http://schemas.openxmlformats.org/officeDocument/2006/relationships/image" Target="../media/image175.png"/></Relationships>
</file>

<file path=ppt/slides/_rels/slide11.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182.png"/><Relationship Id="rId12"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0" Type="http://schemas.openxmlformats.org/officeDocument/2006/relationships/image" Target="../media/image185.png"/><Relationship Id="rId4" Type="http://schemas.openxmlformats.org/officeDocument/2006/relationships/image" Target="../media/image179.png"/><Relationship Id="rId9" Type="http://schemas.openxmlformats.org/officeDocument/2006/relationships/image" Target="../media/image18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K-1-img-1" descr="preencoded.png"/>
          <p:cNvPicPr>
            <a:picLocks noChangeAspect="1"/>
          </p:cNvPicPr>
          <p:nvPr/>
        </p:nvPicPr>
        <p:blipFill>
          <a:blip r:embed="rId3"/>
          <a:stretch>
            <a:fillRect/>
          </a:stretch>
        </p:blipFill>
        <p:spPr>
          <a:xfrm>
            <a:off x="0" y="0"/>
            <a:ext cx="12192000" cy="6858000"/>
          </a:xfrm>
          <a:prstGeom prst="rect">
            <a:avLst/>
          </a:prstGeom>
        </p:spPr>
      </p:pic>
      <p:pic>
        <p:nvPicPr>
          <p:cNvPr id="3" name="SK-1-img-2" descr="preencoded.png"/>
          <p:cNvPicPr>
            <a:picLocks noChangeAspect="1"/>
          </p:cNvPicPr>
          <p:nvPr/>
        </p:nvPicPr>
        <p:blipFill>
          <a:blip r:embed="rId4"/>
          <a:stretch>
            <a:fillRect/>
          </a:stretch>
        </p:blipFill>
        <p:spPr>
          <a:xfrm>
            <a:off x="5632698" y="0"/>
            <a:ext cx="6559302" cy="7200900"/>
          </a:xfrm>
          <a:prstGeom prst="rect">
            <a:avLst/>
          </a:prstGeom>
        </p:spPr>
      </p:pic>
      <p:pic>
        <p:nvPicPr>
          <p:cNvPr id="4" name="SK-1-img-3" descr="preencoded.png"/>
          <p:cNvPicPr>
            <a:picLocks noChangeAspect="1"/>
          </p:cNvPicPr>
          <p:nvPr/>
        </p:nvPicPr>
        <p:blipFill>
          <a:blip r:embed="rId5"/>
          <a:stretch>
            <a:fillRect/>
          </a:stretch>
        </p:blipFill>
        <p:spPr>
          <a:xfrm>
            <a:off x="511969" y="3601938"/>
            <a:ext cx="2730996" cy="38100"/>
          </a:xfrm>
          <a:prstGeom prst="rect">
            <a:avLst/>
          </a:prstGeom>
        </p:spPr>
      </p:pic>
      <p:pic>
        <p:nvPicPr>
          <p:cNvPr id="5" name="SK-1-img-4" descr="preencoded.png"/>
          <p:cNvPicPr>
            <a:picLocks noChangeAspect="1"/>
          </p:cNvPicPr>
          <p:nvPr/>
        </p:nvPicPr>
        <p:blipFill>
          <a:blip r:embed="rId6"/>
          <a:stretch>
            <a:fillRect/>
          </a:stretch>
        </p:blipFill>
        <p:spPr>
          <a:xfrm>
            <a:off x="6400800" y="1961257"/>
            <a:ext cx="5522863" cy="2962573"/>
          </a:xfrm>
          <a:prstGeom prst="rect">
            <a:avLst/>
          </a:prstGeom>
        </p:spPr>
      </p:pic>
      <p:sp>
        <p:nvSpPr>
          <p:cNvPr id="7" name="SK-1-text-6"/>
          <p:cNvSpPr/>
          <p:nvPr/>
        </p:nvSpPr>
        <p:spPr>
          <a:xfrm>
            <a:off x="524173" y="1467594"/>
            <a:ext cx="4395788" cy="733723"/>
          </a:xfrm>
          <a:prstGeom prst="rect">
            <a:avLst/>
          </a:prstGeom>
          <a:noFill/>
          <a:ln/>
        </p:spPr>
        <p:txBody>
          <a:bodyPr vert="horz" wrap="none" lIns="0" tIns="0" rIns="0" bIns="0" rtlCol="0" anchor="ctr"/>
          <a:lstStyle/>
          <a:p>
            <a:pPr marL="0" indent="0" algn="l">
              <a:buNone/>
            </a:pPr>
            <a:r>
              <a:rPr lang="en-US" sz="5325" b="1" dirty="0">
                <a:solidFill>
                  <a:srgbClr val="0D1B3E"/>
                </a:solidFill>
                <a:latin typeface="Times New Roman" panose="02020603050405020304" pitchFamily="18" charset="0"/>
                <a:ea typeface="Montserrat" pitchFamily="34" charset="-122"/>
                <a:cs typeface="Times New Roman" panose="02020603050405020304" pitchFamily="18" charset="0"/>
              </a:rPr>
              <a:t>MemAE</a:t>
            </a:r>
            <a:endParaRPr lang="en-US" sz="5325" dirty="0">
              <a:latin typeface="Times New Roman" panose="02020603050405020304" pitchFamily="18" charset="0"/>
              <a:cs typeface="Times New Roman" panose="02020603050405020304" pitchFamily="18" charset="0"/>
            </a:endParaRPr>
          </a:p>
        </p:txBody>
      </p:sp>
      <p:sp>
        <p:nvSpPr>
          <p:cNvPr id="8" name="SK-1-text-7"/>
          <p:cNvSpPr/>
          <p:nvPr/>
        </p:nvSpPr>
        <p:spPr>
          <a:xfrm>
            <a:off x="487561" y="2413992"/>
            <a:ext cx="4803577" cy="788640"/>
          </a:xfrm>
          <a:prstGeom prst="rect">
            <a:avLst/>
          </a:prstGeom>
          <a:noFill/>
          <a:ln/>
        </p:spPr>
        <p:txBody>
          <a:bodyPr vert="horz" wrap="none" lIns="0" tIns="0" rIns="0" bIns="0" rtlCol="0" anchor="ctr"/>
          <a:lstStyle/>
          <a:p>
            <a:pPr marL="0" indent="0" algn="l">
              <a:lnSpc>
                <a:spcPts val="2880"/>
              </a:lnSpc>
              <a:buNone/>
            </a:pPr>
            <a:r>
              <a:rPr lang="en-US" sz="2400" b="1" dirty="0">
                <a:solidFill>
                  <a:srgbClr val="0D1B3E"/>
                </a:solidFill>
                <a:latin typeface="Times New Roman" panose="02020603050405020304" pitchFamily="18" charset="0"/>
                <a:ea typeface="Montserrat" pitchFamily="34" charset="-122"/>
                <a:cs typeface="Times New Roman" panose="02020603050405020304" pitchFamily="18" charset="0"/>
              </a:rPr>
              <a:t>Memorarea Normalității</a:t>
            </a:r>
            <a:endParaRPr lang="en-US" sz="2400" dirty="0">
              <a:latin typeface="Times New Roman" panose="02020603050405020304" pitchFamily="18" charset="0"/>
              <a:cs typeface="Times New Roman" panose="02020603050405020304" pitchFamily="18" charset="0"/>
            </a:endParaRPr>
          </a:p>
          <a:p>
            <a:pPr marL="0" indent="0" algn="l">
              <a:lnSpc>
                <a:spcPts val="2880"/>
              </a:lnSpc>
              <a:buNone/>
            </a:pPr>
            <a:r>
              <a:rPr lang="en-US" sz="2400" b="1" dirty="0">
                <a:solidFill>
                  <a:srgbClr val="0D1B3E"/>
                </a:solidFill>
                <a:latin typeface="Times New Roman" panose="02020603050405020304" pitchFamily="18" charset="0"/>
                <a:ea typeface="Montserrat" pitchFamily="34" charset="-122"/>
                <a:cs typeface="Times New Roman" panose="02020603050405020304" pitchFamily="18" charset="0"/>
              </a:rPr>
              <a:t>pentru Detectarea Anomaliilor</a:t>
            </a:r>
            <a:endParaRPr lang="en-US" sz="2400" dirty="0">
              <a:latin typeface="Times New Roman" panose="02020603050405020304" pitchFamily="18" charset="0"/>
              <a:cs typeface="Times New Roman" panose="02020603050405020304" pitchFamily="18" charset="0"/>
            </a:endParaRPr>
          </a:p>
        </p:txBody>
      </p:sp>
      <p:sp>
        <p:nvSpPr>
          <p:cNvPr id="9" name="SK-1-text-8"/>
          <p:cNvSpPr/>
          <p:nvPr/>
        </p:nvSpPr>
        <p:spPr>
          <a:xfrm>
            <a:off x="463153" y="4032498"/>
            <a:ext cx="4706094" cy="1021705"/>
          </a:xfrm>
          <a:prstGeom prst="rect">
            <a:avLst/>
          </a:prstGeom>
          <a:noFill/>
          <a:ln/>
        </p:spPr>
        <p:txBody>
          <a:bodyPr vert="horz" wrap="none" lIns="0" tIns="0" rIns="0" bIns="0" rtlCol="0" anchor="ctr"/>
          <a:lstStyle/>
          <a:p>
            <a:pPr marL="0" indent="0" algn="l">
              <a:lnSpc>
                <a:spcPts val="1890"/>
              </a:lnSpc>
              <a:buNone/>
            </a:pPr>
            <a:r>
              <a:rPr lang="en-US" sz="1350" dirty="0">
                <a:solidFill>
                  <a:srgbClr val="555555"/>
                </a:solidFill>
                <a:latin typeface="Times New Roman" panose="02020603050405020304" pitchFamily="18" charset="0"/>
                <a:ea typeface="Open Sans" pitchFamily="34" charset="-122"/>
                <a:cs typeface="Times New Roman" panose="02020603050405020304" pitchFamily="18" charset="0"/>
              </a:rPr>
              <a:t>O </a:t>
            </a:r>
            <a:r>
              <a:rPr lang="en-US" sz="1350" dirty="0" err="1">
                <a:solidFill>
                  <a:srgbClr val="555555"/>
                </a:solidFill>
                <a:latin typeface="Times New Roman" panose="02020603050405020304" pitchFamily="18" charset="0"/>
                <a:ea typeface="Open Sans" pitchFamily="34" charset="-122"/>
                <a:cs typeface="Times New Roman" panose="02020603050405020304" pitchFamily="18" charset="0"/>
              </a:rPr>
              <a:t>prezentare</a:t>
            </a:r>
            <a:r>
              <a:rPr lang="en-US" sz="1350" dirty="0">
                <a:solidFill>
                  <a:srgbClr val="555555"/>
                </a:solidFill>
                <a:latin typeface="Times New Roman" panose="02020603050405020304" pitchFamily="18" charset="0"/>
                <a:ea typeface="Open Sans" pitchFamily="34" charset="-122"/>
                <a:cs typeface="Times New Roman" panose="02020603050405020304" pitchFamily="18" charset="0"/>
              </a:rPr>
              <a:t> a metodei Memory-augmented</a:t>
            </a:r>
            <a:endParaRPr lang="en-US" sz="1350" dirty="0">
              <a:latin typeface="Times New Roman" panose="02020603050405020304" pitchFamily="18" charset="0"/>
              <a:cs typeface="Times New Roman" panose="02020603050405020304" pitchFamily="18" charset="0"/>
            </a:endParaRPr>
          </a:p>
          <a:p>
            <a:pPr marL="0" indent="0" algn="l">
              <a:lnSpc>
                <a:spcPts val="1890"/>
              </a:lnSpc>
              <a:buNone/>
            </a:pPr>
            <a:r>
              <a:rPr lang="en-US" sz="1350" dirty="0">
                <a:solidFill>
                  <a:srgbClr val="555555"/>
                </a:solidFill>
                <a:latin typeface="Times New Roman" panose="02020603050405020304" pitchFamily="18" charset="0"/>
                <a:ea typeface="Open Sans" pitchFamily="34" charset="-122"/>
                <a:cs typeface="Times New Roman" panose="02020603050405020304" pitchFamily="18" charset="0"/>
              </a:rPr>
              <a:t>Deep Autoencoder pentru detectarea nesupervizată</a:t>
            </a:r>
            <a:endParaRPr lang="en-US" sz="1350" dirty="0">
              <a:latin typeface="Times New Roman" panose="02020603050405020304" pitchFamily="18" charset="0"/>
              <a:cs typeface="Times New Roman" panose="02020603050405020304" pitchFamily="18" charset="0"/>
            </a:endParaRPr>
          </a:p>
          <a:p>
            <a:pPr marL="0" indent="0" algn="l">
              <a:lnSpc>
                <a:spcPts val="1890"/>
              </a:lnSpc>
              <a:buNone/>
            </a:pPr>
            <a:r>
              <a:rPr lang="en-US" sz="1350" dirty="0">
                <a:solidFill>
                  <a:srgbClr val="555555"/>
                </a:solidFill>
                <a:latin typeface="Times New Roman" panose="02020603050405020304" pitchFamily="18" charset="0"/>
                <a:ea typeface="Open Sans" pitchFamily="34" charset="-122"/>
                <a:cs typeface="Times New Roman" panose="02020603050405020304" pitchFamily="18" charset="0"/>
              </a:rPr>
              <a:t>a anomaliilor, bazată pe lucrarea originală</a:t>
            </a:r>
            <a:endParaRPr lang="en-US" sz="1350" dirty="0">
              <a:latin typeface="Times New Roman" panose="02020603050405020304" pitchFamily="18" charset="0"/>
              <a:cs typeface="Times New Roman" panose="02020603050405020304" pitchFamily="18" charset="0"/>
            </a:endParaRPr>
          </a:p>
          <a:p>
            <a:pPr marL="0" indent="0" algn="l">
              <a:lnSpc>
                <a:spcPts val="1890"/>
              </a:lnSpc>
              <a:buNone/>
            </a:pPr>
            <a:r>
              <a:rPr lang="en-US" sz="1350" dirty="0">
                <a:solidFill>
                  <a:srgbClr val="555555"/>
                </a:solidFill>
                <a:latin typeface="Times New Roman" panose="02020603050405020304" pitchFamily="18" charset="0"/>
                <a:ea typeface="Open Sans" pitchFamily="34" charset="-122"/>
                <a:cs typeface="Times New Roman" panose="02020603050405020304" pitchFamily="18" charset="0"/>
              </a:rPr>
              <a:t>din anul 2019.</a:t>
            </a:r>
            <a:endParaRPr lang="en-US" sz="1350" dirty="0">
              <a:latin typeface="Times New Roman" panose="02020603050405020304" pitchFamily="18" charset="0"/>
              <a:cs typeface="Times New Roman" panose="02020603050405020304" pitchFamily="18" charset="0"/>
            </a:endParaRPr>
          </a:p>
        </p:txBody>
      </p:sp>
      <p:sp>
        <p:nvSpPr>
          <p:cNvPr id="10" name="SK-1-text-9"/>
          <p:cNvSpPr/>
          <p:nvPr/>
        </p:nvSpPr>
        <p:spPr>
          <a:xfrm>
            <a:off x="463153" y="5808613"/>
            <a:ext cx="8565832" cy="198834"/>
          </a:xfrm>
          <a:prstGeom prst="rect">
            <a:avLst/>
          </a:prstGeom>
          <a:noFill/>
          <a:ln/>
        </p:spPr>
        <p:txBody>
          <a:bodyPr vert="horz" wrap="none" lIns="0" tIns="0" rIns="0" bIns="0" rtlCol="0" anchor="ctr"/>
          <a:lstStyle/>
          <a:p>
            <a:pPr marL="0" indent="0" algn="l">
              <a:buNone/>
            </a:pPr>
            <a:r>
              <a:rPr lang="en-US" sz="1275" dirty="0">
                <a:solidFill>
                  <a:srgbClr val="555555"/>
                </a:solidFill>
                <a:latin typeface="Times New Roman" panose="02020603050405020304" pitchFamily="18" charset="0"/>
                <a:ea typeface="Open Sans" pitchFamily="34" charset="-122"/>
                <a:cs typeface="Times New Roman" panose="02020603050405020304" pitchFamily="18" charset="0"/>
              </a:rPr>
              <a:t>Lucrare originală: Gong et al., ICCV 2019</a:t>
            </a:r>
            <a:endParaRPr lang="en-US" sz="1275" dirty="0">
              <a:latin typeface="Times New Roman" panose="02020603050405020304" pitchFamily="18" charset="0"/>
              <a:cs typeface="Times New Roman" panose="02020603050405020304" pitchFamily="18" charset="0"/>
            </a:endParaRPr>
          </a:p>
        </p:txBody>
      </p:sp>
      <p:sp>
        <p:nvSpPr>
          <p:cNvPr id="11" name="SK-1-text-10"/>
          <p:cNvSpPr/>
          <p:nvPr/>
        </p:nvSpPr>
        <p:spPr>
          <a:xfrm>
            <a:off x="487561" y="6076057"/>
            <a:ext cx="5068252" cy="178296"/>
          </a:xfrm>
          <a:prstGeom prst="rect">
            <a:avLst/>
          </a:prstGeom>
          <a:noFill/>
          <a:ln/>
        </p:spPr>
        <p:txBody>
          <a:bodyPr vert="horz" wrap="none" lIns="0" tIns="0" rIns="0" bIns="0" rtlCol="0" anchor="ctr"/>
          <a:lstStyle/>
          <a:p>
            <a:pPr marL="0" indent="0" algn="l">
              <a:buNone/>
            </a:pPr>
            <a:r>
              <a:rPr lang="en-US" sz="1275" dirty="0">
                <a:solidFill>
                  <a:srgbClr val="555555"/>
                </a:solidFill>
                <a:latin typeface="Times New Roman" panose="02020603050405020304" pitchFamily="18" charset="0"/>
                <a:ea typeface="Open Sans" pitchFamily="34" charset="-122"/>
                <a:cs typeface="Times New Roman" panose="02020603050405020304" pitchFamily="18" charset="0"/>
              </a:rPr>
              <a:t>Prezentare · Iunie 2026</a:t>
            </a:r>
            <a:endParaRPr lang="en-US" sz="1275" dirty="0">
              <a:latin typeface="Times New Roman" panose="02020603050405020304" pitchFamily="18" charset="0"/>
              <a:cs typeface="Times New Roman" panose="02020603050405020304" pitchFamily="18" charset="0"/>
            </a:endParaRPr>
          </a:p>
        </p:txBody>
      </p:sp>
      <p:pic>
        <p:nvPicPr>
          <p:cNvPr id="12" name="SK-6-img-9" descr="preencoded.png">
            <a:extLst>
              <a:ext uri="{FF2B5EF4-FFF2-40B4-BE49-F238E27FC236}">
                <a16:creationId xmlns:a16="http://schemas.microsoft.com/office/drawing/2014/main" id="{520340E5-3B5C-31DA-66EA-104CD13D81F9}"/>
              </a:ext>
            </a:extLst>
          </p:cNvPr>
          <p:cNvPicPr>
            <a:picLocks noChangeAspect="1"/>
          </p:cNvPicPr>
          <p:nvPr/>
        </p:nvPicPr>
        <p:blipFill>
          <a:blip r:embed="rId7"/>
          <a:stretch>
            <a:fillRect/>
          </a:stretch>
        </p:blipFill>
        <p:spPr>
          <a:xfrm>
            <a:off x="8912349" y="5256535"/>
            <a:ext cx="2413992" cy="432048"/>
          </a:xfrm>
          <a:prstGeom prst="rect">
            <a:avLst/>
          </a:prstGeom>
        </p:spPr>
      </p:pic>
      <p:pic>
        <p:nvPicPr>
          <p:cNvPr id="13" name="SK-6-img-9" descr="preencoded.png">
            <a:extLst>
              <a:ext uri="{FF2B5EF4-FFF2-40B4-BE49-F238E27FC236}">
                <a16:creationId xmlns:a16="http://schemas.microsoft.com/office/drawing/2014/main" id="{3B0DD428-09E2-F72B-8473-AC4CE1188F42}"/>
              </a:ext>
            </a:extLst>
          </p:cNvPr>
          <p:cNvPicPr>
            <a:picLocks noChangeAspect="1"/>
          </p:cNvPicPr>
          <p:nvPr/>
        </p:nvPicPr>
        <p:blipFill>
          <a:blip r:embed="rId7"/>
          <a:stretch>
            <a:fillRect/>
          </a:stretch>
        </p:blipFill>
        <p:spPr>
          <a:xfrm>
            <a:off x="8918846" y="5735835"/>
            <a:ext cx="2499871" cy="432048"/>
          </a:xfrm>
          <a:prstGeom prst="rect">
            <a:avLst/>
          </a:prstGeom>
        </p:spPr>
      </p:pic>
      <p:sp>
        <p:nvSpPr>
          <p:cNvPr id="19" name="SK-6-text-95">
            <a:extLst>
              <a:ext uri="{FF2B5EF4-FFF2-40B4-BE49-F238E27FC236}">
                <a16:creationId xmlns:a16="http://schemas.microsoft.com/office/drawing/2014/main" id="{BBF6F35B-600C-C56E-8D06-84A923DCED44}"/>
              </a:ext>
            </a:extLst>
          </p:cNvPr>
          <p:cNvSpPr/>
          <p:nvPr/>
        </p:nvSpPr>
        <p:spPr>
          <a:xfrm>
            <a:off x="9061836" y="5383411"/>
            <a:ext cx="4063365" cy="178296"/>
          </a:xfrm>
          <a:prstGeom prst="rect">
            <a:avLst/>
          </a:prstGeom>
          <a:noFill/>
          <a:ln/>
        </p:spPr>
        <p:txBody>
          <a:bodyPr vert="horz" wrap="none" lIns="0" tIns="0" rIns="0" bIns="0" rtlCol="0" anchor="ctr"/>
          <a:lstStyle/>
          <a:p>
            <a:pPr marL="0" indent="0" algn="l">
              <a:buNone/>
            </a:pPr>
            <a:endParaRPr lang="en-US" sz="135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68CA62EC-A5CE-C555-9ECE-2D06E0B7781D}"/>
              </a:ext>
            </a:extLst>
          </p:cNvPr>
          <p:cNvSpPr txBox="1"/>
          <p:nvPr/>
        </p:nvSpPr>
        <p:spPr>
          <a:xfrm>
            <a:off x="8918847" y="5752743"/>
            <a:ext cx="6220097" cy="369332"/>
          </a:xfrm>
          <a:prstGeom prst="rect">
            <a:avLst/>
          </a:prstGeom>
          <a:noFill/>
        </p:spPr>
        <p:txBody>
          <a:bodyPr wrap="square">
            <a:spAutoFit/>
          </a:bodyPr>
          <a:lstStyle/>
          <a:p>
            <a:r>
              <a:rPr lang="en-US" b="1" dirty="0" err="1">
                <a:solidFill>
                  <a:srgbClr val="FFFFFF"/>
                </a:solidFill>
                <a:latin typeface="Times New Roman" panose="02020603050405020304" pitchFamily="18" charset="0"/>
                <a:ea typeface="Roboto" pitchFamily="34" charset="-122"/>
                <a:cs typeface="Times New Roman" panose="02020603050405020304" pitchFamily="18" charset="0"/>
              </a:rPr>
              <a:t>Bureac</a:t>
            </a:r>
            <a:r>
              <a:rPr lang="ro-RO" b="1" dirty="0">
                <a:solidFill>
                  <a:srgbClr val="FFFFFF"/>
                </a:solidFill>
                <a:latin typeface="Times New Roman" panose="02020603050405020304" pitchFamily="18" charset="0"/>
                <a:ea typeface="Roboto" pitchFamily="34" charset="-122"/>
                <a:cs typeface="Times New Roman" panose="02020603050405020304" pitchFamily="18" charset="0"/>
              </a:rPr>
              <a:t>ă</a:t>
            </a:r>
            <a:r>
              <a:rPr lang="en-US" b="1" dirty="0">
                <a:solidFill>
                  <a:srgbClr val="FFFFFF"/>
                </a:solidFill>
                <a:latin typeface="Times New Roman" panose="02020603050405020304" pitchFamily="18" charset="0"/>
                <a:ea typeface="Roboto" pitchFamily="34" charset="-122"/>
                <a:cs typeface="Times New Roman" panose="02020603050405020304" pitchFamily="18" charset="0"/>
              </a:rPr>
              <a:t> Angela-Emilia</a:t>
            </a:r>
            <a:endParaRPr lang="en-US"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4FE703-ED1F-71E8-0D75-26D570CFDFA6}"/>
              </a:ext>
            </a:extLst>
          </p:cNvPr>
          <p:cNvSpPr txBox="1"/>
          <p:nvPr/>
        </p:nvSpPr>
        <p:spPr>
          <a:xfrm>
            <a:off x="8918847" y="5284826"/>
            <a:ext cx="7569200" cy="369332"/>
          </a:xfrm>
          <a:prstGeom prst="rect">
            <a:avLst/>
          </a:prstGeom>
          <a:noFill/>
        </p:spPr>
        <p:txBody>
          <a:bodyPr wrap="square">
            <a:spAutoFit/>
          </a:bodyPr>
          <a:lstStyle/>
          <a:p>
            <a:pPr marL="0" indent="0" algn="l">
              <a:buNone/>
            </a:pPr>
            <a:r>
              <a:rPr lang="en-US" b="1" dirty="0">
                <a:solidFill>
                  <a:srgbClr val="FFFFFF"/>
                </a:solidFill>
                <a:latin typeface="Times New Roman" panose="02020603050405020304" pitchFamily="18" charset="0"/>
                <a:ea typeface="Roboto" pitchFamily="34" charset="-122"/>
                <a:cs typeface="Times New Roman" panose="02020603050405020304" pitchFamily="18" charset="0"/>
              </a:rPr>
              <a:t>Gugu Bianca</a:t>
            </a:r>
            <a:endParaRPr lang="en-US" sz="1800" dirty="0">
              <a:latin typeface="Times New Roman" panose="02020603050405020304" pitchFamily="18" charset="0"/>
              <a:cs typeface="Times New Roman" panose="02020603050405020304" pitchFamily="18" charset="0"/>
            </a:endParaRPr>
          </a:p>
        </p:txBody>
      </p:sp>
      <p:pic>
        <p:nvPicPr>
          <p:cNvPr id="17" name="SK-4-img-2" descr="preencoded.png">
            <a:extLst>
              <a:ext uri="{FF2B5EF4-FFF2-40B4-BE49-F238E27FC236}">
                <a16:creationId xmlns:a16="http://schemas.microsoft.com/office/drawing/2014/main" id="{CF4E72FC-42C2-43A5-9AA3-C16CF7C32BF6}"/>
              </a:ext>
            </a:extLst>
          </p:cNvPr>
          <p:cNvPicPr>
            <a:picLocks noChangeAspect="1"/>
          </p:cNvPicPr>
          <p:nvPr/>
        </p:nvPicPr>
        <p:blipFill>
          <a:blip r:embed="rId8"/>
          <a:stretch>
            <a:fillRect/>
          </a:stretch>
        </p:blipFill>
        <p:spPr>
          <a:xfrm>
            <a:off x="0" y="0"/>
            <a:ext cx="14629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K-2-img-1" descr="preencoded.png"/>
          <p:cNvPicPr>
            <a:picLocks noChangeAspect="1"/>
          </p:cNvPicPr>
          <p:nvPr/>
        </p:nvPicPr>
        <p:blipFill>
          <a:blip r:embed="rId3"/>
          <a:stretch>
            <a:fillRect/>
          </a:stretch>
        </p:blipFill>
        <p:spPr>
          <a:xfrm>
            <a:off x="0" y="0"/>
            <a:ext cx="12192000" cy="6858000"/>
          </a:xfrm>
          <a:prstGeom prst="rect">
            <a:avLst/>
          </a:prstGeom>
        </p:spPr>
      </p:pic>
      <p:pic>
        <p:nvPicPr>
          <p:cNvPr id="4" name="SK-2-img-3" descr="preencoded.png"/>
          <p:cNvPicPr>
            <a:picLocks noChangeAspect="1"/>
          </p:cNvPicPr>
          <p:nvPr/>
        </p:nvPicPr>
        <p:blipFill>
          <a:blip r:embed="rId4"/>
          <a:stretch>
            <a:fillRect/>
          </a:stretch>
        </p:blipFill>
        <p:spPr>
          <a:xfrm>
            <a:off x="0" y="6412111"/>
            <a:ext cx="12192000" cy="445740"/>
          </a:xfrm>
          <a:prstGeom prst="rect">
            <a:avLst/>
          </a:prstGeom>
        </p:spPr>
      </p:pic>
      <p:pic>
        <p:nvPicPr>
          <p:cNvPr id="5" name="SK-2-img-4" descr="preencoded.png"/>
          <p:cNvPicPr>
            <a:picLocks noChangeAspect="1"/>
          </p:cNvPicPr>
          <p:nvPr/>
        </p:nvPicPr>
        <p:blipFill>
          <a:blip r:embed="rId5"/>
          <a:stretch>
            <a:fillRect/>
          </a:stretch>
        </p:blipFill>
        <p:spPr>
          <a:xfrm>
            <a:off x="426690" y="1179463"/>
            <a:ext cx="792361" cy="95994"/>
          </a:xfrm>
          <a:prstGeom prst="rect">
            <a:avLst/>
          </a:prstGeom>
        </p:spPr>
      </p:pic>
      <p:pic>
        <p:nvPicPr>
          <p:cNvPr id="6" name="SK-2-img-5" descr="preencoded.png"/>
          <p:cNvPicPr>
            <a:picLocks noChangeAspect="1"/>
          </p:cNvPicPr>
          <p:nvPr/>
        </p:nvPicPr>
        <p:blipFill>
          <a:blip r:embed="rId6"/>
          <a:stretch>
            <a:fillRect/>
          </a:stretch>
        </p:blipFill>
        <p:spPr>
          <a:xfrm>
            <a:off x="426690" y="1783260"/>
            <a:ext cx="11362879" cy="1817340"/>
          </a:xfrm>
          <a:prstGeom prst="rect">
            <a:avLst/>
          </a:prstGeom>
        </p:spPr>
      </p:pic>
      <p:pic>
        <p:nvPicPr>
          <p:cNvPr id="7" name="SK-2-img-6" descr="preencoded.png"/>
          <p:cNvPicPr>
            <a:picLocks noChangeAspect="1"/>
          </p:cNvPicPr>
          <p:nvPr/>
        </p:nvPicPr>
        <p:blipFill>
          <a:blip r:embed="rId7"/>
          <a:stretch>
            <a:fillRect/>
          </a:stretch>
        </p:blipFill>
        <p:spPr>
          <a:xfrm>
            <a:off x="414486" y="4114800"/>
            <a:ext cx="11058079" cy="1851571"/>
          </a:xfrm>
          <a:prstGeom prst="rect">
            <a:avLst/>
          </a:prstGeom>
        </p:spPr>
      </p:pic>
      <p:pic>
        <p:nvPicPr>
          <p:cNvPr id="9" name="SK-2-img-8" descr="preencoded.png"/>
          <p:cNvPicPr>
            <a:picLocks noChangeAspect="1"/>
          </p:cNvPicPr>
          <p:nvPr/>
        </p:nvPicPr>
        <p:blipFill>
          <a:blip r:embed="rId8"/>
          <a:stretch>
            <a:fillRect/>
          </a:stretch>
        </p:blipFill>
        <p:spPr>
          <a:xfrm>
            <a:off x="6498282" y="4224486"/>
            <a:ext cx="4084290" cy="1556742"/>
          </a:xfrm>
          <a:prstGeom prst="rect">
            <a:avLst/>
          </a:prstGeom>
        </p:spPr>
      </p:pic>
      <p:pic>
        <p:nvPicPr>
          <p:cNvPr id="10" name="SK-2-img-9" descr="preencoded.png"/>
          <p:cNvPicPr>
            <a:picLocks noChangeAspect="1"/>
          </p:cNvPicPr>
          <p:nvPr/>
        </p:nvPicPr>
        <p:blipFill>
          <a:blip r:embed="rId9"/>
          <a:stretch>
            <a:fillRect/>
          </a:stretch>
        </p:blipFill>
        <p:spPr>
          <a:xfrm>
            <a:off x="11265396" y="2064246"/>
            <a:ext cx="182761" cy="678805"/>
          </a:xfrm>
          <a:prstGeom prst="rect">
            <a:avLst/>
          </a:prstGeom>
        </p:spPr>
      </p:pic>
      <p:pic>
        <p:nvPicPr>
          <p:cNvPr id="11" name="SK-2-img-10" descr="preencoded.png"/>
          <p:cNvPicPr>
            <a:picLocks noChangeAspect="1"/>
          </p:cNvPicPr>
          <p:nvPr/>
        </p:nvPicPr>
        <p:blipFill>
          <a:blip r:embed="rId10"/>
          <a:stretch>
            <a:fillRect/>
          </a:stretch>
        </p:blipFill>
        <p:spPr>
          <a:xfrm>
            <a:off x="9192667" y="1995636"/>
            <a:ext cx="1036290" cy="1419523"/>
          </a:xfrm>
          <a:prstGeom prst="rect">
            <a:avLst/>
          </a:prstGeom>
        </p:spPr>
      </p:pic>
      <p:pic>
        <p:nvPicPr>
          <p:cNvPr id="12" name="SK-2-img-11" descr="preencoded.png"/>
          <p:cNvPicPr>
            <a:picLocks noChangeAspect="1"/>
          </p:cNvPicPr>
          <p:nvPr/>
        </p:nvPicPr>
        <p:blipFill>
          <a:blip r:embed="rId11"/>
          <a:stretch>
            <a:fillRect/>
          </a:stretch>
        </p:blipFill>
        <p:spPr>
          <a:xfrm>
            <a:off x="8229600" y="1995636"/>
            <a:ext cx="926455" cy="1419523"/>
          </a:xfrm>
          <a:prstGeom prst="rect">
            <a:avLst/>
          </a:prstGeom>
        </p:spPr>
      </p:pic>
      <p:pic>
        <p:nvPicPr>
          <p:cNvPr id="13" name="SK-2-img-12" descr="preencoded.png"/>
          <p:cNvPicPr>
            <a:picLocks noChangeAspect="1"/>
          </p:cNvPicPr>
          <p:nvPr/>
        </p:nvPicPr>
        <p:blipFill>
          <a:blip r:embed="rId12"/>
          <a:stretch>
            <a:fillRect/>
          </a:stretch>
        </p:blipFill>
        <p:spPr>
          <a:xfrm>
            <a:off x="6510486" y="1995636"/>
            <a:ext cx="1694557" cy="1419523"/>
          </a:xfrm>
          <a:prstGeom prst="rect">
            <a:avLst/>
          </a:prstGeom>
        </p:spPr>
      </p:pic>
      <p:sp>
        <p:nvSpPr>
          <p:cNvPr id="14" name="SK-2-text-13"/>
          <p:cNvSpPr/>
          <p:nvPr/>
        </p:nvSpPr>
        <p:spPr>
          <a:xfrm>
            <a:off x="402282" y="294829"/>
            <a:ext cx="5845492" cy="171450"/>
          </a:xfrm>
          <a:prstGeom prst="rect">
            <a:avLst/>
          </a:prstGeom>
          <a:noFill/>
          <a:ln/>
        </p:spPr>
        <p:txBody>
          <a:bodyPr vert="horz" wrap="none" lIns="0" tIns="0" rIns="0" bIns="0" rtlCol="0" anchor="ctr"/>
          <a:lstStyle/>
          <a:p>
            <a:pPr marL="0" indent="0" algn="l">
              <a:buNone/>
            </a:pPr>
            <a:r>
              <a:rPr lang="en-US" sz="1500" dirty="0">
                <a:solidFill>
                  <a:srgbClr val="888888"/>
                </a:solidFill>
                <a:latin typeface="Times New Roman" panose="02020603050405020304" pitchFamily="18" charset="0"/>
                <a:ea typeface="Roboto" panose="02000000000000000000" pitchFamily="2" charset="0"/>
                <a:cs typeface="Times New Roman" panose="02020603050405020304" pitchFamily="18" charset="0"/>
              </a:rPr>
              <a:t>02 / 11 · Context &amp; </a:t>
            </a:r>
            <a:r>
              <a:rPr lang="en-US" sz="1500" dirty="0" err="1">
                <a:solidFill>
                  <a:srgbClr val="888888"/>
                </a:solidFill>
                <a:latin typeface="Times New Roman" panose="02020603050405020304" pitchFamily="18" charset="0"/>
                <a:ea typeface="Roboto" panose="02000000000000000000" pitchFamily="2" charset="0"/>
                <a:cs typeface="Times New Roman" panose="02020603050405020304" pitchFamily="18" charset="0"/>
              </a:rPr>
              <a:t>ipotez</a:t>
            </a:r>
            <a:r>
              <a:rPr lang="ro-RO" sz="1500" dirty="0">
                <a:solidFill>
                  <a:srgbClr val="888888"/>
                </a:solidFill>
                <a:latin typeface="Times New Roman" panose="02020603050405020304" pitchFamily="18" charset="0"/>
                <a:ea typeface="Roboto" panose="02000000000000000000" pitchFamily="2" charset="0"/>
                <a:cs typeface="Times New Roman" panose="02020603050405020304" pitchFamily="18" charset="0"/>
              </a:rPr>
              <a:t>ă</a:t>
            </a:r>
            <a:endParaRPr lang="en-US" sz="1500" dirty="0">
              <a:latin typeface="Times New Roman" panose="02020603050405020304" pitchFamily="18" charset="0"/>
              <a:ea typeface="Roboto" panose="02000000000000000000" pitchFamily="2" charset="0"/>
              <a:cs typeface="Times New Roman" panose="02020603050405020304" pitchFamily="18" charset="0"/>
            </a:endParaRPr>
          </a:p>
        </p:txBody>
      </p:sp>
      <p:sp>
        <p:nvSpPr>
          <p:cNvPr id="15" name="SK-2-text-14"/>
          <p:cNvSpPr/>
          <p:nvPr/>
        </p:nvSpPr>
        <p:spPr>
          <a:xfrm>
            <a:off x="402282" y="644575"/>
            <a:ext cx="11789718" cy="432048"/>
          </a:xfrm>
          <a:prstGeom prst="rect">
            <a:avLst/>
          </a:prstGeom>
          <a:noFill/>
          <a:ln/>
        </p:spPr>
        <p:txBody>
          <a:bodyPr vert="horz" wrap="none" lIns="0" tIns="0" rIns="0" bIns="0" rtlCol="0" anchor="ctr"/>
          <a:lstStyle/>
          <a:p>
            <a:pPr marL="0" indent="0" algn="l">
              <a:buNone/>
            </a:pPr>
            <a:r>
              <a:rPr lang="en-US" sz="3000" b="1" dirty="0">
                <a:solidFill>
                  <a:srgbClr val="1A365D"/>
                </a:solidFill>
                <a:latin typeface="Times New Roman" panose="02020603050405020304" pitchFamily="18" charset="0"/>
                <a:ea typeface="Montserrat" pitchFamily="34" charset="-122"/>
                <a:cs typeface="Times New Roman" panose="02020603050405020304" pitchFamily="18" charset="0"/>
              </a:rPr>
              <a:t>Contextul </a:t>
            </a:r>
            <a:r>
              <a:rPr lang="en-US" sz="3000" b="1" dirty="0" err="1">
                <a:solidFill>
                  <a:srgbClr val="1A365D"/>
                </a:solidFill>
                <a:latin typeface="Times New Roman" panose="02020603050405020304" pitchFamily="18" charset="0"/>
                <a:ea typeface="Montserrat" pitchFamily="34" charset="-122"/>
                <a:cs typeface="Times New Roman" panose="02020603050405020304" pitchFamily="18" charset="0"/>
              </a:rPr>
              <a:t>și</a:t>
            </a:r>
            <a:r>
              <a:rPr lang="en-US" sz="3000" b="1" dirty="0">
                <a:solidFill>
                  <a:srgbClr val="1A365D"/>
                </a:solidFill>
                <a:latin typeface="Times New Roman" panose="02020603050405020304" pitchFamily="18" charset="0"/>
                <a:ea typeface="Montserrat" pitchFamily="34" charset="-122"/>
                <a:cs typeface="Times New Roman" panose="02020603050405020304" pitchFamily="18" charset="0"/>
              </a:rPr>
              <a:t> </a:t>
            </a:r>
            <a:r>
              <a:rPr lang="en-US" sz="3000" b="1" dirty="0" err="1">
                <a:solidFill>
                  <a:srgbClr val="1A365D"/>
                </a:solidFill>
                <a:latin typeface="Times New Roman" panose="02020603050405020304" pitchFamily="18" charset="0"/>
                <a:ea typeface="Montserrat" pitchFamily="34" charset="-122"/>
                <a:cs typeface="Times New Roman" panose="02020603050405020304" pitchFamily="18" charset="0"/>
              </a:rPr>
              <a:t>ipoteza</a:t>
            </a:r>
            <a:r>
              <a:rPr lang="en-US" sz="3000" b="1" dirty="0">
                <a:solidFill>
                  <a:srgbClr val="1A365D"/>
                </a:solidFill>
                <a:latin typeface="Times New Roman" panose="02020603050405020304" pitchFamily="18" charset="0"/>
                <a:ea typeface="Montserrat" pitchFamily="34" charset="-122"/>
                <a:cs typeface="Times New Roman" panose="02020603050405020304" pitchFamily="18" charset="0"/>
              </a:rPr>
              <a:t> </a:t>
            </a:r>
            <a:r>
              <a:rPr lang="en-US" sz="3000" b="1" dirty="0" err="1">
                <a:solidFill>
                  <a:srgbClr val="1A365D"/>
                </a:solidFill>
                <a:latin typeface="Times New Roman" panose="02020603050405020304" pitchFamily="18" charset="0"/>
                <a:ea typeface="Montserrat" pitchFamily="34" charset="-122"/>
                <a:cs typeface="Times New Roman" panose="02020603050405020304" pitchFamily="18" charset="0"/>
              </a:rPr>
              <a:t>articolului</a:t>
            </a:r>
            <a:endParaRPr lang="en-US" sz="3000" dirty="0">
              <a:latin typeface="Times New Roman" panose="02020603050405020304" pitchFamily="18" charset="0"/>
              <a:cs typeface="Times New Roman" panose="02020603050405020304" pitchFamily="18" charset="0"/>
            </a:endParaRPr>
          </a:p>
        </p:txBody>
      </p:sp>
      <p:sp>
        <p:nvSpPr>
          <p:cNvPr id="16" name="SK-2-text-15"/>
          <p:cNvSpPr/>
          <p:nvPr/>
        </p:nvSpPr>
        <p:spPr>
          <a:xfrm>
            <a:off x="597396" y="1639044"/>
            <a:ext cx="1635443" cy="164455"/>
          </a:xfrm>
          <a:prstGeom prst="rect">
            <a:avLst/>
          </a:prstGeom>
          <a:noFill/>
          <a:ln/>
        </p:spPr>
        <p:txBody>
          <a:bodyPr vert="horz" wrap="none" lIns="0" tIns="0" rIns="0" bIns="0" rtlCol="0" anchor="ctr"/>
          <a:lstStyle/>
          <a:p>
            <a:pPr marL="0" indent="0" algn="l">
              <a:buNone/>
            </a:pPr>
            <a:r>
              <a:rPr lang="en-US" sz="1275" b="1" dirty="0">
                <a:solidFill>
                  <a:srgbClr val="2D6A6A"/>
                </a:solidFill>
                <a:latin typeface="Times New Roman" panose="02020603050405020304" pitchFamily="18" charset="0"/>
                <a:ea typeface="Montserrat" pitchFamily="34" charset="-122"/>
                <a:cs typeface="Times New Roman" panose="02020603050405020304" pitchFamily="18" charset="0"/>
              </a:rPr>
              <a:t>PROBLEMA</a:t>
            </a:r>
            <a:endParaRPr lang="en-US" sz="1275" dirty="0">
              <a:latin typeface="Times New Roman" panose="02020603050405020304" pitchFamily="18" charset="0"/>
              <a:cs typeface="Times New Roman" panose="02020603050405020304" pitchFamily="18" charset="0"/>
            </a:endParaRPr>
          </a:p>
        </p:txBody>
      </p:sp>
      <p:sp>
        <p:nvSpPr>
          <p:cNvPr id="17" name="SK-2-text-16"/>
          <p:cNvSpPr/>
          <p:nvPr/>
        </p:nvSpPr>
        <p:spPr>
          <a:xfrm>
            <a:off x="670471" y="2153394"/>
            <a:ext cx="9549765" cy="233065"/>
          </a:xfrm>
          <a:prstGeom prst="rect">
            <a:avLst/>
          </a:prstGeom>
          <a:noFill/>
          <a:ln/>
        </p:spPr>
        <p:txBody>
          <a:bodyPr vert="horz" wrap="none" lIns="0" tIns="0" rIns="0" bIns="0" rtlCol="0" anchor="ctr"/>
          <a:lstStyle/>
          <a:p>
            <a:pPr marL="0" indent="0" algn="l">
              <a:buNone/>
            </a:pPr>
            <a:r>
              <a:rPr lang="en-US" sz="1350" b="1" dirty="0">
                <a:solidFill>
                  <a:srgbClr val="1A365D"/>
                </a:solidFill>
                <a:latin typeface="Times New Roman" panose="02020603050405020304" pitchFamily="18" charset="0"/>
                <a:ea typeface="Montserrat" pitchFamily="34" charset="-122"/>
                <a:cs typeface="Times New Roman" panose="02020603050405020304" pitchFamily="18" charset="0"/>
              </a:rPr>
              <a:t>Autoencoderele clasice generalizează prea bine</a:t>
            </a:r>
            <a:endParaRPr lang="en-US" sz="1350" dirty="0">
              <a:latin typeface="Times New Roman" panose="02020603050405020304" pitchFamily="18" charset="0"/>
              <a:cs typeface="Times New Roman" panose="02020603050405020304" pitchFamily="18" charset="0"/>
            </a:endParaRPr>
          </a:p>
        </p:txBody>
      </p:sp>
      <p:sp>
        <p:nvSpPr>
          <p:cNvPr id="18" name="SK-2-text-17"/>
          <p:cNvSpPr/>
          <p:nvPr/>
        </p:nvSpPr>
        <p:spPr>
          <a:xfrm>
            <a:off x="670471" y="2633365"/>
            <a:ext cx="10706100" cy="205680"/>
          </a:xfrm>
          <a:prstGeom prst="rect">
            <a:avLst/>
          </a:prstGeom>
          <a:noFill/>
          <a:ln/>
        </p:spPr>
        <p:txBody>
          <a:bodyPr vert="horz" wrap="none" lIns="0" tIns="0" rIns="0" bIns="0" rtlCol="0" anchor="ctr"/>
          <a:lstStyle/>
          <a:p>
            <a:pPr marL="0" indent="0" algn="l">
              <a:buNone/>
            </a:pPr>
            <a:r>
              <a:rPr lang="en-US" sz="1125" dirty="0">
                <a:solidFill>
                  <a:srgbClr val="4A5568"/>
                </a:solidFill>
                <a:latin typeface="Times New Roman" panose="02020603050405020304" pitchFamily="18" charset="0"/>
                <a:ea typeface="Montserrat" pitchFamily="34" charset="-122"/>
                <a:cs typeface="Times New Roman" panose="02020603050405020304" pitchFamily="18" charset="0"/>
              </a:rPr>
              <a:t>Se antrenează pe date normale, dar reconstruiesc și anomaliile</a:t>
            </a:r>
            <a:endParaRPr lang="en-US" sz="1125" dirty="0">
              <a:latin typeface="Times New Roman" panose="02020603050405020304" pitchFamily="18" charset="0"/>
              <a:cs typeface="Times New Roman" panose="02020603050405020304" pitchFamily="18" charset="0"/>
            </a:endParaRPr>
          </a:p>
        </p:txBody>
      </p:sp>
      <p:sp>
        <p:nvSpPr>
          <p:cNvPr id="19" name="SK-2-text-18"/>
          <p:cNvSpPr/>
          <p:nvPr/>
        </p:nvSpPr>
        <p:spPr>
          <a:xfrm>
            <a:off x="670471" y="3065413"/>
            <a:ext cx="11220450" cy="191988"/>
          </a:xfrm>
          <a:prstGeom prst="rect">
            <a:avLst/>
          </a:prstGeom>
          <a:noFill/>
          <a:ln/>
        </p:spPr>
        <p:txBody>
          <a:bodyPr vert="horz" wrap="none" lIns="0" tIns="0" rIns="0" bIns="0" rtlCol="0" anchor="ctr"/>
          <a:lstStyle/>
          <a:p>
            <a:pPr marL="0" indent="0" algn="l">
              <a:buNone/>
            </a:pPr>
            <a:r>
              <a:rPr lang="en-US" sz="1125" dirty="0">
                <a:solidFill>
                  <a:srgbClr val="4A5568"/>
                </a:solidFill>
                <a:latin typeface="Times New Roman" panose="02020603050405020304" pitchFamily="18" charset="0"/>
                <a:ea typeface="Montserrat" pitchFamily="34" charset="-122"/>
                <a:cs typeface="Times New Roman" panose="02020603050405020304" pitchFamily="18" charset="0"/>
              </a:rPr>
              <a:t>Eroarea de reconstrucție rămâne mică → semnal de anomalie pierdut</a:t>
            </a:r>
            <a:endParaRPr lang="en-US" sz="1125" dirty="0">
              <a:latin typeface="Times New Roman" panose="02020603050405020304" pitchFamily="18" charset="0"/>
              <a:cs typeface="Times New Roman" panose="02020603050405020304" pitchFamily="18" charset="0"/>
            </a:endParaRPr>
          </a:p>
        </p:txBody>
      </p:sp>
      <p:sp>
        <p:nvSpPr>
          <p:cNvPr id="20" name="SK-2-text-19"/>
          <p:cNvSpPr/>
          <p:nvPr/>
        </p:nvSpPr>
        <p:spPr>
          <a:xfrm>
            <a:off x="5839867" y="2146548"/>
            <a:ext cx="463153" cy="322213"/>
          </a:xfrm>
          <a:prstGeom prst="rect">
            <a:avLst/>
          </a:prstGeom>
          <a:noFill/>
          <a:ln/>
        </p:spPr>
        <p:txBody>
          <a:bodyPr vert="horz" wrap="none" lIns="0" tIns="0" rIns="0" bIns="0" rtlCol="0" anchor="ctr"/>
          <a:lstStyle/>
          <a:p>
            <a:pPr marL="0" indent="0" algn="r">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Intrare</a:t>
            </a:r>
            <a:endParaRPr lang="en-US" sz="900" dirty="0">
              <a:latin typeface="Times New Roman" panose="02020603050405020304" pitchFamily="18" charset="0"/>
              <a:cs typeface="Times New Roman" panose="02020603050405020304" pitchFamily="18" charset="0"/>
            </a:endParaRPr>
          </a:p>
          <a:p>
            <a:pPr marL="0" indent="0" algn="r">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normală</a:t>
            </a:r>
            <a:endParaRPr lang="en-US" sz="900" dirty="0">
              <a:latin typeface="Times New Roman" panose="02020603050405020304" pitchFamily="18" charset="0"/>
              <a:cs typeface="Times New Roman" panose="02020603050405020304" pitchFamily="18" charset="0"/>
            </a:endParaRPr>
          </a:p>
        </p:txBody>
      </p:sp>
      <p:sp>
        <p:nvSpPr>
          <p:cNvPr id="21" name="SK-2-text-20"/>
          <p:cNvSpPr/>
          <p:nvPr/>
        </p:nvSpPr>
        <p:spPr>
          <a:xfrm>
            <a:off x="5827663" y="2948880"/>
            <a:ext cx="536377" cy="308521"/>
          </a:xfrm>
          <a:prstGeom prst="rect">
            <a:avLst/>
          </a:prstGeom>
          <a:noFill/>
          <a:ln/>
        </p:spPr>
        <p:txBody>
          <a:bodyPr vert="horz" wrap="none" lIns="0" tIns="0" rIns="0" bIns="0" rtlCol="0" anchor="ctr"/>
          <a:lstStyle/>
          <a:p>
            <a:pPr marL="0" indent="0" algn="r">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Intrare</a:t>
            </a:r>
            <a:endParaRPr lang="en-US" sz="900" dirty="0">
              <a:latin typeface="Times New Roman" panose="02020603050405020304" pitchFamily="18" charset="0"/>
              <a:cs typeface="Times New Roman" panose="02020603050405020304" pitchFamily="18" charset="0"/>
            </a:endParaRPr>
          </a:p>
          <a:p>
            <a:pPr marL="0" indent="0" algn="r">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anormală</a:t>
            </a:r>
            <a:endParaRPr lang="en-US" sz="900" dirty="0">
              <a:latin typeface="Times New Roman" panose="02020603050405020304" pitchFamily="18" charset="0"/>
              <a:cs typeface="Times New Roman" panose="02020603050405020304" pitchFamily="18" charset="0"/>
            </a:endParaRPr>
          </a:p>
        </p:txBody>
      </p:sp>
      <p:sp>
        <p:nvSpPr>
          <p:cNvPr id="22" name="SK-2-text-21"/>
          <p:cNvSpPr/>
          <p:nvPr/>
        </p:nvSpPr>
        <p:spPr>
          <a:xfrm>
            <a:off x="10363200" y="2064246"/>
            <a:ext cx="767953" cy="500509"/>
          </a:xfrm>
          <a:prstGeom prst="rect">
            <a:avLst/>
          </a:prstGeom>
          <a:noFill/>
          <a:ln/>
        </p:spPr>
        <p:txBody>
          <a:bodyPr vert="horz" wrap="none" lIns="0" tIns="0" rIns="0" bIns="0" rtlCol="0" anchor="ctr"/>
          <a:lstStyle/>
          <a:p>
            <a:pPr marL="0" indent="0" algn="l">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Eroare de</a:t>
            </a:r>
            <a:endParaRPr lang="en-US" sz="900" dirty="0">
              <a:latin typeface="Times New Roman" panose="02020603050405020304" pitchFamily="18" charset="0"/>
              <a:cs typeface="Times New Roman" panose="02020603050405020304" pitchFamily="18" charset="0"/>
            </a:endParaRPr>
          </a:p>
          <a:p>
            <a:pPr marL="0" indent="0" algn="l">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reconstrucție</a:t>
            </a:r>
            <a:endParaRPr lang="en-US" sz="900" dirty="0">
              <a:latin typeface="Times New Roman" panose="02020603050405020304" pitchFamily="18" charset="0"/>
              <a:cs typeface="Times New Roman" panose="02020603050405020304" pitchFamily="18" charset="0"/>
            </a:endParaRPr>
          </a:p>
          <a:p>
            <a:pPr marL="0" indent="0" algn="l">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mică</a:t>
            </a:r>
            <a:endParaRPr lang="en-US" sz="900" dirty="0">
              <a:latin typeface="Times New Roman" panose="02020603050405020304" pitchFamily="18" charset="0"/>
              <a:cs typeface="Times New Roman" panose="02020603050405020304" pitchFamily="18" charset="0"/>
            </a:endParaRPr>
          </a:p>
        </p:txBody>
      </p:sp>
      <p:sp>
        <p:nvSpPr>
          <p:cNvPr id="23" name="SK-2-text-22"/>
          <p:cNvSpPr/>
          <p:nvPr/>
        </p:nvSpPr>
        <p:spPr>
          <a:xfrm>
            <a:off x="597396" y="3854053"/>
            <a:ext cx="1441133" cy="178296"/>
          </a:xfrm>
          <a:prstGeom prst="rect">
            <a:avLst/>
          </a:prstGeom>
          <a:noFill/>
          <a:ln/>
        </p:spPr>
        <p:txBody>
          <a:bodyPr vert="horz" wrap="none" lIns="0" tIns="0" rIns="0" bIns="0" rtlCol="0" anchor="ctr"/>
          <a:lstStyle/>
          <a:p>
            <a:pPr marL="0" indent="0" algn="l">
              <a:buNone/>
            </a:pPr>
            <a:r>
              <a:rPr lang="en-US" sz="1275" b="1" dirty="0">
                <a:solidFill>
                  <a:srgbClr val="2D6A6A"/>
                </a:solidFill>
                <a:latin typeface="Times New Roman" panose="02020603050405020304" pitchFamily="18" charset="0"/>
                <a:ea typeface="Montserrat" pitchFamily="34" charset="-122"/>
                <a:cs typeface="Times New Roman" panose="02020603050405020304" pitchFamily="18" charset="0"/>
              </a:rPr>
              <a:t>IPOTEZĂ</a:t>
            </a:r>
            <a:endParaRPr lang="en-US" sz="1275" dirty="0">
              <a:latin typeface="Times New Roman" panose="02020603050405020304" pitchFamily="18" charset="0"/>
              <a:cs typeface="Times New Roman" panose="02020603050405020304" pitchFamily="18" charset="0"/>
            </a:endParaRPr>
          </a:p>
        </p:txBody>
      </p:sp>
      <p:sp>
        <p:nvSpPr>
          <p:cNvPr id="24" name="SK-2-text-23"/>
          <p:cNvSpPr/>
          <p:nvPr/>
        </p:nvSpPr>
        <p:spPr>
          <a:xfrm>
            <a:off x="670471" y="4478238"/>
            <a:ext cx="10153650" cy="253603"/>
          </a:xfrm>
          <a:prstGeom prst="rect">
            <a:avLst/>
          </a:prstGeom>
          <a:noFill/>
          <a:ln/>
        </p:spPr>
        <p:txBody>
          <a:bodyPr vert="horz" wrap="none" lIns="0" tIns="0" rIns="0" bIns="0" rtlCol="0" anchor="ctr"/>
          <a:lstStyle/>
          <a:p>
            <a:pPr marL="0" indent="0" algn="l">
              <a:buNone/>
            </a:pPr>
            <a:r>
              <a:rPr lang="en-US" sz="1500" b="1" dirty="0">
                <a:solidFill>
                  <a:srgbClr val="63B3ED"/>
                </a:solidFill>
                <a:latin typeface="Times New Roman" panose="02020603050405020304" pitchFamily="18" charset="0"/>
                <a:ea typeface="Montserrat" pitchFamily="34" charset="-122"/>
                <a:cs typeface="Times New Roman" panose="02020603050405020304" pitchFamily="18" charset="0"/>
              </a:rPr>
              <a:t>Soluția: un modul de memorie al normalității</a:t>
            </a:r>
            <a:endParaRPr lang="en-US" sz="1500" dirty="0">
              <a:latin typeface="Times New Roman" panose="02020603050405020304" pitchFamily="18" charset="0"/>
              <a:cs typeface="Times New Roman" panose="02020603050405020304" pitchFamily="18" charset="0"/>
            </a:endParaRPr>
          </a:p>
        </p:txBody>
      </p:sp>
      <p:sp>
        <p:nvSpPr>
          <p:cNvPr id="25" name="SK-2-text-24"/>
          <p:cNvSpPr/>
          <p:nvPr/>
        </p:nvSpPr>
        <p:spPr>
          <a:xfrm>
            <a:off x="670471" y="4958209"/>
            <a:ext cx="11521529" cy="205680"/>
          </a:xfrm>
          <a:prstGeom prst="rect">
            <a:avLst/>
          </a:prstGeom>
          <a:noFill/>
          <a:ln/>
        </p:spPr>
        <p:txBody>
          <a:bodyPr vert="horz" wrap="none" lIns="0" tIns="0" rIns="0" bIns="0" rtlCol="0" anchor="ctr"/>
          <a:lstStyle/>
          <a:p>
            <a:pPr marL="0" indent="0" algn="l">
              <a:buNone/>
            </a:pPr>
            <a:r>
              <a:rPr lang="en-US" sz="1200" b="1" dirty="0">
                <a:solidFill>
                  <a:srgbClr val="FFFFFF"/>
                </a:solidFill>
                <a:latin typeface="Times New Roman" panose="02020603050405020304" pitchFamily="18" charset="0"/>
                <a:ea typeface="Montserrat" pitchFamily="34" charset="-122"/>
                <a:cs typeface="Times New Roman" panose="02020603050405020304" pitchFamily="18" charset="0"/>
              </a:rPr>
              <a:t>Intrări normale → memoria returnează pattern-ul corect → eroare mică ✓</a:t>
            </a:r>
            <a:endParaRPr lang="en-US" sz="1200" dirty="0">
              <a:latin typeface="Times New Roman" panose="02020603050405020304" pitchFamily="18" charset="0"/>
              <a:cs typeface="Times New Roman" panose="02020603050405020304" pitchFamily="18" charset="0"/>
            </a:endParaRPr>
          </a:p>
        </p:txBody>
      </p:sp>
      <p:sp>
        <p:nvSpPr>
          <p:cNvPr id="26" name="SK-2-text-25"/>
          <p:cNvSpPr/>
          <p:nvPr/>
        </p:nvSpPr>
        <p:spPr>
          <a:xfrm>
            <a:off x="670471" y="5390257"/>
            <a:ext cx="11521529" cy="198834"/>
          </a:xfrm>
          <a:prstGeom prst="rect">
            <a:avLst/>
          </a:prstGeom>
          <a:noFill/>
          <a:ln/>
        </p:spPr>
        <p:txBody>
          <a:bodyPr vert="horz" wrap="none" lIns="0" tIns="0" rIns="0" bIns="0" rtlCol="0" anchor="ctr"/>
          <a:lstStyle/>
          <a:p>
            <a:pPr marL="0" indent="0" algn="l">
              <a:buNone/>
            </a:pPr>
            <a:r>
              <a:rPr lang="en-US" sz="1200" b="1" dirty="0">
                <a:solidFill>
                  <a:srgbClr val="FFFFFF"/>
                </a:solidFill>
                <a:latin typeface="Times New Roman" panose="02020603050405020304" pitchFamily="18" charset="0"/>
                <a:ea typeface="Montserrat" pitchFamily="34" charset="-122"/>
                <a:cs typeface="Times New Roman" panose="02020603050405020304" pitchFamily="18" charset="0"/>
              </a:rPr>
              <a:t>Intrări anormale → proiecție pe cel mai apropiat normal → eroare mare ✕</a:t>
            </a:r>
            <a:endParaRPr lang="en-US" sz="1200" dirty="0">
              <a:latin typeface="Times New Roman" panose="02020603050405020304" pitchFamily="18" charset="0"/>
              <a:cs typeface="Times New Roman" panose="02020603050405020304" pitchFamily="18" charset="0"/>
            </a:endParaRPr>
          </a:p>
        </p:txBody>
      </p:sp>
      <p:sp>
        <p:nvSpPr>
          <p:cNvPr id="27" name="SK-2-text-26"/>
          <p:cNvSpPr/>
          <p:nvPr/>
        </p:nvSpPr>
        <p:spPr>
          <a:xfrm>
            <a:off x="2883098" y="6460182"/>
            <a:ext cx="6364486" cy="219373"/>
          </a:xfrm>
          <a:prstGeom prst="rect">
            <a:avLst/>
          </a:prstGeom>
          <a:noFill/>
          <a:ln/>
        </p:spPr>
        <p:txBody>
          <a:bodyPr vert="horz" wrap="none" lIns="0" tIns="0" rIns="0" bIns="0" rtlCol="0" anchor="ctr"/>
          <a:lstStyle/>
          <a:p>
            <a:pPr marL="0" indent="0" algn="ctr">
              <a:buNone/>
            </a:pPr>
            <a:r>
              <a:rPr lang="en-US" sz="1350" b="1" dirty="0">
                <a:solidFill>
                  <a:srgbClr val="FFFFFF"/>
                </a:solidFill>
                <a:latin typeface="Times New Roman" panose="02020603050405020304" pitchFamily="18" charset="0"/>
                <a:ea typeface="Montserrat" pitchFamily="34" charset="-122"/>
                <a:cs typeface="Times New Roman" panose="02020603050405020304" pitchFamily="18" charset="0"/>
              </a:rPr>
              <a:t>Memoria acționează ca un dicționar al normalității — înghețat la test-time.</a:t>
            </a:r>
            <a:endParaRPr lang="en-US" sz="1350" dirty="0">
              <a:latin typeface="Times New Roman" panose="02020603050405020304" pitchFamily="18" charset="0"/>
              <a:cs typeface="Times New Roman" panose="02020603050405020304" pitchFamily="18" charset="0"/>
            </a:endParaRPr>
          </a:p>
        </p:txBody>
      </p:sp>
      <p:sp>
        <p:nvSpPr>
          <p:cNvPr id="28" name="SK-2-text-21">
            <a:extLst>
              <a:ext uri="{FF2B5EF4-FFF2-40B4-BE49-F238E27FC236}">
                <a16:creationId xmlns:a16="http://schemas.microsoft.com/office/drawing/2014/main" id="{335C52EE-04AA-C31C-9535-2EFA84467841}"/>
              </a:ext>
            </a:extLst>
          </p:cNvPr>
          <p:cNvSpPr/>
          <p:nvPr/>
        </p:nvSpPr>
        <p:spPr>
          <a:xfrm>
            <a:off x="10363200" y="2852587"/>
            <a:ext cx="767953" cy="500509"/>
          </a:xfrm>
          <a:prstGeom prst="rect">
            <a:avLst/>
          </a:prstGeom>
          <a:noFill/>
          <a:ln/>
        </p:spPr>
        <p:txBody>
          <a:bodyPr vert="horz" wrap="none" lIns="0" tIns="0" rIns="0" bIns="0" rtlCol="0" anchor="ctr"/>
          <a:lstStyle/>
          <a:p>
            <a:pPr marL="0" indent="0" algn="l">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Eroare de</a:t>
            </a:r>
            <a:endParaRPr lang="en-US" sz="900" dirty="0">
              <a:latin typeface="Times New Roman" panose="02020603050405020304" pitchFamily="18" charset="0"/>
              <a:cs typeface="Times New Roman" panose="02020603050405020304" pitchFamily="18" charset="0"/>
            </a:endParaRPr>
          </a:p>
          <a:p>
            <a:pPr marL="0" indent="0" algn="l">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reconstrucție</a:t>
            </a:r>
            <a:endParaRPr lang="en-US" sz="900" dirty="0">
              <a:latin typeface="Times New Roman" panose="02020603050405020304" pitchFamily="18" charset="0"/>
              <a:cs typeface="Times New Roman" panose="02020603050405020304" pitchFamily="18" charset="0"/>
            </a:endParaRPr>
          </a:p>
          <a:p>
            <a:pPr marL="0" indent="0" algn="l">
              <a:lnSpc>
                <a:spcPts val="1080"/>
              </a:lnSpc>
              <a:buNone/>
            </a:pPr>
            <a:r>
              <a:rPr lang="en-US" sz="900" dirty="0">
                <a:solidFill>
                  <a:srgbClr val="4A5568"/>
                </a:solidFill>
                <a:latin typeface="Times New Roman" panose="02020603050405020304" pitchFamily="18" charset="0"/>
                <a:ea typeface="Montserrat" pitchFamily="34" charset="-122"/>
                <a:cs typeface="Times New Roman" panose="02020603050405020304" pitchFamily="18" charset="0"/>
              </a:rPr>
              <a:t>mică</a:t>
            </a:r>
            <a:endParaRPr lang="en-US" sz="900" dirty="0">
              <a:latin typeface="Times New Roman" panose="02020603050405020304" pitchFamily="18" charset="0"/>
              <a:cs typeface="Times New Roman" panose="02020603050405020304" pitchFamily="18" charset="0"/>
            </a:endParaRPr>
          </a:p>
        </p:txBody>
      </p:sp>
      <p:pic>
        <p:nvPicPr>
          <p:cNvPr id="29" name="SK-2-img-9" descr="preencoded.png">
            <a:extLst>
              <a:ext uri="{FF2B5EF4-FFF2-40B4-BE49-F238E27FC236}">
                <a16:creationId xmlns:a16="http://schemas.microsoft.com/office/drawing/2014/main" id="{89968EEF-1396-EAC1-5692-0C89DD4002AD}"/>
              </a:ext>
            </a:extLst>
          </p:cNvPr>
          <p:cNvPicPr>
            <a:picLocks noChangeAspect="1"/>
          </p:cNvPicPr>
          <p:nvPr/>
        </p:nvPicPr>
        <p:blipFill>
          <a:blip r:embed="rId9"/>
          <a:stretch>
            <a:fillRect/>
          </a:stretch>
        </p:blipFill>
        <p:spPr>
          <a:xfrm>
            <a:off x="11265396" y="2811661"/>
            <a:ext cx="182761" cy="678805"/>
          </a:xfrm>
          <a:prstGeom prst="rect">
            <a:avLst/>
          </a:prstGeom>
        </p:spPr>
      </p:pic>
      <p:pic>
        <p:nvPicPr>
          <p:cNvPr id="31" name="Picture 30">
            <a:extLst>
              <a:ext uri="{FF2B5EF4-FFF2-40B4-BE49-F238E27FC236}">
                <a16:creationId xmlns:a16="http://schemas.microsoft.com/office/drawing/2014/main" id="{4DE95CF9-3541-44C1-DD2D-7A4118D58C90}"/>
              </a:ext>
            </a:extLst>
          </p:cNvPr>
          <p:cNvPicPr>
            <a:picLocks noChangeAspect="1"/>
          </p:cNvPicPr>
          <p:nvPr/>
        </p:nvPicPr>
        <p:blipFill>
          <a:blip r:embed="rId13"/>
          <a:stretch>
            <a:fillRect/>
          </a:stretch>
        </p:blipFill>
        <p:spPr>
          <a:xfrm>
            <a:off x="9806378" y="2854595"/>
            <a:ext cx="308782" cy="483311"/>
          </a:xfrm>
          <a:prstGeom prst="rect">
            <a:avLst/>
          </a:prstGeom>
        </p:spPr>
      </p:pic>
      <p:pic>
        <p:nvPicPr>
          <p:cNvPr id="30" name="SK-4-img-2" descr="preencoded.png">
            <a:extLst>
              <a:ext uri="{FF2B5EF4-FFF2-40B4-BE49-F238E27FC236}">
                <a16:creationId xmlns:a16="http://schemas.microsoft.com/office/drawing/2014/main" id="{F59826E1-7FBC-4F94-BA09-02CDC0E67A55}"/>
              </a:ext>
            </a:extLst>
          </p:cNvPr>
          <p:cNvPicPr>
            <a:picLocks noChangeAspect="1"/>
          </p:cNvPicPr>
          <p:nvPr/>
        </p:nvPicPr>
        <p:blipFill>
          <a:blip r:embed="rId14"/>
          <a:stretch>
            <a:fillRect/>
          </a:stretch>
        </p:blipFill>
        <p:spPr>
          <a:xfrm>
            <a:off x="0" y="0"/>
            <a:ext cx="146298" cy="6858000"/>
          </a:xfrm>
          <a:prstGeom prst="rect">
            <a:avLst/>
          </a:prstGeom>
        </p:spPr>
      </p:pic>
      <p:sp>
        <p:nvSpPr>
          <p:cNvPr id="41" name="Shape 13">
            <a:extLst>
              <a:ext uri="{FF2B5EF4-FFF2-40B4-BE49-F238E27FC236}">
                <a16:creationId xmlns:a16="http://schemas.microsoft.com/office/drawing/2014/main" id="{0BE839FD-7125-46CA-9C4F-A4A8AACF5F97}"/>
              </a:ext>
            </a:extLst>
          </p:cNvPr>
          <p:cNvSpPr/>
          <p:nvPr/>
        </p:nvSpPr>
        <p:spPr>
          <a:xfrm>
            <a:off x="9662149" y="5477249"/>
            <a:ext cx="902196" cy="399973"/>
          </a:xfrm>
          <a:prstGeom prst="roundRect">
            <a:avLst>
              <a:gd name="adj" fmla="val 7273"/>
            </a:avLst>
          </a:prstGeom>
          <a:solidFill>
            <a:srgbClr val="DCFCE7"/>
          </a:solidFill>
          <a:ln w="12700">
            <a:solidFill>
              <a:srgbClr val="DCFCE7">
                <a:alpha val="0"/>
              </a:srgbClr>
            </a:solidFill>
            <a:prstDash val="solid"/>
          </a:ln>
        </p:spPr>
        <p:txBody>
          <a:bodyPr/>
          <a:lstStyle/>
          <a:p>
            <a:endParaRPr lang="en-US"/>
          </a:p>
        </p:txBody>
      </p:sp>
      <p:sp>
        <p:nvSpPr>
          <p:cNvPr id="42" name="Text 14">
            <a:extLst>
              <a:ext uri="{FF2B5EF4-FFF2-40B4-BE49-F238E27FC236}">
                <a16:creationId xmlns:a16="http://schemas.microsoft.com/office/drawing/2014/main" id="{B57B544E-FC01-43E5-AF1D-EE3206FB188D}"/>
              </a:ext>
            </a:extLst>
          </p:cNvPr>
          <p:cNvSpPr/>
          <p:nvPr/>
        </p:nvSpPr>
        <p:spPr>
          <a:xfrm>
            <a:off x="9712725" y="5489674"/>
            <a:ext cx="819710" cy="341795"/>
          </a:xfrm>
          <a:prstGeom prst="rect">
            <a:avLst/>
          </a:prstGeom>
          <a:noFill/>
          <a:ln/>
        </p:spPr>
        <p:txBody>
          <a:bodyPr wrap="square" lIns="0" tIns="0" rIns="0" bIns="0" rtlCol="0" anchor="ctr">
            <a:normAutofit/>
          </a:bodyPr>
          <a:lstStyle/>
          <a:p>
            <a:pPr marL="0" indent="0" algn="ctr">
              <a:buNone/>
            </a:pPr>
            <a:r>
              <a:rPr lang="en-US" sz="1050" b="1" dirty="0" err="1">
                <a:solidFill>
                  <a:srgbClr val="22C55E"/>
                </a:solidFill>
                <a:latin typeface="Times New Roman" panose="02020603050405020304" pitchFamily="18" charset="0"/>
                <a:ea typeface="Aptos" pitchFamily="34" charset="-122"/>
                <a:cs typeface="Times New Roman" panose="02020603050405020304" pitchFamily="18" charset="0"/>
              </a:rPr>
              <a:t>reconstrucție</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b="1" dirty="0" err="1">
                <a:solidFill>
                  <a:srgbClr val="22C55E"/>
                </a:solidFill>
                <a:latin typeface="Times New Roman" panose="02020603050405020304" pitchFamily="18" charset="0"/>
                <a:ea typeface="Aptos" pitchFamily="34" charset="-122"/>
                <a:cs typeface="Times New Roman" panose="02020603050405020304" pitchFamily="18" charset="0"/>
              </a:rPr>
              <a:t>normalizată</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K-3-img-1" descr="preencoded.png"/>
          <p:cNvPicPr>
            <a:picLocks noChangeAspect="1"/>
          </p:cNvPicPr>
          <p:nvPr/>
        </p:nvPicPr>
        <p:blipFill>
          <a:blip r:embed="rId3"/>
          <a:stretch>
            <a:fillRect/>
          </a:stretch>
        </p:blipFill>
        <p:spPr>
          <a:xfrm>
            <a:off x="-14068" y="0"/>
            <a:ext cx="12192000" cy="6858000"/>
          </a:xfrm>
          <a:prstGeom prst="rect">
            <a:avLst/>
          </a:prstGeom>
        </p:spPr>
      </p:pic>
      <p:pic>
        <p:nvPicPr>
          <p:cNvPr id="5" name="SK-3-img-4" descr="preencoded.png"/>
          <p:cNvPicPr>
            <a:picLocks noChangeAspect="1"/>
          </p:cNvPicPr>
          <p:nvPr/>
        </p:nvPicPr>
        <p:blipFill>
          <a:blip r:embed="rId4"/>
          <a:stretch>
            <a:fillRect/>
          </a:stretch>
        </p:blipFill>
        <p:spPr>
          <a:xfrm>
            <a:off x="10424071" y="137071"/>
            <a:ext cx="1524000" cy="1131540"/>
          </a:xfrm>
          <a:prstGeom prst="rect">
            <a:avLst/>
          </a:prstGeom>
        </p:spPr>
      </p:pic>
      <p:pic>
        <p:nvPicPr>
          <p:cNvPr id="6" name="SK-3-img-5" descr="preencoded.png"/>
          <p:cNvPicPr>
            <a:picLocks noChangeAspect="1"/>
          </p:cNvPicPr>
          <p:nvPr/>
        </p:nvPicPr>
        <p:blipFill>
          <a:blip r:embed="rId5"/>
          <a:stretch>
            <a:fillRect/>
          </a:stretch>
        </p:blipFill>
        <p:spPr>
          <a:xfrm>
            <a:off x="621655" y="1344067"/>
            <a:ext cx="10850761" cy="3422005"/>
          </a:xfrm>
          <a:prstGeom prst="rect">
            <a:avLst/>
          </a:prstGeom>
        </p:spPr>
      </p:pic>
      <p:pic>
        <p:nvPicPr>
          <p:cNvPr id="7" name="SK-3-img-6" descr="preencoded.png"/>
          <p:cNvPicPr>
            <a:picLocks noChangeAspect="1"/>
          </p:cNvPicPr>
          <p:nvPr/>
        </p:nvPicPr>
        <p:blipFill>
          <a:blip r:embed="rId6"/>
          <a:stretch>
            <a:fillRect/>
          </a:stretch>
        </p:blipFill>
        <p:spPr>
          <a:xfrm>
            <a:off x="707082" y="4951363"/>
            <a:ext cx="3413671" cy="68461"/>
          </a:xfrm>
          <a:prstGeom prst="rect">
            <a:avLst/>
          </a:prstGeom>
        </p:spPr>
      </p:pic>
      <p:pic>
        <p:nvPicPr>
          <p:cNvPr id="8" name="SK-3-img-7" descr="preencoded.png"/>
          <p:cNvPicPr>
            <a:picLocks noChangeAspect="1"/>
          </p:cNvPicPr>
          <p:nvPr/>
        </p:nvPicPr>
        <p:blipFill>
          <a:blip r:embed="rId7"/>
          <a:stretch>
            <a:fillRect/>
          </a:stretch>
        </p:blipFill>
        <p:spPr>
          <a:xfrm>
            <a:off x="707082" y="5019973"/>
            <a:ext cx="3413671" cy="1440061"/>
          </a:xfrm>
          <a:prstGeom prst="rect">
            <a:avLst/>
          </a:prstGeom>
        </p:spPr>
      </p:pic>
      <p:pic>
        <p:nvPicPr>
          <p:cNvPr id="9" name="SK-3-img-8" descr="preencoded.png"/>
          <p:cNvPicPr>
            <a:picLocks noChangeAspect="1"/>
          </p:cNvPicPr>
          <p:nvPr/>
        </p:nvPicPr>
        <p:blipFill>
          <a:blip r:embed="rId8"/>
          <a:stretch>
            <a:fillRect/>
          </a:stretch>
        </p:blipFill>
        <p:spPr>
          <a:xfrm>
            <a:off x="4303663" y="4951363"/>
            <a:ext cx="3425875" cy="68461"/>
          </a:xfrm>
          <a:prstGeom prst="rect">
            <a:avLst/>
          </a:prstGeom>
        </p:spPr>
      </p:pic>
      <p:pic>
        <p:nvPicPr>
          <p:cNvPr id="10" name="SK-3-img-9" descr="preencoded.png"/>
          <p:cNvPicPr>
            <a:picLocks noChangeAspect="1"/>
          </p:cNvPicPr>
          <p:nvPr/>
        </p:nvPicPr>
        <p:blipFill>
          <a:blip r:embed="rId9"/>
          <a:stretch>
            <a:fillRect/>
          </a:stretch>
        </p:blipFill>
        <p:spPr>
          <a:xfrm>
            <a:off x="4303663" y="5019973"/>
            <a:ext cx="3425875" cy="1440061"/>
          </a:xfrm>
          <a:prstGeom prst="rect">
            <a:avLst/>
          </a:prstGeom>
        </p:spPr>
      </p:pic>
      <p:pic>
        <p:nvPicPr>
          <p:cNvPr id="11" name="SK-3-img-10" descr="preencoded.png"/>
          <p:cNvPicPr>
            <a:picLocks noChangeAspect="1"/>
          </p:cNvPicPr>
          <p:nvPr/>
        </p:nvPicPr>
        <p:blipFill>
          <a:blip r:embed="rId6"/>
          <a:stretch>
            <a:fillRect/>
          </a:stretch>
        </p:blipFill>
        <p:spPr>
          <a:xfrm>
            <a:off x="7924800" y="4951363"/>
            <a:ext cx="3413671" cy="68461"/>
          </a:xfrm>
          <a:prstGeom prst="rect">
            <a:avLst/>
          </a:prstGeom>
        </p:spPr>
      </p:pic>
      <p:pic>
        <p:nvPicPr>
          <p:cNvPr id="12" name="SK-3-img-11" descr="preencoded.png"/>
          <p:cNvPicPr>
            <a:picLocks noChangeAspect="1"/>
          </p:cNvPicPr>
          <p:nvPr/>
        </p:nvPicPr>
        <p:blipFill>
          <a:blip r:embed="rId10"/>
          <a:stretch>
            <a:fillRect/>
          </a:stretch>
        </p:blipFill>
        <p:spPr>
          <a:xfrm>
            <a:off x="7924800" y="5019973"/>
            <a:ext cx="3413671" cy="1440061"/>
          </a:xfrm>
          <a:prstGeom prst="rect">
            <a:avLst/>
          </a:prstGeom>
        </p:spPr>
      </p:pic>
      <p:pic>
        <p:nvPicPr>
          <p:cNvPr id="13" name="SK-3-img-12" descr="preencoded.png"/>
          <p:cNvPicPr>
            <a:picLocks noChangeAspect="1"/>
          </p:cNvPicPr>
          <p:nvPr/>
        </p:nvPicPr>
        <p:blipFill>
          <a:blip r:embed="rId11"/>
          <a:stretch>
            <a:fillRect/>
          </a:stretch>
        </p:blipFill>
        <p:spPr>
          <a:xfrm>
            <a:off x="8156377" y="5280571"/>
            <a:ext cx="719286" cy="932557"/>
          </a:xfrm>
          <a:prstGeom prst="rect">
            <a:avLst/>
          </a:prstGeom>
        </p:spPr>
      </p:pic>
      <p:pic>
        <p:nvPicPr>
          <p:cNvPr id="14" name="SK-3-img-13" descr="preencoded.png"/>
          <p:cNvPicPr>
            <a:picLocks noChangeAspect="1"/>
          </p:cNvPicPr>
          <p:nvPr/>
        </p:nvPicPr>
        <p:blipFill>
          <a:blip r:embed="rId12"/>
          <a:stretch>
            <a:fillRect/>
          </a:stretch>
        </p:blipFill>
        <p:spPr>
          <a:xfrm>
            <a:off x="4498777" y="5417790"/>
            <a:ext cx="633859" cy="644575"/>
          </a:xfrm>
          <a:prstGeom prst="rect">
            <a:avLst/>
          </a:prstGeom>
        </p:spPr>
      </p:pic>
      <p:pic>
        <p:nvPicPr>
          <p:cNvPr id="15" name="SK-3-img-14" descr="preencoded.png"/>
          <p:cNvPicPr>
            <a:picLocks noChangeAspect="1"/>
          </p:cNvPicPr>
          <p:nvPr/>
        </p:nvPicPr>
        <p:blipFill>
          <a:blip r:embed="rId13"/>
          <a:stretch>
            <a:fillRect/>
          </a:stretch>
        </p:blipFill>
        <p:spPr>
          <a:xfrm>
            <a:off x="938659" y="5273725"/>
            <a:ext cx="731490" cy="960090"/>
          </a:xfrm>
          <a:prstGeom prst="rect">
            <a:avLst/>
          </a:prstGeom>
        </p:spPr>
      </p:pic>
      <p:pic>
        <p:nvPicPr>
          <p:cNvPr id="16" name="SK-3-img-15" descr="preencoded.png"/>
          <p:cNvPicPr>
            <a:picLocks noChangeAspect="1"/>
          </p:cNvPicPr>
          <p:nvPr/>
        </p:nvPicPr>
        <p:blipFill>
          <a:blip r:embed="rId14"/>
          <a:stretch>
            <a:fillRect/>
          </a:stretch>
        </p:blipFill>
        <p:spPr>
          <a:xfrm>
            <a:off x="1048494" y="1316682"/>
            <a:ext cx="10143679" cy="3298627"/>
          </a:xfrm>
          <a:prstGeom prst="rect">
            <a:avLst/>
          </a:prstGeom>
        </p:spPr>
      </p:pic>
      <p:sp>
        <p:nvSpPr>
          <p:cNvPr id="17" name="SK-3-text-16"/>
          <p:cNvSpPr/>
          <p:nvPr/>
        </p:nvSpPr>
        <p:spPr>
          <a:xfrm>
            <a:off x="536377" y="322213"/>
            <a:ext cx="2914650" cy="205680"/>
          </a:xfrm>
          <a:prstGeom prst="rect">
            <a:avLst/>
          </a:prstGeom>
          <a:noFill/>
          <a:ln/>
        </p:spPr>
        <p:txBody>
          <a:bodyPr vert="horz" wrap="none" lIns="0" tIns="0" rIns="0" bIns="0" rtlCol="0" anchor="ctr"/>
          <a:lstStyle/>
          <a:p>
            <a:pPr marL="0" indent="0" algn="l">
              <a:buNone/>
            </a:pPr>
            <a:r>
              <a:rPr lang="en-US" sz="1500" dirty="0">
                <a:solidFill>
                  <a:srgbClr val="999999"/>
                </a:solidFill>
                <a:latin typeface="Times New Roman" panose="02020603050405020304" pitchFamily="18" charset="0"/>
                <a:ea typeface="Roboto" pitchFamily="34" charset="-122"/>
                <a:cs typeface="Times New Roman" panose="02020603050405020304" pitchFamily="18" charset="0"/>
              </a:rPr>
              <a:t>03 / 11 · Metodă</a:t>
            </a:r>
            <a:endParaRPr lang="en-US" sz="1500" dirty="0">
              <a:latin typeface="Times New Roman" panose="02020603050405020304" pitchFamily="18" charset="0"/>
              <a:cs typeface="Times New Roman" panose="02020603050405020304" pitchFamily="18" charset="0"/>
            </a:endParaRPr>
          </a:p>
        </p:txBody>
      </p:sp>
      <p:sp>
        <p:nvSpPr>
          <p:cNvPr id="18" name="SK-3-text-17"/>
          <p:cNvSpPr/>
          <p:nvPr/>
        </p:nvSpPr>
        <p:spPr>
          <a:xfrm>
            <a:off x="511969" y="603498"/>
            <a:ext cx="11368088" cy="363438"/>
          </a:xfrm>
          <a:prstGeom prst="rect">
            <a:avLst/>
          </a:prstGeom>
          <a:noFill/>
          <a:ln/>
        </p:spPr>
        <p:txBody>
          <a:bodyPr vert="horz" wrap="none" lIns="0" tIns="0" rIns="0" bIns="0" rtlCol="0" anchor="ctr"/>
          <a:lstStyle/>
          <a:p>
            <a:pPr marL="0" indent="0" algn="l">
              <a:buNone/>
            </a:pPr>
            <a:r>
              <a:rPr lang="en-US" sz="3000" b="1" dirty="0" err="1">
                <a:solidFill>
                  <a:srgbClr val="002060"/>
                </a:solidFill>
                <a:latin typeface="Times New Roman" panose="02020603050405020304" pitchFamily="18" charset="0"/>
                <a:ea typeface="Roboto" pitchFamily="34" charset="-122"/>
                <a:cs typeface="Times New Roman" panose="02020603050405020304" pitchFamily="18" charset="0"/>
              </a:rPr>
              <a:t>Arhitectura</a:t>
            </a:r>
            <a:r>
              <a:rPr lang="en-US" sz="3000" b="1" dirty="0">
                <a:solidFill>
                  <a:srgbClr val="002060"/>
                </a:solidFill>
                <a:latin typeface="Times New Roman" panose="02020603050405020304" pitchFamily="18" charset="0"/>
                <a:ea typeface="Roboto" pitchFamily="34" charset="-122"/>
                <a:cs typeface="Times New Roman" panose="02020603050405020304" pitchFamily="18" charset="0"/>
              </a:rPr>
              <a:t> </a:t>
            </a:r>
            <a:r>
              <a:rPr lang="en-US" sz="3000" b="1" dirty="0" err="1">
                <a:solidFill>
                  <a:srgbClr val="002060"/>
                </a:solidFill>
                <a:latin typeface="Times New Roman" panose="02020603050405020304" pitchFamily="18" charset="0"/>
                <a:ea typeface="Roboto" pitchFamily="34" charset="-122"/>
                <a:cs typeface="Times New Roman" panose="02020603050405020304" pitchFamily="18" charset="0"/>
              </a:rPr>
              <a:t>sistemului</a:t>
            </a:r>
            <a:r>
              <a:rPr lang="en-US" sz="3000" b="1" dirty="0">
                <a:solidFill>
                  <a:srgbClr val="002060"/>
                </a:solidFill>
                <a:latin typeface="Times New Roman" panose="02020603050405020304" pitchFamily="18" charset="0"/>
                <a:ea typeface="Roboto" pitchFamily="34" charset="-122"/>
                <a:cs typeface="Times New Roman" panose="02020603050405020304" pitchFamily="18" charset="0"/>
              </a:rPr>
              <a:t> </a:t>
            </a:r>
            <a:r>
              <a:rPr lang="en-US" sz="3000" b="1" dirty="0" err="1">
                <a:solidFill>
                  <a:srgbClr val="002060"/>
                </a:solidFill>
                <a:latin typeface="Times New Roman" panose="02020603050405020304" pitchFamily="18" charset="0"/>
                <a:ea typeface="Roboto" pitchFamily="34" charset="-122"/>
                <a:cs typeface="Times New Roman" panose="02020603050405020304" pitchFamily="18" charset="0"/>
              </a:rPr>
              <a:t>MemAE</a:t>
            </a:r>
            <a:endParaRPr lang="en-US" sz="3000" dirty="0">
              <a:latin typeface="Times New Roman" panose="02020603050405020304" pitchFamily="18" charset="0"/>
              <a:cs typeface="Times New Roman" panose="02020603050405020304" pitchFamily="18" charset="0"/>
            </a:endParaRPr>
          </a:p>
        </p:txBody>
      </p:sp>
      <p:sp>
        <p:nvSpPr>
          <p:cNvPr id="19" name="SK-3-text-18"/>
          <p:cNvSpPr/>
          <p:nvPr/>
        </p:nvSpPr>
        <p:spPr>
          <a:xfrm>
            <a:off x="1901875" y="5314950"/>
            <a:ext cx="3373755" cy="239911"/>
          </a:xfrm>
          <a:prstGeom prst="rect">
            <a:avLst/>
          </a:prstGeom>
          <a:noFill/>
          <a:ln/>
        </p:spPr>
        <p:txBody>
          <a:bodyPr vert="horz" wrap="none" lIns="0" tIns="0" rIns="0" bIns="0" rtlCol="0" anchor="ctr"/>
          <a:lstStyle/>
          <a:p>
            <a:pPr marL="0" indent="0" algn="l">
              <a:buNone/>
            </a:pPr>
            <a:r>
              <a:rPr lang="en-US" sz="1650" b="1" dirty="0">
                <a:solidFill>
                  <a:srgbClr val="002060"/>
                </a:solidFill>
                <a:latin typeface="Times New Roman" panose="02020603050405020304" pitchFamily="18" charset="0"/>
                <a:ea typeface="Roboto" pitchFamily="34" charset="-122"/>
                <a:cs typeface="Times New Roman" panose="02020603050405020304" pitchFamily="18" charset="0"/>
              </a:rPr>
              <a:t>Encoder fe(·)</a:t>
            </a:r>
            <a:endParaRPr lang="en-US" sz="1650" dirty="0">
              <a:latin typeface="Times New Roman" panose="02020603050405020304" pitchFamily="18" charset="0"/>
              <a:cs typeface="Times New Roman" panose="02020603050405020304" pitchFamily="18" charset="0"/>
            </a:endParaRPr>
          </a:p>
        </p:txBody>
      </p:sp>
      <p:sp>
        <p:nvSpPr>
          <p:cNvPr id="20" name="SK-3-text-19"/>
          <p:cNvSpPr/>
          <p:nvPr/>
        </p:nvSpPr>
        <p:spPr>
          <a:xfrm>
            <a:off x="1901875" y="5685234"/>
            <a:ext cx="1877467" cy="658267"/>
          </a:xfrm>
          <a:prstGeom prst="rect">
            <a:avLst/>
          </a:prstGeom>
          <a:noFill/>
          <a:ln/>
        </p:spPr>
        <p:txBody>
          <a:bodyPr vert="horz" wrap="none" lIns="0" tIns="0" rIns="0" bIns="0" rtlCol="0" anchor="ctr"/>
          <a:lstStyle/>
          <a:p>
            <a:pPr marL="0" indent="0" algn="l">
              <a:lnSpc>
                <a:spcPts val="1755"/>
              </a:lnSpc>
              <a:buNone/>
            </a:pPr>
            <a:r>
              <a:rPr lang="en-US" sz="1350" dirty="0">
                <a:solidFill>
                  <a:srgbClr val="666666"/>
                </a:solidFill>
                <a:latin typeface="Times New Roman" panose="02020603050405020304" pitchFamily="18" charset="0"/>
                <a:ea typeface="Roboto" pitchFamily="34" charset="-122"/>
                <a:cs typeface="Times New Roman" panose="02020603050405020304" pitchFamily="18" charset="0"/>
              </a:rPr>
              <a:t>Comprimă intrarea x în</a:t>
            </a:r>
            <a:endParaRPr lang="en-US" sz="1350" dirty="0">
              <a:latin typeface="Times New Roman" panose="02020603050405020304" pitchFamily="18" charset="0"/>
              <a:cs typeface="Times New Roman" panose="02020603050405020304" pitchFamily="18" charset="0"/>
            </a:endParaRPr>
          </a:p>
          <a:p>
            <a:pPr marL="0" indent="0" algn="l">
              <a:lnSpc>
                <a:spcPts val="1755"/>
              </a:lnSpc>
              <a:buNone/>
            </a:pPr>
            <a:r>
              <a:rPr lang="en-US" sz="1350" dirty="0">
                <a:solidFill>
                  <a:srgbClr val="666666"/>
                </a:solidFill>
                <a:latin typeface="Times New Roman" panose="02020603050405020304" pitchFamily="18" charset="0"/>
                <a:ea typeface="Roboto" pitchFamily="34" charset="-122"/>
                <a:cs typeface="Times New Roman" panose="02020603050405020304" pitchFamily="18" charset="0"/>
              </a:rPr>
              <a:t>reprezentarea latentă z –</a:t>
            </a:r>
            <a:endParaRPr lang="en-US" sz="1350" dirty="0">
              <a:latin typeface="Times New Roman" panose="02020603050405020304" pitchFamily="18" charset="0"/>
              <a:cs typeface="Times New Roman" panose="02020603050405020304" pitchFamily="18" charset="0"/>
            </a:endParaRPr>
          </a:p>
          <a:p>
            <a:pPr marL="0" indent="0" algn="l">
              <a:lnSpc>
                <a:spcPts val="1755"/>
              </a:lnSpc>
              <a:buNone/>
            </a:pPr>
            <a:r>
              <a:rPr lang="en-US" sz="1350" dirty="0">
                <a:solidFill>
                  <a:srgbClr val="666666"/>
                </a:solidFill>
                <a:latin typeface="Times New Roman" panose="02020603050405020304" pitchFamily="18" charset="0"/>
                <a:ea typeface="Roboto" pitchFamily="34" charset="-122"/>
                <a:cs typeface="Times New Roman" panose="02020603050405020304" pitchFamily="18" charset="0"/>
              </a:rPr>
              <a:t>query-ul pentru memorie.</a:t>
            </a:r>
            <a:endParaRPr lang="en-US" sz="1350" dirty="0">
              <a:latin typeface="Times New Roman" panose="02020603050405020304" pitchFamily="18" charset="0"/>
              <a:cs typeface="Times New Roman" panose="02020603050405020304" pitchFamily="18" charset="0"/>
            </a:endParaRPr>
          </a:p>
        </p:txBody>
      </p:sp>
      <p:sp>
        <p:nvSpPr>
          <p:cNvPr id="21" name="SK-3-text-20"/>
          <p:cNvSpPr/>
          <p:nvPr/>
        </p:nvSpPr>
        <p:spPr>
          <a:xfrm>
            <a:off x="5327898" y="5383411"/>
            <a:ext cx="4631055" cy="226219"/>
          </a:xfrm>
          <a:prstGeom prst="rect">
            <a:avLst/>
          </a:prstGeom>
          <a:noFill/>
          <a:ln/>
        </p:spPr>
        <p:txBody>
          <a:bodyPr vert="horz" wrap="none" lIns="0" tIns="0" rIns="0" bIns="0" rtlCol="0" anchor="ctr"/>
          <a:lstStyle/>
          <a:p>
            <a:pPr marL="0" indent="0" algn="l">
              <a:buNone/>
            </a:pPr>
            <a:r>
              <a:rPr lang="en-US" sz="1650" b="1" dirty="0">
                <a:solidFill>
                  <a:srgbClr val="002060"/>
                </a:solidFill>
                <a:latin typeface="Times New Roman" panose="02020603050405020304" pitchFamily="18" charset="0"/>
                <a:ea typeface="Roboto" pitchFamily="34" charset="-122"/>
                <a:cs typeface="Times New Roman" panose="02020603050405020304" pitchFamily="18" charset="0"/>
              </a:rPr>
              <a:t>Modul de Memorie M</a:t>
            </a:r>
            <a:endParaRPr lang="en-US" sz="1650" dirty="0">
              <a:latin typeface="Times New Roman" panose="02020603050405020304" pitchFamily="18" charset="0"/>
              <a:cs typeface="Times New Roman" panose="02020603050405020304" pitchFamily="18" charset="0"/>
            </a:endParaRPr>
          </a:p>
        </p:txBody>
      </p:sp>
      <p:sp>
        <p:nvSpPr>
          <p:cNvPr id="22" name="SK-3-text-21"/>
          <p:cNvSpPr/>
          <p:nvPr/>
        </p:nvSpPr>
        <p:spPr>
          <a:xfrm>
            <a:off x="5327898" y="5746998"/>
            <a:ext cx="2316361" cy="432048"/>
          </a:xfrm>
          <a:prstGeom prst="rect">
            <a:avLst/>
          </a:prstGeom>
          <a:noFill/>
          <a:ln/>
        </p:spPr>
        <p:txBody>
          <a:bodyPr vert="horz" wrap="none" lIns="0" tIns="0" rIns="0" bIns="0" rtlCol="0" anchor="ctr"/>
          <a:lstStyle/>
          <a:p>
            <a:pPr marL="0" indent="0" algn="l">
              <a:lnSpc>
                <a:spcPts val="1755"/>
              </a:lnSpc>
              <a:buNone/>
            </a:pPr>
            <a:r>
              <a:rPr lang="en-US" sz="1350" dirty="0">
                <a:solidFill>
                  <a:srgbClr val="666666"/>
                </a:solidFill>
                <a:latin typeface="Times New Roman" panose="02020603050405020304" pitchFamily="18" charset="0"/>
                <a:ea typeface="Roboto" pitchFamily="34" charset="-122"/>
                <a:cs typeface="Times New Roman" panose="02020603050405020304" pitchFamily="18" charset="0"/>
              </a:rPr>
              <a:t>Stochează N prototipuri normale.</a:t>
            </a:r>
            <a:endParaRPr lang="en-US" sz="1350" dirty="0">
              <a:latin typeface="Times New Roman" panose="02020603050405020304" pitchFamily="18" charset="0"/>
              <a:cs typeface="Times New Roman" panose="02020603050405020304" pitchFamily="18" charset="0"/>
            </a:endParaRPr>
          </a:p>
          <a:p>
            <a:pPr marL="0" indent="0" algn="l">
              <a:lnSpc>
                <a:spcPts val="1755"/>
              </a:lnSpc>
              <a:buNone/>
            </a:pPr>
            <a:r>
              <a:rPr lang="en-US" sz="1350" dirty="0">
                <a:solidFill>
                  <a:srgbClr val="666666"/>
                </a:solidFill>
                <a:latin typeface="Times New Roman" panose="02020603050405020304" pitchFamily="18" charset="0"/>
                <a:ea typeface="Roboto" pitchFamily="34" charset="-122"/>
                <a:cs typeface="Times New Roman" panose="02020603050405020304" pitchFamily="18" charset="0"/>
              </a:rPr>
              <a:t>La test, memoria este înghețată.</a:t>
            </a:r>
            <a:endParaRPr lang="en-US" sz="1350" dirty="0">
              <a:latin typeface="Times New Roman" panose="02020603050405020304" pitchFamily="18" charset="0"/>
              <a:cs typeface="Times New Roman" panose="02020603050405020304" pitchFamily="18" charset="0"/>
            </a:endParaRPr>
          </a:p>
        </p:txBody>
      </p:sp>
      <p:sp>
        <p:nvSpPr>
          <p:cNvPr id="23" name="SK-3-text-22"/>
          <p:cNvSpPr/>
          <p:nvPr/>
        </p:nvSpPr>
        <p:spPr>
          <a:xfrm>
            <a:off x="9217075" y="5314950"/>
            <a:ext cx="2974925" cy="246757"/>
          </a:xfrm>
          <a:prstGeom prst="rect">
            <a:avLst/>
          </a:prstGeom>
          <a:noFill/>
          <a:ln/>
        </p:spPr>
        <p:txBody>
          <a:bodyPr vert="horz" wrap="none" lIns="0" tIns="0" rIns="0" bIns="0" rtlCol="0" anchor="ctr"/>
          <a:lstStyle/>
          <a:p>
            <a:pPr marL="0" indent="0" algn="l">
              <a:buNone/>
            </a:pPr>
            <a:r>
              <a:rPr lang="en-US" sz="1650" b="1" dirty="0">
                <a:solidFill>
                  <a:srgbClr val="002060"/>
                </a:solidFill>
                <a:latin typeface="Times New Roman" panose="02020603050405020304" pitchFamily="18" charset="0"/>
                <a:ea typeface="Roboto" pitchFamily="34" charset="-122"/>
                <a:cs typeface="Times New Roman" panose="02020603050405020304" pitchFamily="18" charset="0"/>
              </a:rPr>
              <a:t>Decoder fd(·)</a:t>
            </a:r>
            <a:endParaRPr lang="en-US" sz="1650" dirty="0">
              <a:latin typeface="Times New Roman" panose="02020603050405020304" pitchFamily="18" charset="0"/>
              <a:cs typeface="Times New Roman" panose="02020603050405020304" pitchFamily="18" charset="0"/>
            </a:endParaRPr>
          </a:p>
        </p:txBody>
      </p:sp>
      <p:sp>
        <p:nvSpPr>
          <p:cNvPr id="24" name="SK-3-text-23"/>
          <p:cNvSpPr/>
          <p:nvPr/>
        </p:nvSpPr>
        <p:spPr>
          <a:xfrm>
            <a:off x="9217075" y="5678388"/>
            <a:ext cx="1731169" cy="665113"/>
          </a:xfrm>
          <a:prstGeom prst="rect">
            <a:avLst/>
          </a:prstGeom>
          <a:noFill/>
          <a:ln/>
        </p:spPr>
        <p:txBody>
          <a:bodyPr vert="horz" wrap="none" lIns="0" tIns="0" rIns="0" bIns="0" rtlCol="0" anchor="ctr"/>
          <a:lstStyle/>
          <a:p>
            <a:pPr marL="0" indent="0" algn="l">
              <a:lnSpc>
                <a:spcPts val="1755"/>
              </a:lnSpc>
              <a:buNone/>
            </a:pPr>
            <a:r>
              <a:rPr lang="en-US" sz="1350" dirty="0">
                <a:solidFill>
                  <a:srgbClr val="666666"/>
                </a:solidFill>
                <a:latin typeface="Times New Roman" panose="02020603050405020304" pitchFamily="18" charset="0"/>
                <a:ea typeface="Roboto" pitchFamily="34" charset="-122"/>
                <a:cs typeface="Times New Roman" panose="02020603050405020304" pitchFamily="18" charset="0"/>
              </a:rPr>
              <a:t>Reconstruiește x̂ din</a:t>
            </a:r>
            <a:endParaRPr lang="en-US" sz="1350" dirty="0">
              <a:latin typeface="Times New Roman" panose="02020603050405020304" pitchFamily="18" charset="0"/>
              <a:cs typeface="Times New Roman" panose="02020603050405020304" pitchFamily="18" charset="0"/>
            </a:endParaRPr>
          </a:p>
          <a:p>
            <a:pPr marL="0" indent="0" algn="l">
              <a:lnSpc>
                <a:spcPts val="1755"/>
              </a:lnSpc>
              <a:buNone/>
            </a:pPr>
            <a:r>
              <a:rPr lang="en-US" sz="1350" dirty="0">
                <a:solidFill>
                  <a:srgbClr val="666666"/>
                </a:solidFill>
                <a:latin typeface="Times New Roman" panose="02020603050405020304" pitchFamily="18" charset="0"/>
                <a:ea typeface="Roboto" pitchFamily="34" charset="-122"/>
                <a:cs typeface="Times New Roman" panose="02020603050405020304" pitchFamily="18" charset="0"/>
              </a:rPr>
              <a:t>ẑ = ŵ·M — combinație</a:t>
            </a:r>
            <a:endParaRPr lang="en-US" sz="1350" dirty="0">
              <a:latin typeface="Times New Roman" panose="02020603050405020304" pitchFamily="18" charset="0"/>
              <a:cs typeface="Times New Roman" panose="02020603050405020304" pitchFamily="18" charset="0"/>
            </a:endParaRPr>
          </a:p>
          <a:p>
            <a:pPr marL="0" indent="0" algn="l">
              <a:lnSpc>
                <a:spcPts val="1755"/>
              </a:lnSpc>
              <a:buNone/>
            </a:pPr>
            <a:r>
              <a:rPr lang="en-US" sz="1350" dirty="0">
                <a:solidFill>
                  <a:srgbClr val="666666"/>
                </a:solidFill>
                <a:latin typeface="Times New Roman" panose="02020603050405020304" pitchFamily="18" charset="0"/>
                <a:ea typeface="Roboto" pitchFamily="34" charset="-122"/>
                <a:cs typeface="Times New Roman" panose="02020603050405020304" pitchFamily="18" charset="0"/>
              </a:rPr>
              <a:t>sparsă de slot-uri.</a:t>
            </a:r>
            <a:endParaRPr lang="en-US" sz="1350" dirty="0">
              <a:latin typeface="Times New Roman" panose="02020603050405020304" pitchFamily="18" charset="0"/>
              <a:cs typeface="Times New Roman" panose="02020603050405020304" pitchFamily="18" charset="0"/>
            </a:endParaRPr>
          </a:p>
        </p:txBody>
      </p:sp>
      <p:pic>
        <p:nvPicPr>
          <p:cNvPr id="26" name="SK-4-img-2" descr="preencoded.png">
            <a:extLst>
              <a:ext uri="{FF2B5EF4-FFF2-40B4-BE49-F238E27FC236}">
                <a16:creationId xmlns:a16="http://schemas.microsoft.com/office/drawing/2014/main" id="{6186C3D4-2DCA-4EED-A73E-E39A3421B443}"/>
              </a:ext>
            </a:extLst>
          </p:cNvPr>
          <p:cNvPicPr>
            <a:picLocks noChangeAspect="1"/>
          </p:cNvPicPr>
          <p:nvPr/>
        </p:nvPicPr>
        <p:blipFill>
          <a:blip r:embed="rId15"/>
          <a:stretch>
            <a:fillRect/>
          </a:stretch>
        </p:blipFill>
        <p:spPr>
          <a:xfrm>
            <a:off x="0" y="0"/>
            <a:ext cx="146298" cy="6858000"/>
          </a:xfrm>
          <a:prstGeom prst="rect">
            <a:avLst/>
          </a:prstGeom>
        </p:spPr>
      </p:pic>
      <p:pic>
        <p:nvPicPr>
          <p:cNvPr id="28" name="SK-2-img-4" descr="preencoded.png">
            <a:extLst>
              <a:ext uri="{FF2B5EF4-FFF2-40B4-BE49-F238E27FC236}">
                <a16:creationId xmlns:a16="http://schemas.microsoft.com/office/drawing/2014/main" id="{6E9E61F5-FB17-4C7A-B706-3AB4204CCF4D}"/>
              </a:ext>
            </a:extLst>
          </p:cNvPr>
          <p:cNvPicPr>
            <a:picLocks noChangeAspect="1"/>
          </p:cNvPicPr>
          <p:nvPr/>
        </p:nvPicPr>
        <p:blipFill>
          <a:blip r:embed="rId16"/>
          <a:stretch>
            <a:fillRect/>
          </a:stretch>
        </p:blipFill>
        <p:spPr>
          <a:xfrm>
            <a:off x="536377" y="1071806"/>
            <a:ext cx="792361" cy="95994"/>
          </a:xfrm>
          <a:prstGeom prst="rect">
            <a:avLst/>
          </a:prstGeom>
        </p:spPr>
      </p:pic>
      <p:pic>
        <p:nvPicPr>
          <p:cNvPr id="29" name="Picture 28">
            <a:extLst>
              <a:ext uri="{FF2B5EF4-FFF2-40B4-BE49-F238E27FC236}">
                <a16:creationId xmlns:a16="http://schemas.microsoft.com/office/drawing/2014/main" id="{09325F4E-51AE-4BE9-9285-F4D7B5F77405}"/>
              </a:ext>
            </a:extLst>
          </p:cNvPr>
          <p:cNvPicPr>
            <a:picLocks noChangeAspect="1"/>
          </p:cNvPicPr>
          <p:nvPr/>
        </p:nvPicPr>
        <p:blipFill>
          <a:blip r:embed="rId17"/>
          <a:stretch>
            <a:fillRect/>
          </a:stretch>
        </p:blipFill>
        <p:spPr>
          <a:xfrm>
            <a:off x="5953145" y="494013"/>
            <a:ext cx="5960919" cy="5507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K-4-img-1" descr="preencoded.png"/>
          <p:cNvPicPr>
            <a:picLocks noChangeAspect="1"/>
          </p:cNvPicPr>
          <p:nvPr/>
        </p:nvPicPr>
        <p:blipFill>
          <a:blip r:embed="rId3"/>
          <a:stretch>
            <a:fillRect/>
          </a:stretch>
        </p:blipFill>
        <p:spPr>
          <a:xfrm>
            <a:off x="0" y="0"/>
            <a:ext cx="12192000" cy="6858000"/>
          </a:xfrm>
          <a:prstGeom prst="rect">
            <a:avLst/>
          </a:prstGeom>
        </p:spPr>
      </p:pic>
      <p:pic>
        <p:nvPicPr>
          <p:cNvPr id="3" name="SK-4-img-2" descr="preencoded.png"/>
          <p:cNvPicPr>
            <a:picLocks noChangeAspect="1"/>
          </p:cNvPicPr>
          <p:nvPr/>
        </p:nvPicPr>
        <p:blipFill>
          <a:blip r:embed="rId4"/>
          <a:stretch>
            <a:fillRect/>
          </a:stretch>
        </p:blipFill>
        <p:spPr>
          <a:xfrm>
            <a:off x="0" y="0"/>
            <a:ext cx="146298" cy="6858000"/>
          </a:xfrm>
          <a:prstGeom prst="rect">
            <a:avLst/>
          </a:prstGeom>
        </p:spPr>
      </p:pic>
      <p:pic>
        <p:nvPicPr>
          <p:cNvPr id="5" name="SK-4-img-4" descr="preencoded.png"/>
          <p:cNvPicPr>
            <a:picLocks noChangeAspect="1"/>
          </p:cNvPicPr>
          <p:nvPr/>
        </p:nvPicPr>
        <p:blipFill>
          <a:blip r:embed="rId5"/>
          <a:stretch>
            <a:fillRect/>
          </a:stretch>
        </p:blipFill>
        <p:spPr>
          <a:xfrm>
            <a:off x="414486" y="1419523"/>
            <a:ext cx="3182094" cy="3038029"/>
          </a:xfrm>
          <a:prstGeom prst="rect">
            <a:avLst/>
          </a:prstGeom>
        </p:spPr>
      </p:pic>
      <p:pic>
        <p:nvPicPr>
          <p:cNvPr id="6" name="SK-4-img-5" descr="preencoded.png"/>
          <p:cNvPicPr>
            <a:picLocks noChangeAspect="1"/>
          </p:cNvPicPr>
          <p:nvPr/>
        </p:nvPicPr>
        <p:blipFill>
          <a:blip r:embed="rId6"/>
          <a:stretch>
            <a:fillRect/>
          </a:stretch>
        </p:blipFill>
        <p:spPr>
          <a:xfrm>
            <a:off x="414486" y="1419523"/>
            <a:ext cx="60871" cy="3038029"/>
          </a:xfrm>
          <a:prstGeom prst="rect">
            <a:avLst/>
          </a:prstGeom>
        </p:spPr>
      </p:pic>
      <p:pic>
        <p:nvPicPr>
          <p:cNvPr id="7" name="SK-4-img-6" descr="preencoded.png"/>
          <p:cNvPicPr>
            <a:picLocks noChangeAspect="1"/>
          </p:cNvPicPr>
          <p:nvPr/>
        </p:nvPicPr>
        <p:blipFill>
          <a:blip r:embed="rId7"/>
          <a:stretch>
            <a:fillRect/>
          </a:stretch>
        </p:blipFill>
        <p:spPr>
          <a:xfrm>
            <a:off x="3803898" y="1419523"/>
            <a:ext cx="3182094" cy="3038029"/>
          </a:xfrm>
          <a:prstGeom prst="rect">
            <a:avLst/>
          </a:prstGeom>
        </p:spPr>
      </p:pic>
      <p:pic>
        <p:nvPicPr>
          <p:cNvPr id="8" name="SK-4-img-7" descr="preencoded.png"/>
          <p:cNvPicPr>
            <a:picLocks noChangeAspect="1"/>
          </p:cNvPicPr>
          <p:nvPr/>
        </p:nvPicPr>
        <p:blipFill>
          <a:blip r:embed="rId8"/>
          <a:stretch>
            <a:fillRect/>
          </a:stretch>
        </p:blipFill>
        <p:spPr>
          <a:xfrm>
            <a:off x="3803898" y="1419523"/>
            <a:ext cx="60871" cy="3038029"/>
          </a:xfrm>
          <a:prstGeom prst="rect">
            <a:avLst/>
          </a:prstGeom>
        </p:spPr>
      </p:pic>
      <p:pic>
        <p:nvPicPr>
          <p:cNvPr id="9" name="SK-4-img-8" descr="preencoded.png"/>
          <p:cNvPicPr>
            <a:picLocks noChangeAspect="1"/>
          </p:cNvPicPr>
          <p:nvPr/>
        </p:nvPicPr>
        <p:blipFill>
          <a:blip r:embed="rId9"/>
          <a:stretch>
            <a:fillRect/>
          </a:stretch>
        </p:blipFill>
        <p:spPr>
          <a:xfrm>
            <a:off x="7193161" y="1419523"/>
            <a:ext cx="4632871" cy="3038029"/>
          </a:xfrm>
          <a:prstGeom prst="rect">
            <a:avLst/>
          </a:prstGeom>
        </p:spPr>
      </p:pic>
      <p:pic>
        <p:nvPicPr>
          <p:cNvPr id="10" name="SK-4-img-9" descr="preencoded.png"/>
          <p:cNvPicPr>
            <a:picLocks noChangeAspect="1"/>
          </p:cNvPicPr>
          <p:nvPr/>
        </p:nvPicPr>
        <p:blipFill>
          <a:blip r:embed="rId10"/>
          <a:stretch>
            <a:fillRect/>
          </a:stretch>
        </p:blipFill>
        <p:spPr>
          <a:xfrm>
            <a:off x="414486" y="4665464"/>
            <a:ext cx="11362879" cy="9525"/>
          </a:xfrm>
          <a:prstGeom prst="rect">
            <a:avLst/>
          </a:prstGeom>
        </p:spPr>
      </p:pic>
      <p:pic>
        <p:nvPicPr>
          <p:cNvPr id="11" name="SK-4-img-10" descr="preencoded.png"/>
          <p:cNvPicPr>
            <a:picLocks noChangeAspect="1"/>
          </p:cNvPicPr>
          <p:nvPr/>
        </p:nvPicPr>
        <p:blipFill>
          <a:blip r:embed="rId11"/>
          <a:stretch>
            <a:fillRect/>
          </a:stretch>
        </p:blipFill>
        <p:spPr>
          <a:xfrm>
            <a:off x="414486" y="4882753"/>
            <a:ext cx="3340596" cy="1508671"/>
          </a:xfrm>
          <a:prstGeom prst="rect">
            <a:avLst/>
          </a:prstGeom>
        </p:spPr>
      </p:pic>
      <p:pic>
        <p:nvPicPr>
          <p:cNvPr id="12" name="SK-4-img-11" descr="preencoded.png"/>
          <p:cNvPicPr>
            <a:picLocks noChangeAspect="1"/>
          </p:cNvPicPr>
          <p:nvPr/>
        </p:nvPicPr>
        <p:blipFill>
          <a:blip r:embed="rId12"/>
          <a:stretch>
            <a:fillRect/>
          </a:stretch>
        </p:blipFill>
        <p:spPr>
          <a:xfrm>
            <a:off x="524173" y="5493246"/>
            <a:ext cx="170557" cy="253603"/>
          </a:xfrm>
          <a:prstGeom prst="rect">
            <a:avLst/>
          </a:prstGeom>
        </p:spPr>
      </p:pic>
      <p:pic>
        <p:nvPicPr>
          <p:cNvPr id="13" name="SK-4-img-12" descr="preencoded.png"/>
          <p:cNvPicPr>
            <a:picLocks noChangeAspect="1"/>
          </p:cNvPicPr>
          <p:nvPr/>
        </p:nvPicPr>
        <p:blipFill>
          <a:blip r:embed="rId13"/>
          <a:stretch>
            <a:fillRect/>
          </a:stretch>
        </p:blipFill>
        <p:spPr>
          <a:xfrm>
            <a:off x="3974455" y="4882753"/>
            <a:ext cx="3840361" cy="1508671"/>
          </a:xfrm>
          <a:prstGeom prst="rect">
            <a:avLst/>
          </a:prstGeom>
        </p:spPr>
      </p:pic>
      <p:pic>
        <p:nvPicPr>
          <p:cNvPr id="14" name="SK-4-img-13" descr="preencoded.png"/>
          <p:cNvPicPr>
            <a:picLocks noChangeAspect="1"/>
          </p:cNvPicPr>
          <p:nvPr/>
        </p:nvPicPr>
        <p:blipFill>
          <a:blip r:embed="rId14"/>
          <a:stretch>
            <a:fillRect/>
          </a:stretch>
        </p:blipFill>
        <p:spPr>
          <a:xfrm>
            <a:off x="4193977" y="5218807"/>
            <a:ext cx="731490" cy="726877"/>
          </a:xfrm>
          <a:prstGeom prst="rect">
            <a:avLst/>
          </a:prstGeom>
        </p:spPr>
      </p:pic>
      <p:pic>
        <p:nvPicPr>
          <p:cNvPr id="15" name="SK-4-img-14" descr="preencoded.png"/>
          <p:cNvPicPr>
            <a:picLocks noChangeAspect="1"/>
          </p:cNvPicPr>
          <p:nvPr/>
        </p:nvPicPr>
        <p:blipFill>
          <a:blip r:embed="rId15"/>
          <a:stretch>
            <a:fillRect/>
          </a:stretch>
        </p:blipFill>
        <p:spPr>
          <a:xfrm>
            <a:off x="8034486" y="4882753"/>
            <a:ext cx="3840361" cy="1508671"/>
          </a:xfrm>
          <a:prstGeom prst="rect">
            <a:avLst/>
          </a:prstGeom>
        </p:spPr>
      </p:pic>
      <p:pic>
        <p:nvPicPr>
          <p:cNvPr id="16" name="SK-4-img-15" descr="preencoded.png"/>
          <p:cNvPicPr>
            <a:picLocks noChangeAspect="1"/>
          </p:cNvPicPr>
          <p:nvPr/>
        </p:nvPicPr>
        <p:blipFill>
          <a:blip r:embed="rId16"/>
          <a:stretch>
            <a:fillRect/>
          </a:stretch>
        </p:blipFill>
        <p:spPr>
          <a:xfrm>
            <a:off x="10363200" y="5486400"/>
            <a:ext cx="1828800" cy="1371600"/>
          </a:xfrm>
          <a:prstGeom prst="rect">
            <a:avLst/>
          </a:prstGeom>
        </p:spPr>
      </p:pic>
      <p:pic>
        <p:nvPicPr>
          <p:cNvPr id="17" name="SK-4-img-16" descr="preencoded.png"/>
          <p:cNvPicPr>
            <a:picLocks noChangeAspect="1"/>
          </p:cNvPicPr>
          <p:nvPr/>
        </p:nvPicPr>
        <p:blipFill>
          <a:blip r:embed="rId17"/>
          <a:stretch>
            <a:fillRect/>
          </a:stretch>
        </p:blipFill>
        <p:spPr>
          <a:xfrm>
            <a:off x="8058894" y="5115967"/>
            <a:ext cx="902196" cy="912019"/>
          </a:xfrm>
          <a:prstGeom prst="rect">
            <a:avLst/>
          </a:prstGeom>
        </p:spPr>
      </p:pic>
      <p:pic>
        <p:nvPicPr>
          <p:cNvPr id="18" name="SK-4-img-17" descr="preencoded.png"/>
          <p:cNvPicPr>
            <a:picLocks noChangeAspect="1"/>
          </p:cNvPicPr>
          <p:nvPr/>
        </p:nvPicPr>
        <p:blipFill>
          <a:blip r:embed="rId18"/>
          <a:stretch>
            <a:fillRect/>
          </a:stretch>
        </p:blipFill>
        <p:spPr>
          <a:xfrm>
            <a:off x="4132957" y="5109121"/>
            <a:ext cx="792361" cy="905173"/>
          </a:xfrm>
          <a:prstGeom prst="rect">
            <a:avLst/>
          </a:prstGeom>
        </p:spPr>
      </p:pic>
      <p:pic>
        <p:nvPicPr>
          <p:cNvPr id="19" name="SK-4-img-18" descr="preencoded.png"/>
          <p:cNvPicPr>
            <a:picLocks noChangeAspect="1"/>
          </p:cNvPicPr>
          <p:nvPr/>
        </p:nvPicPr>
        <p:blipFill>
          <a:blip r:embed="rId19"/>
          <a:stretch>
            <a:fillRect/>
          </a:stretch>
        </p:blipFill>
        <p:spPr>
          <a:xfrm>
            <a:off x="536377" y="5129659"/>
            <a:ext cx="853380" cy="905173"/>
          </a:xfrm>
          <a:prstGeom prst="rect">
            <a:avLst/>
          </a:prstGeom>
        </p:spPr>
      </p:pic>
      <p:pic>
        <p:nvPicPr>
          <p:cNvPr id="20" name="SK-4-img-19" descr="preencoded.png"/>
          <p:cNvPicPr>
            <a:picLocks noChangeAspect="1"/>
          </p:cNvPicPr>
          <p:nvPr/>
        </p:nvPicPr>
        <p:blipFill>
          <a:blip r:embed="rId20"/>
          <a:stretch>
            <a:fillRect/>
          </a:stretch>
        </p:blipFill>
        <p:spPr>
          <a:xfrm>
            <a:off x="7120086" y="1741884"/>
            <a:ext cx="4730353" cy="2482453"/>
          </a:xfrm>
          <a:prstGeom prst="rect">
            <a:avLst/>
          </a:prstGeom>
        </p:spPr>
      </p:pic>
      <p:pic>
        <p:nvPicPr>
          <p:cNvPr id="21" name="SK-4-img-20" descr="preencoded.png"/>
          <p:cNvPicPr>
            <a:picLocks noChangeAspect="1"/>
          </p:cNvPicPr>
          <p:nvPr/>
        </p:nvPicPr>
        <p:blipFill>
          <a:blip r:embed="rId21"/>
          <a:stretch>
            <a:fillRect/>
          </a:stretch>
        </p:blipFill>
        <p:spPr>
          <a:xfrm>
            <a:off x="4510980" y="4073575"/>
            <a:ext cx="999679" cy="205680"/>
          </a:xfrm>
          <a:prstGeom prst="rect">
            <a:avLst/>
          </a:prstGeom>
        </p:spPr>
      </p:pic>
      <p:pic>
        <p:nvPicPr>
          <p:cNvPr id="22" name="SK-4-img-21" descr="preencoded.png"/>
          <p:cNvPicPr>
            <a:picLocks noChangeAspect="1"/>
          </p:cNvPicPr>
          <p:nvPr/>
        </p:nvPicPr>
        <p:blipFill>
          <a:blip r:embed="rId22"/>
          <a:stretch>
            <a:fillRect/>
          </a:stretch>
        </p:blipFill>
        <p:spPr>
          <a:xfrm>
            <a:off x="4132957" y="3051721"/>
            <a:ext cx="2267694" cy="548580"/>
          </a:xfrm>
          <a:prstGeom prst="rect">
            <a:avLst/>
          </a:prstGeom>
        </p:spPr>
      </p:pic>
      <p:pic>
        <p:nvPicPr>
          <p:cNvPr id="23" name="SK-4-img-22" descr="preencoded.png"/>
          <p:cNvPicPr>
            <a:picLocks noChangeAspect="1"/>
          </p:cNvPicPr>
          <p:nvPr/>
        </p:nvPicPr>
        <p:blipFill>
          <a:blip r:embed="rId23"/>
          <a:stretch>
            <a:fillRect/>
          </a:stretch>
        </p:blipFill>
        <p:spPr>
          <a:xfrm>
            <a:off x="4035475" y="1625203"/>
            <a:ext cx="451098" cy="397669"/>
          </a:xfrm>
          <a:prstGeom prst="rect">
            <a:avLst/>
          </a:prstGeom>
        </p:spPr>
      </p:pic>
      <p:pic>
        <p:nvPicPr>
          <p:cNvPr id="24" name="SK-4-img-23" descr="preencoded.png"/>
          <p:cNvPicPr>
            <a:picLocks noChangeAspect="1"/>
          </p:cNvPicPr>
          <p:nvPr/>
        </p:nvPicPr>
        <p:blipFill>
          <a:blip r:embed="rId24"/>
          <a:stretch>
            <a:fillRect/>
          </a:stretch>
        </p:blipFill>
        <p:spPr>
          <a:xfrm>
            <a:off x="1304479" y="4087267"/>
            <a:ext cx="1097161" cy="198834"/>
          </a:xfrm>
          <a:prstGeom prst="rect">
            <a:avLst/>
          </a:prstGeom>
        </p:spPr>
      </p:pic>
      <p:pic>
        <p:nvPicPr>
          <p:cNvPr id="25" name="SK-4-img-24" descr="preencoded.png"/>
          <p:cNvPicPr>
            <a:picLocks noChangeAspect="1"/>
          </p:cNvPicPr>
          <p:nvPr/>
        </p:nvPicPr>
        <p:blipFill>
          <a:blip r:embed="rId25"/>
          <a:stretch>
            <a:fillRect/>
          </a:stretch>
        </p:blipFill>
        <p:spPr>
          <a:xfrm>
            <a:off x="938659" y="3024336"/>
            <a:ext cx="2023765" cy="589657"/>
          </a:xfrm>
          <a:prstGeom prst="rect">
            <a:avLst/>
          </a:prstGeom>
        </p:spPr>
      </p:pic>
      <p:pic>
        <p:nvPicPr>
          <p:cNvPr id="26" name="SK-4-img-25" descr="preencoded.png"/>
          <p:cNvPicPr>
            <a:picLocks noChangeAspect="1"/>
          </p:cNvPicPr>
          <p:nvPr/>
        </p:nvPicPr>
        <p:blipFill>
          <a:blip r:embed="rId26"/>
          <a:stretch>
            <a:fillRect/>
          </a:stretch>
        </p:blipFill>
        <p:spPr>
          <a:xfrm>
            <a:off x="658267" y="1625203"/>
            <a:ext cx="609600" cy="404515"/>
          </a:xfrm>
          <a:prstGeom prst="rect">
            <a:avLst/>
          </a:prstGeom>
        </p:spPr>
      </p:pic>
      <p:sp>
        <p:nvSpPr>
          <p:cNvPr id="27" name="SK-4-text-26"/>
          <p:cNvSpPr/>
          <p:nvPr/>
        </p:nvSpPr>
        <p:spPr>
          <a:xfrm>
            <a:off x="426690" y="246757"/>
            <a:ext cx="6533197" cy="191988"/>
          </a:xfrm>
          <a:prstGeom prst="rect">
            <a:avLst/>
          </a:prstGeom>
          <a:noFill/>
          <a:ln/>
        </p:spPr>
        <p:txBody>
          <a:bodyPr vert="horz" wrap="none" lIns="0" tIns="0" rIns="0" bIns="0" rtlCol="0" anchor="ctr"/>
          <a:lstStyle/>
          <a:p>
            <a:pPr marL="0" indent="0" algn="l">
              <a:buNone/>
            </a:pPr>
            <a:r>
              <a:rPr lang="en-US" sz="1500" dirty="0">
                <a:solidFill>
                  <a:srgbClr val="999999"/>
                </a:solidFill>
                <a:latin typeface="Times New Roman" panose="02020603050405020304" pitchFamily="18" charset="0"/>
                <a:ea typeface="Roboto" pitchFamily="34" charset="-122"/>
                <a:cs typeface="Times New Roman" panose="02020603050405020304" pitchFamily="18" charset="0"/>
              </a:rPr>
              <a:t>04 / 11 · Arhitectura MemAE</a:t>
            </a:r>
            <a:endParaRPr lang="en-US" sz="1500" dirty="0">
              <a:latin typeface="Times New Roman" panose="02020603050405020304" pitchFamily="18" charset="0"/>
              <a:cs typeface="Times New Roman" panose="02020603050405020304" pitchFamily="18" charset="0"/>
            </a:endParaRPr>
          </a:p>
        </p:txBody>
      </p:sp>
      <p:sp>
        <p:nvSpPr>
          <p:cNvPr id="28" name="SK-4-text-27"/>
          <p:cNvSpPr/>
          <p:nvPr/>
        </p:nvSpPr>
        <p:spPr>
          <a:xfrm>
            <a:off x="414486" y="548580"/>
            <a:ext cx="11777514" cy="342900"/>
          </a:xfrm>
          <a:prstGeom prst="rect">
            <a:avLst/>
          </a:prstGeom>
          <a:noFill/>
          <a:ln/>
        </p:spPr>
        <p:txBody>
          <a:bodyPr vert="horz" wrap="none" lIns="0" tIns="0" rIns="0" bIns="0" rtlCol="0" anchor="ctr"/>
          <a:lstStyle/>
          <a:p>
            <a:pPr marL="0" indent="0" algn="l">
              <a:buNone/>
            </a:pPr>
            <a:r>
              <a:rPr lang="en-US" sz="3000" b="1" dirty="0">
                <a:solidFill>
                  <a:srgbClr val="001D3D"/>
                </a:solidFill>
                <a:latin typeface="Times New Roman" panose="02020603050405020304" pitchFamily="18" charset="0"/>
                <a:ea typeface="Roboto" pitchFamily="34" charset="-122"/>
                <a:cs typeface="Times New Roman" panose="02020603050405020304" pitchFamily="18" charset="0"/>
              </a:rPr>
              <a:t>Modulul de </a:t>
            </a:r>
            <a:r>
              <a:rPr lang="en-US" sz="3000" b="1" dirty="0" err="1">
                <a:solidFill>
                  <a:srgbClr val="001D3D"/>
                </a:solidFill>
                <a:latin typeface="Times New Roman" panose="02020603050405020304" pitchFamily="18" charset="0"/>
                <a:ea typeface="Roboto" pitchFamily="34" charset="-122"/>
                <a:cs typeface="Times New Roman" panose="02020603050405020304" pitchFamily="18" charset="0"/>
              </a:rPr>
              <a:t>memorie</a:t>
            </a:r>
            <a:r>
              <a:rPr lang="en-US" sz="3000" b="1" dirty="0">
                <a:solidFill>
                  <a:srgbClr val="001D3D"/>
                </a:solidFill>
                <a:latin typeface="Times New Roman" panose="02020603050405020304" pitchFamily="18" charset="0"/>
                <a:ea typeface="Roboto" pitchFamily="34" charset="-122"/>
                <a:cs typeface="Times New Roman" panose="02020603050405020304" pitchFamily="18" charset="0"/>
              </a:rPr>
              <a:t> </a:t>
            </a:r>
            <a:r>
              <a:rPr lang="en-US" sz="3000" b="1" dirty="0" err="1">
                <a:solidFill>
                  <a:srgbClr val="001D3D"/>
                </a:solidFill>
                <a:latin typeface="Times New Roman" panose="02020603050405020304" pitchFamily="18" charset="0"/>
                <a:ea typeface="Roboto" pitchFamily="34" charset="-122"/>
                <a:cs typeface="Times New Roman" panose="02020603050405020304" pitchFamily="18" charset="0"/>
              </a:rPr>
              <a:t>și</a:t>
            </a:r>
            <a:r>
              <a:rPr lang="en-US" sz="3000" b="1" dirty="0">
                <a:solidFill>
                  <a:srgbClr val="001D3D"/>
                </a:solidFill>
                <a:latin typeface="Times New Roman" panose="02020603050405020304" pitchFamily="18" charset="0"/>
                <a:ea typeface="Roboto" pitchFamily="34" charset="-122"/>
                <a:cs typeface="Times New Roman" panose="02020603050405020304" pitchFamily="18" charset="0"/>
              </a:rPr>
              <a:t> hard shrinkage</a:t>
            </a:r>
            <a:endParaRPr lang="en-US" sz="3000" dirty="0">
              <a:latin typeface="Times New Roman" panose="02020603050405020304" pitchFamily="18" charset="0"/>
              <a:cs typeface="Times New Roman" panose="02020603050405020304" pitchFamily="18" charset="0"/>
            </a:endParaRPr>
          </a:p>
        </p:txBody>
      </p:sp>
      <p:sp>
        <p:nvSpPr>
          <p:cNvPr id="29" name="SK-4-text-28"/>
          <p:cNvSpPr/>
          <p:nvPr/>
        </p:nvSpPr>
        <p:spPr>
          <a:xfrm>
            <a:off x="658267" y="2167086"/>
            <a:ext cx="3981450" cy="219373"/>
          </a:xfrm>
          <a:prstGeom prst="rect">
            <a:avLst/>
          </a:prstGeom>
          <a:noFill/>
          <a:ln/>
        </p:spPr>
        <p:txBody>
          <a:bodyPr vert="horz" wrap="none" lIns="0" tIns="0" rIns="0" bIns="0" rtlCol="0" anchor="ctr"/>
          <a:lstStyle/>
          <a:p>
            <a:pPr marL="0" indent="0" algn="l">
              <a:buNone/>
            </a:pPr>
            <a:r>
              <a:rPr lang="en-US" sz="1500" b="1" dirty="0">
                <a:solidFill>
                  <a:srgbClr val="001D3D"/>
                </a:solidFill>
                <a:latin typeface="Times New Roman" panose="02020603050405020304" pitchFamily="18" charset="0"/>
                <a:ea typeface="Roboto" pitchFamily="34" charset="-122"/>
                <a:cs typeface="Times New Roman" panose="02020603050405020304" pitchFamily="18" charset="0"/>
              </a:rPr>
              <a:t>Cosine similarity</a:t>
            </a:r>
            <a:endParaRPr lang="en-US" sz="1500" dirty="0">
              <a:latin typeface="Times New Roman" panose="02020603050405020304" pitchFamily="18" charset="0"/>
              <a:cs typeface="Times New Roman" panose="02020603050405020304" pitchFamily="18" charset="0"/>
            </a:endParaRPr>
          </a:p>
        </p:txBody>
      </p:sp>
      <p:sp>
        <p:nvSpPr>
          <p:cNvPr id="30" name="SK-4-text-29"/>
          <p:cNvSpPr/>
          <p:nvPr/>
        </p:nvSpPr>
        <p:spPr>
          <a:xfrm>
            <a:off x="658267" y="2475607"/>
            <a:ext cx="2255490" cy="418207"/>
          </a:xfrm>
          <a:prstGeom prst="rect">
            <a:avLst/>
          </a:prstGeom>
          <a:noFill/>
          <a:ln/>
        </p:spPr>
        <p:txBody>
          <a:bodyPr vert="horz" wrap="none" lIns="0" tIns="0" rIns="0" bIns="0" rtlCol="0" anchor="ctr"/>
          <a:lstStyle/>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Similaritatea dintre query-ul z și</a:t>
            </a:r>
            <a:endParaRPr lang="en-US" sz="1350" dirty="0">
              <a:latin typeface="Times New Roman" panose="02020603050405020304" pitchFamily="18" charset="0"/>
              <a:cs typeface="Times New Roman" panose="02020603050405020304" pitchFamily="18" charset="0"/>
            </a:endParaRP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fiecare slot de memorie mi:</a:t>
            </a:r>
            <a:endParaRPr lang="en-US" sz="1350" dirty="0">
              <a:latin typeface="Times New Roman" panose="02020603050405020304" pitchFamily="18" charset="0"/>
              <a:cs typeface="Times New Roman" panose="02020603050405020304" pitchFamily="18" charset="0"/>
            </a:endParaRPr>
          </a:p>
        </p:txBody>
      </p:sp>
      <p:sp>
        <p:nvSpPr>
          <p:cNvPr id="31" name="SK-4-text-30"/>
          <p:cNvSpPr/>
          <p:nvPr/>
        </p:nvSpPr>
        <p:spPr>
          <a:xfrm>
            <a:off x="658267" y="3840361"/>
            <a:ext cx="7574280" cy="191988"/>
          </a:xfrm>
          <a:prstGeom prst="rect">
            <a:avLst/>
          </a:prstGeom>
          <a:noFill/>
          <a:ln/>
        </p:spPr>
        <p:txBody>
          <a:bodyPr vert="horz" wrap="none" lIns="0" tIns="0" rIns="0" bIns="0" rtlCol="0" anchor="ctr"/>
          <a:lstStyle/>
          <a:p>
            <a:pPr marL="0" indent="0" algn="l">
              <a:buNone/>
            </a:pPr>
            <a:r>
              <a:rPr lang="en-US" sz="1200" dirty="0">
                <a:solidFill>
                  <a:srgbClr val="666666"/>
                </a:solidFill>
                <a:latin typeface="Times New Roman" panose="02020603050405020304" pitchFamily="18" charset="0"/>
                <a:ea typeface="Roboto" pitchFamily="34" charset="-122"/>
                <a:cs typeface="Times New Roman" panose="02020603050405020304" pitchFamily="18" charset="0"/>
              </a:rPr>
              <a:t>Ponderile softmax wi = exp(d) / Σj exp(d)</a:t>
            </a:r>
            <a:endParaRPr lang="en-US" sz="1200" dirty="0">
              <a:latin typeface="Times New Roman" panose="02020603050405020304" pitchFamily="18" charset="0"/>
              <a:cs typeface="Times New Roman" panose="02020603050405020304" pitchFamily="18" charset="0"/>
            </a:endParaRPr>
          </a:p>
        </p:txBody>
      </p:sp>
      <p:sp>
        <p:nvSpPr>
          <p:cNvPr id="32" name="SK-4-text-31"/>
          <p:cNvSpPr/>
          <p:nvPr/>
        </p:nvSpPr>
        <p:spPr>
          <a:xfrm>
            <a:off x="4011067" y="2167086"/>
            <a:ext cx="3295650" cy="219373"/>
          </a:xfrm>
          <a:prstGeom prst="rect">
            <a:avLst/>
          </a:prstGeom>
          <a:noFill/>
          <a:ln/>
        </p:spPr>
        <p:txBody>
          <a:bodyPr vert="horz" wrap="none" lIns="0" tIns="0" rIns="0" bIns="0" rtlCol="0" anchor="ctr"/>
          <a:lstStyle/>
          <a:p>
            <a:pPr marL="0" indent="0" algn="l">
              <a:buNone/>
            </a:pPr>
            <a:r>
              <a:rPr lang="en-US" sz="1500" b="1" dirty="0">
                <a:solidFill>
                  <a:srgbClr val="001D3D"/>
                </a:solidFill>
                <a:latin typeface="Times New Roman" panose="02020603050405020304" pitchFamily="18" charset="0"/>
                <a:ea typeface="Roboto" pitchFamily="34" charset="-122"/>
                <a:cs typeface="Times New Roman" panose="02020603050405020304" pitchFamily="18" charset="0"/>
              </a:rPr>
              <a:t>Hard shrinkage</a:t>
            </a:r>
            <a:endParaRPr lang="en-US" sz="1500" dirty="0">
              <a:latin typeface="Times New Roman" panose="02020603050405020304" pitchFamily="18" charset="0"/>
              <a:cs typeface="Times New Roman" panose="02020603050405020304" pitchFamily="18" charset="0"/>
            </a:endParaRPr>
          </a:p>
        </p:txBody>
      </p:sp>
      <p:sp>
        <p:nvSpPr>
          <p:cNvPr id="33" name="SK-4-text-32"/>
          <p:cNvSpPr/>
          <p:nvPr/>
        </p:nvSpPr>
        <p:spPr>
          <a:xfrm>
            <a:off x="3998863" y="2475607"/>
            <a:ext cx="2487067" cy="397669"/>
          </a:xfrm>
          <a:prstGeom prst="rect">
            <a:avLst/>
          </a:prstGeom>
          <a:noFill/>
          <a:ln/>
        </p:spPr>
        <p:txBody>
          <a:bodyPr vert="horz" wrap="none" lIns="0" tIns="0" rIns="0" bIns="0" rtlCol="0" anchor="ctr"/>
          <a:lstStyle/>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Elimină ponderile mici — activează</a:t>
            </a:r>
            <a:endParaRPr lang="en-US" sz="1350" dirty="0">
              <a:latin typeface="Times New Roman" panose="02020603050405020304" pitchFamily="18" charset="0"/>
              <a:cs typeface="Times New Roman" panose="02020603050405020304" pitchFamily="18" charset="0"/>
            </a:endParaRP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doar slot-urile cele mai relevante:</a:t>
            </a:r>
            <a:endParaRPr lang="en-US" sz="1350" dirty="0">
              <a:latin typeface="Times New Roman" panose="02020603050405020304" pitchFamily="18" charset="0"/>
              <a:cs typeface="Times New Roman" panose="02020603050405020304" pitchFamily="18" charset="0"/>
            </a:endParaRPr>
          </a:p>
        </p:txBody>
      </p:sp>
      <p:sp>
        <p:nvSpPr>
          <p:cNvPr id="34" name="SK-4-text-33"/>
          <p:cNvSpPr/>
          <p:nvPr/>
        </p:nvSpPr>
        <p:spPr>
          <a:xfrm>
            <a:off x="4011067" y="3840361"/>
            <a:ext cx="5989320" cy="185142"/>
          </a:xfrm>
          <a:prstGeom prst="rect">
            <a:avLst/>
          </a:prstGeom>
          <a:noFill/>
          <a:ln/>
        </p:spPr>
        <p:txBody>
          <a:bodyPr vert="horz" wrap="none" lIns="0" tIns="0" rIns="0" bIns="0" rtlCol="0" anchor="ctr"/>
          <a:lstStyle/>
          <a:p>
            <a:pPr marL="0" indent="0" algn="l">
              <a:buNone/>
            </a:pPr>
            <a:r>
              <a:rPr lang="en-US" sz="1200" dirty="0">
                <a:solidFill>
                  <a:srgbClr val="666666"/>
                </a:solidFill>
                <a:latin typeface="Times New Roman" panose="02020603050405020304" pitchFamily="18" charset="0"/>
                <a:ea typeface="Roboto" pitchFamily="34" charset="-122"/>
                <a:cs typeface="Times New Roman" panose="02020603050405020304" pitchFamily="18" charset="0"/>
              </a:rPr>
              <a:t>λ ∈ [1/N, 3/N] · Renormalizare:</a:t>
            </a:r>
            <a:endParaRPr lang="en-US" sz="1200" dirty="0">
              <a:latin typeface="Times New Roman" panose="02020603050405020304" pitchFamily="18" charset="0"/>
              <a:cs typeface="Times New Roman" panose="02020603050405020304" pitchFamily="18" charset="0"/>
            </a:endParaRPr>
          </a:p>
        </p:txBody>
      </p:sp>
      <p:sp>
        <p:nvSpPr>
          <p:cNvPr id="35" name="SK-4-text-34"/>
          <p:cNvSpPr/>
          <p:nvPr/>
        </p:nvSpPr>
        <p:spPr>
          <a:xfrm>
            <a:off x="8351490" y="1371600"/>
            <a:ext cx="3840510" cy="185142"/>
          </a:xfrm>
          <a:prstGeom prst="rect">
            <a:avLst/>
          </a:prstGeom>
          <a:noFill/>
          <a:ln/>
        </p:spPr>
        <p:txBody>
          <a:bodyPr vert="horz" wrap="none" lIns="0" tIns="0" rIns="0" bIns="0" rtlCol="0" anchor="ctr"/>
          <a:lstStyle/>
          <a:p>
            <a:pPr marL="0" indent="0" algn="l">
              <a:buNone/>
            </a:pPr>
            <a:r>
              <a:rPr lang="en-US" sz="1200" dirty="0">
                <a:solidFill>
                  <a:srgbClr val="000000"/>
                </a:solidFill>
                <a:latin typeface="Times New Roman" panose="02020603050405020304" pitchFamily="18" charset="0"/>
                <a:ea typeface="Roboto" pitchFamily="34" charset="-122"/>
                <a:cs typeface="Times New Roman" panose="02020603050405020304" pitchFamily="18" charset="0"/>
              </a:rPr>
              <a:t>Slot-uri de memorie (N)</a:t>
            </a:r>
            <a:endParaRPr lang="en-US" sz="1200" dirty="0">
              <a:latin typeface="Times New Roman" panose="02020603050405020304" pitchFamily="18" charset="0"/>
              <a:cs typeface="Times New Roman" panose="02020603050405020304" pitchFamily="18" charset="0"/>
            </a:endParaRPr>
          </a:p>
        </p:txBody>
      </p:sp>
      <p:sp>
        <p:nvSpPr>
          <p:cNvPr id="36" name="SK-4-text-35"/>
          <p:cNvSpPr/>
          <p:nvPr/>
        </p:nvSpPr>
        <p:spPr>
          <a:xfrm>
            <a:off x="1475184" y="5177730"/>
            <a:ext cx="5229225" cy="219373"/>
          </a:xfrm>
          <a:prstGeom prst="rect">
            <a:avLst/>
          </a:prstGeom>
          <a:noFill/>
          <a:ln/>
        </p:spPr>
        <p:txBody>
          <a:bodyPr vert="horz" wrap="none" lIns="0" tIns="0" rIns="0" bIns="0" rtlCol="0" anchor="ctr"/>
          <a:lstStyle/>
          <a:p>
            <a:pPr marL="0" indent="0" algn="l">
              <a:buNone/>
            </a:pPr>
            <a:r>
              <a:rPr lang="en-US" sz="1350" b="1" dirty="0">
                <a:solidFill>
                  <a:srgbClr val="001D3D"/>
                </a:solidFill>
                <a:latin typeface="Times New Roman" panose="02020603050405020304" pitchFamily="18" charset="0"/>
                <a:ea typeface="Roboto" pitchFamily="34" charset="-122"/>
                <a:cs typeface="Times New Roman" panose="02020603050405020304" pitchFamily="18" charset="0"/>
              </a:rPr>
              <a:t>Memorie </a:t>
            </a:r>
            <a:r>
              <a:rPr lang="ro-RO" sz="1350" b="1" dirty="0">
                <a:solidFill>
                  <a:srgbClr val="001D3D"/>
                </a:solidFill>
                <a:latin typeface="Times New Roman" panose="02020603050405020304" pitchFamily="18" charset="0"/>
                <a:ea typeface="Roboto" pitchFamily="34" charset="-122"/>
                <a:cs typeface="Times New Roman" panose="02020603050405020304" pitchFamily="18" charset="0"/>
              </a:rPr>
              <a:t>î</a:t>
            </a:r>
            <a:r>
              <a:rPr lang="en-US" sz="1350" b="1" dirty="0" err="1">
                <a:solidFill>
                  <a:srgbClr val="001D3D"/>
                </a:solidFill>
                <a:latin typeface="Times New Roman" panose="02020603050405020304" pitchFamily="18" charset="0"/>
                <a:ea typeface="Roboto" pitchFamily="34" charset="-122"/>
                <a:cs typeface="Times New Roman" panose="02020603050405020304" pitchFamily="18" charset="0"/>
              </a:rPr>
              <a:t>nghețată</a:t>
            </a:r>
            <a:r>
              <a:rPr lang="en-US" sz="1350" b="1" dirty="0">
                <a:solidFill>
                  <a:srgbClr val="001D3D"/>
                </a:solidFill>
                <a:latin typeface="Times New Roman" panose="02020603050405020304" pitchFamily="18" charset="0"/>
                <a:ea typeface="Roboto" pitchFamily="34" charset="-122"/>
                <a:cs typeface="Times New Roman" panose="02020603050405020304" pitchFamily="18" charset="0"/>
              </a:rPr>
              <a:t> la </a:t>
            </a:r>
            <a:r>
              <a:rPr lang="ro-RO" sz="1350" b="1" dirty="0">
                <a:solidFill>
                  <a:srgbClr val="001D3D"/>
                </a:solidFill>
                <a:latin typeface="Times New Roman" panose="02020603050405020304" pitchFamily="18" charset="0"/>
                <a:ea typeface="Roboto" pitchFamily="34" charset="-122"/>
                <a:cs typeface="Times New Roman" panose="02020603050405020304" pitchFamily="18" charset="0"/>
              </a:rPr>
              <a:t>t</a:t>
            </a:r>
            <a:r>
              <a:rPr lang="en-US" sz="1350" b="1" dirty="0">
                <a:solidFill>
                  <a:srgbClr val="001D3D"/>
                </a:solidFill>
                <a:latin typeface="Times New Roman" panose="02020603050405020304" pitchFamily="18" charset="0"/>
                <a:ea typeface="Roboto" pitchFamily="34" charset="-122"/>
                <a:cs typeface="Times New Roman" panose="02020603050405020304" pitchFamily="18" charset="0"/>
              </a:rPr>
              <a:t>est</a:t>
            </a:r>
            <a:endParaRPr lang="en-US" sz="1350" dirty="0">
              <a:latin typeface="Times New Roman" panose="02020603050405020304" pitchFamily="18" charset="0"/>
              <a:cs typeface="Times New Roman" panose="02020603050405020304" pitchFamily="18" charset="0"/>
            </a:endParaRPr>
          </a:p>
        </p:txBody>
      </p:sp>
      <p:sp>
        <p:nvSpPr>
          <p:cNvPr id="37" name="SK-4-text-36"/>
          <p:cNvSpPr/>
          <p:nvPr/>
        </p:nvSpPr>
        <p:spPr>
          <a:xfrm>
            <a:off x="1475184" y="5513784"/>
            <a:ext cx="2109192" cy="397669"/>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Slot-urile nu se actualizează —</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anomaliile nu pot fi memorate</a:t>
            </a:r>
            <a:endParaRPr lang="en-US" sz="1200" dirty="0">
              <a:latin typeface="Times New Roman" panose="02020603050405020304" pitchFamily="18" charset="0"/>
              <a:cs typeface="Times New Roman" panose="02020603050405020304" pitchFamily="18" charset="0"/>
            </a:endParaRPr>
          </a:p>
        </p:txBody>
      </p:sp>
      <p:sp>
        <p:nvSpPr>
          <p:cNvPr id="38" name="SK-4-text-37"/>
          <p:cNvSpPr/>
          <p:nvPr/>
        </p:nvSpPr>
        <p:spPr>
          <a:xfrm>
            <a:off x="5071765" y="5177730"/>
            <a:ext cx="6257925" cy="198834"/>
          </a:xfrm>
          <a:prstGeom prst="rect">
            <a:avLst/>
          </a:prstGeom>
          <a:noFill/>
          <a:ln/>
        </p:spPr>
        <p:txBody>
          <a:bodyPr vert="horz" wrap="none" lIns="0" tIns="0" rIns="0" bIns="0" rtlCol="0" anchor="ctr"/>
          <a:lstStyle/>
          <a:p>
            <a:pPr marL="0" indent="0" algn="l">
              <a:buNone/>
            </a:pPr>
            <a:r>
              <a:rPr lang="en-US" sz="1350" b="1" dirty="0" err="1">
                <a:solidFill>
                  <a:srgbClr val="001D3D"/>
                </a:solidFill>
                <a:latin typeface="Times New Roman" panose="02020603050405020304" pitchFamily="18" charset="0"/>
                <a:ea typeface="Roboto" pitchFamily="34" charset="-122"/>
                <a:cs typeface="Times New Roman" panose="02020603050405020304" pitchFamily="18" charset="0"/>
              </a:rPr>
              <a:t>Adresare</a:t>
            </a:r>
            <a:r>
              <a:rPr lang="en-US" sz="1350" b="1" dirty="0">
                <a:solidFill>
                  <a:srgbClr val="001D3D"/>
                </a:solidFill>
                <a:latin typeface="Times New Roman" panose="02020603050405020304" pitchFamily="18" charset="0"/>
                <a:ea typeface="Roboto" pitchFamily="34" charset="-122"/>
                <a:cs typeface="Times New Roman" panose="02020603050405020304" pitchFamily="18" charset="0"/>
              </a:rPr>
              <a:t> </a:t>
            </a:r>
            <a:r>
              <a:rPr lang="en-US" sz="1350" b="1" dirty="0" err="1">
                <a:solidFill>
                  <a:srgbClr val="001D3D"/>
                </a:solidFill>
                <a:latin typeface="Times New Roman" panose="02020603050405020304" pitchFamily="18" charset="0"/>
                <a:ea typeface="Roboto" pitchFamily="34" charset="-122"/>
                <a:cs typeface="Times New Roman" panose="02020603050405020304" pitchFamily="18" charset="0"/>
              </a:rPr>
              <a:t>sparsă</a:t>
            </a:r>
            <a:r>
              <a:rPr lang="en-US" sz="1350" b="1" dirty="0">
                <a:solidFill>
                  <a:srgbClr val="001D3D"/>
                </a:solidFill>
                <a:latin typeface="Times New Roman" panose="02020603050405020304" pitchFamily="18" charset="0"/>
                <a:ea typeface="Roboto" pitchFamily="34" charset="-122"/>
                <a:cs typeface="Times New Roman" panose="02020603050405020304" pitchFamily="18" charset="0"/>
              </a:rPr>
              <a:t> = Discriminare</a:t>
            </a:r>
            <a:endParaRPr lang="en-US" sz="1350" dirty="0">
              <a:latin typeface="Times New Roman" panose="02020603050405020304" pitchFamily="18" charset="0"/>
              <a:cs typeface="Times New Roman" panose="02020603050405020304" pitchFamily="18" charset="0"/>
            </a:endParaRPr>
          </a:p>
        </p:txBody>
      </p:sp>
      <p:sp>
        <p:nvSpPr>
          <p:cNvPr id="39" name="SK-4-text-38"/>
          <p:cNvSpPr/>
          <p:nvPr/>
        </p:nvSpPr>
        <p:spPr>
          <a:xfrm>
            <a:off x="5071765" y="5500092"/>
            <a:ext cx="2438400" cy="404515"/>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Anomaliile activează slot-uri</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greșite → reconstrucție divergentă</a:t>
            </a:r>
            <a:endParaRPr lang="en-US" sz="1200" dirty="0">
              <a:latin typeface="Times New Roman" panose="02020603050405020304" pitchFamily="18" charset="0"/>
              <a:cs typeface="Times New Roman" panose="02020603050405020304" pitchFamily="18" charset="0"/>
            </a:endParaRPr>
          </a:p>
        </p:txBody>
      </p:sp>
      <p:sp>
        <p:nvSpPr>
          <p:cNvPr id="40" name="SK-4-text-39"/>
          <p:cNvSpPr/>
          <p:nvPr/>
        </p:nvSpPr>
        <p:spPr>
          <a:xfrm>
            <a:off x="9082980" y="5177730"/>
            <a:ext cx="3109020" cy="198834"/>
          </a:xfrm>
          <a:prstGeom prst="rect">
            <a:avLst/>
          </a:prstGeom>
          <a:noFill/>
          <a:ln/>
        </p:spPr>
        <p:txBody>
          <a:bodyPr vert="horz" wrap="none" lIns="0" tIns="0" rIns="0" bIns="0" rtlCol="0" anchor="ctr"/>
          <a:lstStyle/>
          <a:p>
            <a:pPr marL="0" indent="0" algn="l">
              <a:buNone/>
            </a:pPr>
            <a:r>
              <a:rPr lang="en-US" sz="1350" b="1" dirty="0" err="1">
                <a:solidFill>
                  <a:srgbClr val="001D3D"/>
                </a:solidFill>
                <a:latin typeface="Times New Roman" panose="02020603050405020304" pitchFamily="18" charset="0"/>
                <a:ea typeface="Roboto" pitchFamily="34" charset="-122"/>
                <a:cs typeface="Times New Roman" panose="02020603050405020304" pitchFamily="18" charset="0"/>
              </a:rPr>
              <a:t>Sparsitate</a:t>
            </a:r>
            <a:r>
              <a:rPr lang="en-US" sz="1350" b="1" dirty="0">
                <a:solidFill>
                  <a:srgbClr val="001D3D"/>
                </a:solidFill>
                <a:latin typeface="Times New Roman" panose="02020603050405020304" pitchFamily="18" charset="0"/>
                <a:ea typeface="Roboto" pitchFamily="34" charset="-122"/>
                <a:cs typeface="Times New Roman" panose="02020603050405020304" pitchFamily="18" charset="0"/>
              </a:rPr>
              <a:t> </a:t>
            </a:r>
            <a:r>
              <a:rPr lang="en-US" sz="1350" b="1" dirty="0" err="1">
                <a:solidFill>
                  <a:srgbClr val="001D3D"/>
                </a:solidFill>
                <a:latin typeface="Times New Roman" panose="02020603050405020304" pitchFamily="18" charset="0"/>
                <a:ea typeface="Roboto" pitchFamily="34" charset="-122"/>
                <a:cs typeface="Times New Roman" panose="02020603050405020304" pitchFamily="18" charset="0"/>
              </a:rPr>
              <a:t>dublă</a:t>
            </a:r>
            <a:endParaRPr lang="en-US" sz="1350" dirty="0">
              <a:latin typeface="Times New Roman" panose="02020603050405020304" pitchFamily="18" charset="0"/>
              <a:cs typeface="Times New Roman" panose="02020603050405020304" pitchFamily="18" charset="0"/>
            </a:endParaRPr>
          </a:p>
        </p:txBody>
      </p:sp>
      <p:sp>
        <p:nvSpPr>
          <p:cNvPr id="41" name="SK-4-text-40"/>
          <p:cNvSpPr/>
          <p:nvPr/>
        </p:nvSpPr>
        <p:spPr>
          <a:xfrm>
            <a:off x="9070777" y="5493246"/>
            <a:ext cx="2133600" cy="603498"/>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Hard shrinkage + Entropy loss</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acționează complementar în</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antrenare</a:t>
            </a:r>
            <a:endParaRPr lang="en-US" sz="1200" dirty="0">
              <a:latin typeface="Times New Roman" panose="02020603050405020304" pitchFamily="18" charset="0"/>
              <a:cs typeface="Times New Roman" panose="02020603050405020304" pitchFamily="18" charset="0"/>
            </a:endParaRPr>
          </a:p>
        </p:txBody>
      </p:sp>
      <p:pic>
        <p:nvPicPr>
          <p:cNvPr id="44" name="SK-2-img-4" descr="preencoded.png">
            <a:extLst>
              <a:ext uri="{FF2B5EF4-FFF2-40B4-BE49-F238E27FC236}">
                <a16:creationId xmlns:a16="http://schemas.microsoft.com/office/drawing/2014/main" id="{1B4A5780-3517-4281-8F2F-FB92EFFBE564}"/>
              </a:ext>
            </a:extLst>
          </p:cNvPr>
          <p:cNvPicPr>
            <a:picLocks noChangeAspect="1"/>
          </p:cNvPicPr>
          <p:nvPr/>
        </p:nvPicPr>
        <p:blipFill>
          <a:blip r:embed="rId27"/>
          <a:stretch>
            <a:fillRect/>
          </a:stretch>
        </p:blipFill>
        <p:spPr>
          <a:xfrm>
            <a:off x="444921" y="949859"/>
            <a:ext cx="792361" cy="959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K-4-img-2" descr="preencoded.png"/>
          <p:cNvPicPr>
            <a:picLocks noChangeAspect="1"/>
          </p:cNvPicPr>
          <p:nvPr/>
        </p:nvPicPr>
        <p:blipFill>
          <a:blip r:embed="rId3"/>
          <a:stretch>
            <a:fillRect/>
          </a:stretch>
        </p:blipFill>
        <p:spPr>
          <a:xfrm>
            <a:off x="0" y="0"/>
            <a:ext cx="146298" cy="6858000"/>
          </a:xfrm>
          <a:prstGeom prst="rect">
            <a:avLst/>
          </a:prstGeom>
        </p:spPr>
      </p:pic>
      <p:pic>
        <p:nvPicPr>
          <p:cNvPr id="5" name="SK-4-img-4" descr="preencoded.png"/>
          <p:cNvPicPr>
            <a:picLocks noChangeAspect="1"/>
          </p:cNvPicPr>
          <p:nvPr/>
        </p:nvPicPr>
        <p:blipFill>
          <a:blip r:embed="rId4"/>
          <a:stretch>
            <a:fillRect/>
          </a:stretch>
        </p:blipFill>
        <p:spPr>
          <a:xfrm>
            <a:off x="414485" y="1419524"/>
            <a:ext cx="4162195" cy="2577468"/>
          </a:xfrm>
          <a:prstGeom prst="rect">
            <a:avLst/>
          </a:prstGeom>
        </p:spPr>
      </p:pic>
      <p:pic>
        <p:nvPicPr>
          <p:cNvPr id="6" name="SK-4-img-5" descr="preencoded.png"/>
          <p:cNvPicPr>
            <a:picLocks noChangeAspect="1"/>
          </p:cNvPicPr>
          <p:nvPr/>
        </p:nvPicPr>
        <p:blipFill>
          <a:blip r:embed="rId5"/>
          <a:stretch>
            <a:fillRect/>
          </a:stretch>
        </p:blipFill>
        <p:spPr>
          <a:xfrm>
            <a:off x="414486" y="1419523"/>
            <a:ext cx="51643" cy="2577469"/>
          </a:xfrm>
          <a:prstGeom prst="rect">
            <a:avLst/>
          </a:prstGeom>
        </p:spPr>
      </p:pic>
      <p:pic>
        <p:nvPicPr>
          <p:cNvPr id="7" name="SK-4-img-6" descr="preencoded.png"/>
          <p:cNvPicPr>
            <a:picLocks noChangeAspect="1"/>
          </p:cNvPicPr>
          <p:nvPr/>
        </p:nvPicPr>
        <p:blipFill>
          <a:blip r:embed="rId6"/>
          <a:stretch>
            <a:fillRect/>
          </a:stretch>
        </p:blipFill>
        <p:spPr>
          <a:xfrm>
            <a:off x="6014153" y="1426369"/>
            <a:ext cx="5836285" cy="2570623"/>
          </a:xfrm>
          <a:prstGeom prst="rect">
            <a:avLst/>
          </a:prstGeom>
        </p:spPr>
      </p:pic>
      <p:pic>
        <p:nvPicPr>
          <p:cNvPr id="8" name="SK-4-img-7" descr="preencoded.png"/>
          <p:cNvPicPr>
            <a:picLocks noChangeAspect="1"/>
          </p:cNvPicPr>
          <p:nvPr/>
        </p:nvPicPr>
        <p:blipFill>
          <a:blip r:embed="rId7"/>
          <a:stretch>
            <a:fillRect/>
          </a:stretch>
        </p:blipFill>
        <p:spPr>
          <a:xfrm flipH="1">
            <a:off x="5923865" y="1419523"/>
            <a:ext cx="51642" cy="2577416"/>
          </a:xfrm>
          <a:prstGeom prst="rect">
            <a:avLst/>
          </a:prstGeom>
        </p:spPr>
      </p:pic>
      <p:pic>
        <p:nvPicPr>
          <p:cNvPr id="9" name="SK-4-img-8" descr="preencoded.png"/>
          <p:cNvPicPr>
            <a:picLocks noChangeAspect="1"/>
          </p:cNvPicPr>
          <p:nvPr/>
        </p:nvPicPr>
        <p:blipFill>
          <a:blip r:embed="rId8"/>
          <a:stretch>
            <a:fillRect/>
          </a:stretch>
        </p:blipFill>
        <p:spPr>
          <a:xfrm>
            <a:off x="3770027" y="4216835"/>
            <a:ext cx="4307676" cy="2408259"/>
          </a:xfrm>
          <a:prstGeom prst="rect">
            <a:avLst/>
          </a:prstGeom>
        </p:spPr>
      </p:pic>
      <p:pic>
        <p:nvPicPr>
          <p:cNvPr id="10" name="SK-4-img-9" descr="preencoded.png"/>
          <p:cNvPicPr>
            <a:picLocks noChangeAspect="1"/>
          </p:cNvPicPr>
          <p:nvPr/>
        </p:nvPicPr>
        <p:blipFill>
          <a:blip r:embed="rId9"/>
          <a:stretch>
            <a:fillRect/>
          </a:stretch>
        </p:blipFill>
        <p:spPr>
          <a:xfrm>
            <a:off x="440307" y="4027524"/>
            <a:ext cx="11362879" cy="9525"/>
          </a:xfrm>
          <a:prstGeom prst="rect">
            <a:avLst/>
          </a:prstGeom>
        </p:spPr>
      </p:pic>
      <p:pic>
        <p:nvPicPr>
          <p:cNvPr id="16" name="SK-4-img-15" descr="preencoded.png"/>
          <p:cNvPicPr>
            <a:picLocks noChangeAspect="1"/>
          </p:cNvPicPr>
          <p:nvPr/>
        </p:nvPicPr>
        <p:blipFill>
          <a:blip r:embed="rId10"/>
          <a:stretch>
            <a:fillRect/>
          </a:stretch>
        </p:blipFill>
        <p:spPr>
          <a:xfrm>
            <a:off x="10363200" y="5486400"/>
            <a:ext cx="1828800" cy="1371600"/>
          </a:xfrm>
          <a:prstGeom prst="rect">
            <a:avLst/>
          </a:prstGeom>
        </p:spPr>
      </p:pic>
      <p:pic>
        <p:nvPicPr>
          <p:cNvPr id="23" name="SK-4-img-22" descr="preencoded.png"/>
          <p:cNvPicPr>
            <a:picLocks noChangeAspect="1"/>
          </p:cNvPicPr>
          <p:nvPr/>
        </p:nvPicPr>
        <p:blipFill>
          <a:blip r:embed="rId11"/>
          <a:stretch>
            <a:fillRect/>
          </a:stretch>
        </p:blipFill>
        <p:spPr>
          <a:xfrm>
            <a:off x="6290965" y="1625203"/>
            <a:ext cx="451098" cy="397669"/>
          </a:xfrm>
          <a:prstGeom prst="rect">
            <a:avLst/>
          </a:prstGeom>
        </p:spPr>
      </p:pic>
      <p:pic>
        <p:nvPicPr>
          <p:cNvPr id="26" name="SK-4-img-25" descr="preencoded.png"/>
          <p:cNvPicPr>
            <a:picLocks noChangeAspect="1"/>
          </p:cNvPicPr>
          <p:nvPr/>
        </p:nvPicPr>
        <p:blipFill>
          <a:blip r:embed="rId12"/>
          <a:stretch>
            <a:fillRect/>
          </a:stretch>
        </p:blipFill>
        <p:spPr>
          <a:xfrm>
            <a:off x="658267" y="1625203"/>
            <a:ext cx="609600" cy="404515"/>
          </a:xfrm>
          <a:prstGeom prst="rect">
            <a:avLst/>
          </a:prstGeom>
        </p:spPr>
      </p:pic>
      <p:sp>
        <p:nvSpPr>
          <p:cNvPr id="27" name="SK-4-text-26"/>
          <p:cNvSpPr/>
          <p:nvPr/>
        </p:nvSpPr>
        <p:spPr>
          <a:xfrm>
            <a:off x="426690" y="246757"/>
            <a:ext cx="6533197" cy="191988"/>
          </a:xfrm>
          <a:prstGeom prst="rect">
            <a:avLst/>
          </a:prstGeom>
          <a:noFill/>
          <a:ln/>
        </p:spPr>
        <p:txBody>
          <a:bodyPr vert="horz" wrap="none" lIns="0" tIns="0" rIns="0" bIns="0" rtlCol="0" anchor="ctr"/>
          <a:lstStyle/>
          <a:p>
            <a:pPr marL="0" indent="0" algn="l">
              <a:buNone/>
            </a:pPr>
            <a:r>
              <a:rPr lang="en-US" sz="1500" dirty="0">
                <a:solidFill>
                  <a:srgbClr val="999999"/>
                </a:solidFill>
                <a:latin typeface="Times New Roman" panose="02020603050405020304" pitchFamily="18" charset="0"/>
                <a:ea typeface="Roboto" pitchFamily="34" charset="-122"/>
                <a:cs typeface="Times New Roman" panose="02020603050405020304" pitchFamily="18" charset="0"/>
              </a:rPr>
              <a:t>05 / 11 · </a:t>
            </a:r>
            <a:r>
              <a:rPr lang="en-US" sz="1500" dirty="0" err="1">
                <a:solidFill>
                  <a:srgbClr val="999999"/>
                </a:solidFill>
                <a:latin typeface="Times New Roman" panose="02020603050405020304" pitchFamily="18" charset="0"/>
                <a:ea typeface="Roboto" pitchFamily="34" charset="-122"/>
                <a:cs typeface="Times New Roman" panose="02020603050405020304" pitchFamily="18" charset="0"/>
              </a:rPr>
              <a:t>Punctul</a:t>
            </a:r>
            <a:r>
              <a:rPr lang="en-US" sz="1500" dirty="0">
                <a:solidFill>
                  <a:srgbClr val="999999"/>
                </a:solidFill>
                <a:latin typeface="Times New Roman" panose="02020603050405020304" pitchFamily="18" charset="0"/>
                <a:ea typeface="Roboto" pitchFamily="34" charset="-122"/>
                <a:cs typeface="Times New Roman" panose="02020603050405020304" pitchFamily="18" charset="0"/>
              </a:rPr>
              <a:t> slab pe care </a:t>
            </a:r>
            <a:r>
              <a:rPr lang="en-US" sz="1500" dirty="0" err="1">
                <a:solidFill>
                  <a:srgbClr val="999999"/>
                </a:solidFill>
                <a:latin typeface="Times New Roman" panose="02020603050405020304" pitchFamily="18" charset="0"/>
                <a:ea typeface="Roboto" pitchFamily="34" charset="-122"/>
                <a:cs typeface="Times New Roman" panose="02020603050405020304" pitchFamily="18" charset="0"/>
              </a:rPr>
              <a:t>îl</a:t>
            </a:r>
            <a:r>
              <a:rPr lang="en-US" sz="1500" dirty="0">
                <a:solidFill>
                  <a:srgbClr val="999999"/>
                </a:solidFill>
                <a:latin typeface="Times New Roman" panose="02020603050405020304" pitchFamily="18" charset="0"/>
                <a:ea typeface="Roboto" pitchFamily="34" charset="-122"/>
                <a:cs typeface="Times New Roman" panose="02020603050405020304" pitchFamily="18" charset="0"/>
              </a:rPr>
              <a:t> </a:t>
            </a:r>
            <a:r>
              <a:rPr lang="en-US" sz="1500" dirty="0" err="1">
                <a:solidFill>
                  <a:srgbClr val="999999"/>
                </a:solidFill>
                <a:latin typeface="Times New Roman" panose="02020603050405020304" pitchFamily="18" charset="0"/>
                <a:ea typeface="Roboto" pitchFamily="34" charset="-122"/>
                <a:cs typeface="Times New Roman" panose="02020603050405020304" pitchFamily="18" charset="0"/>
              </a:rPr>
              <a:t>atacă</a:t>
            </a:r>
            <a:r>
              <a:rPr lang="en-US" sz="1500" dirty="0">
                <a:solidFill>
                  <a:srgbClr val="999999"/>
                </a:solidFill>
                <a:latin typeface="Times New Roman" panose="02020603050405020304" pitchFamily="18" charset="0"/>
                <a:ea typeface="Roboto" pitchFamily="34" charset="-122"/>
                <a:cs typeface="Times New Roman" panose="02020603050405020304" pitchFamily="18" charset="0"/>
              </a:rPr>
              <a:t> </a:t>
            </a:r>
            <a:r>
              <a:rPr lang="en-US" sz="1500" dirty="0" err="1">
                <a:solidFill>
                  <a:srgbClr val="999999"/>
                </a:solidFill>
                <a:latin typeface="Times New Roman" panose="02020603050405020304" pitchFamily="18" charset="0"/>
                <a:ea typeface="Roboto" pitchFamily="34" charset="-122"/>
                <a:cs typeface="Times New Roman" panose="02020603050405020304" pitchFamily="18" charset="0"/>
              </a:rPr>
              <a:t>articolul</a:t>
            </a:r>
            <a:endParaRPr lang="en-US" sz="1500" dirty="0">
              <a:solidFill>
                <a:srgbClr val="999999"/>
              </a:solidFill>
              <a:latin typeface="Times New Roman" panose="02020603050405020304" pitchFamily="18" charset="0"/>
              <a:ea typeface="Roboto" pitchFamily="34" charset="-122"/>
              <a:cs typeface="Times New Roman" panose="02020603050405020304" pitchFamily="18" charset="0"/>
            </a:endParaRPr>
          </a:p>
          <a:p>
            <a:pPr marL="0" indent="0" algn="l">
              <a:buNone/>
            </a:pPr>
            <a:endParaRPr lang="en-US" sz="1500" dirty="0">
              <a:latin typeface="Times New Roman" panose="02020603050405020304" pitchFamily="18" charset="0"/>
              <a:cs typeface="Times New Roman" panose="02020603050405020304" pitchFamily="18" charset="0"/>
            </a:endParaRPr>
          </a:p>
        </p:txBody>
      </p:sp>
      <p:sp>
        <p:nvSpPr>
          <p:cNvPr id="28" name="SK-4-text-27"/>
          <p:cNvSpPr/>
          <p:nvPr/>
        </p:nvSpPr>
        <p:spPr>
          <a:xfrm>
            <a:off x="402208" y="706190"/>
            <a:ext cx="11777514" cy="342900"/>
          </a:xfrm>
          <a:prstGeom prst="rect">
            <a:avLst/>
          </a:prstGeom>
          <a:noFill/>
          <a:ln/>
        </p:spPr>
        <p:txBody>
          <a:bodyPr vert="horz" wrap="none" lIns="0" tIns="0" rIns="0" bIns="0" rtlCol="0" anchor="ctr"/>
          <a:lstStyle/>
          <a:p>
            <a:pPr marL="0" indent="0" algn="l">
              <a:buNone/>
            </a:pPr>
            <a:r>
              <a:rPr lang="en-US" sz="3000" b="1" dirty="0" err="1">
                <a:solidFill>
                  <a:srgbClr val="001D3D"/>
                </a:solidFill>
                <a:latin typeface="Times New Roman" panose="02020603050405020304" pitchFamily="18" charset="0"/>
                <a:ea typeface="Roboto" pitchFamily="34" charset="-122"/>
                <a:cs typeface="Times New Roman" panose="02020603050405020304" pitchFamily="18" charset="0"/>
              </a:rPr>
              <a:t>Limitarea</a:t>
            </a:r>
            <a:r>
              <a:rPr lang="en-US" sz="3000" b="1" dirty="0">
                <a:solidFill>
                  <a:srgbClr val="001D3D"/>
                </a:solidFill>
                <a:latin typeface="Times New Roman" panose="02020603050405020304" pitchFamily="18" charset="0"/>
                <a:ea typeface="Roboto" pitchFamily="34" charset="-122"/>
                <a:cs typeface="Times New Roman" panose="02020603050405020304" pitchFamily="18" charset="0"/>
              </a:rPr>
              <a:t> AE: „</a:t>
            </a:r>
            <a:r>
              <a:rPr lang="en-US" sz="3000" b="1" dirty="0" err="1">
                <a:solidFill>
                  <a:srgbClr val="001D3D"/>
                </a:solidFill>
                <a:latin typeface="Times New Roman" panose="02020603050405020304" pitchFamily="18" charset="0"/>
                <a:ea typeface="Roboto" pitchFamily="34" charset="-122"/>
                <a:cs typeface="Times New Roman" panose="02020603050405020304" pitchFamily="18" charset="0"/>
              </a:rPr>
              <a:t>prea</a:t>
            </a:r>
            <a:r>
              <a:rPr lang="en-US" sz="3000" b="1" dirty="0">
                <a:solidFill>
                  <a:srgbClr val="001D3D"/>
                </a:solidFill>
                <a:latin typeface="Times New Roman" panose="02020603050405020304" pitchFamily="18" charset="0"/>
                <a:ea typeface="Roboto" pitchFamily="34" charset="-122"/>
                <a:cs typeface="Times New Roman" panose="02020603050405020304" pitchFamily="18" charset="0"/>
              </a:rPr>
              <a:t> bun” la </a:t>
            </a:r>
            <a:r>
              <a:rPr lang="en-US" sz="3000" b="1" dirty="0" err="1">
                <a:solidFill>
                  <a:srgbClr val="001D3D"/>
                </a:solidFill>
                <a:latin typeface="Times New Roman" panose="02020603050405020304" pitchFamily="18" charset="0"/>
                <a:ea typeface="Roboto" pitchFamily="34" charset="-122"/>
                <a:cs typeface="Times New Roman" panose="02020603050405020304" pitchFamily="18" charset="0"/>
              </a:rPr>
              <a:t>reconstrucție</a:t>
            </a:r>
            <a:endParaRPr lang="en-US" sz="3000" b="1" dirty="0">
              <a:solidFill>
                <a:srgbClr val="001D3D"/>
              </a:solidFill>
              <a:latin typeface="Times New Roman" panose="02020603050405020304" pitchFamily="18" charset="0"/>
              <a:ea typeface="Roboto" pitchFamily="34" charset="-122"/>
              <a:cs typeface="Times New Roman" panose="02020603050405020304" pitchFamily="18" charset="0"/>
            </a:endParaRPr>
          </a:p>
          <a:p>
            <a:pPr marL="0" indent="0" algn="l">
              <a:buNone/>
            </a:pPr>
            <a:r>
              <a:rPr lang="en-US" sz="3000" b="1" dirty="0">
                <a:solidFill>
                  <a:srgbClr val="001D3D"/>
                </a:solidFill>
                <a:latin typeface="Times New Roman" panose="02020603050405020304" pitchFamily="18" charset="0"/>
                <a:ea typeface="Roboto" pitchFamily="34" charset="-122"/>
                <a:cs typeface="Times New Roman" panose="02020603050405020304" pitchFamily="18" charset="0"/>
              </a:rPr>
              <a:t>  </a:t>
            </a:r>
            <a:endParaRPr lang="en-US" sz="3000" dirty="0">
              <a:latin typeface="Times New Roman" panose="02020603050405020304" pitchFamily="18" charset="0"/>
              <a:cs typeface="Times New Roman" panose="02020603050405020304" pitchFamily="18" charset="0"/>
            </a:endParaRPr>
          </a:p>
        </p:txBody>
      </p:sp>
      <p:sp>
        <p:nvSpPr>
          <p:cNvPr id="29" name="SK-4-text-28"/>
          <p:cNvSpPr/>
          <p:nvPr/>
        </p:nvSpPr>
        <p:spPr>
          <a:xfrm>
            <a:off x="658267" y="2167086"/>
            <a:ext cx="3981450" cy="219373"/>
          </a:xfrm>
          <a:prstGeom prst="rect">
            <a:avLst/>
          </a:prstGeom>
          <a:noFill/>
          <a:ln/>
        </p:spPr>
        <p:txBody>
          <a:bodyPr vert="horz" wrap="none" lIns="0" tIns="0" rIns="0" bIns="0" rtlCol="0" anchor="ctr"/>
          <a:lstStyle/>
          <a:p>
            <a:pPr marL="0" indent="0" algn="l">
              <a:buNone/>
            </a:pPr>
            <a:r>
              <a:rPr lang="en-US" sz="1500" b="1" dirty="0">
                <a:solidFill>
                  <a:srgbClr val="001D3D"/>
                </a:solidFill>
                <a:latin typeface="Times New Roman" panose="02020603050405020304" pitchFamily="18" charset="0"/>
                <a:ea typeface="Roboto" pitchFamily="34" charset="-122"/>
                <a:cs typeface="Times New Roman" panose="02020603050405020304" pitchFamily="18" charset="0"/>
              </a:rPr>
              <a:t>AE standard</a:t>
            </a:r>
            <a:endParaRPr lang="en-US" sz="1500" dirty="0">
              <a:latin typeface="Times New Roman" panose="02020603050405020304" pitchFamily="18" charset="0"/>
              <a:cs typeface="Times New Roman" panose="02020603050405020304" pitchFamily="18" charset="0"/>
            </a:endParaRPr>
          </a:p>
        </p:txBody>
      </p:sp>
      <p:sp>
        <p:nvSpPr>
          <p:cNvPr id="31" name="SK-4-text-30"/>
          <p:cNvSpPr/>
          <p:nvPr/>
        </p:nvSpPr>
        <p:spPr>
          <a:xfrm>
            <a:off x="548581" y="2882413"/>
            <a:ext cx="3906358" cy="1303890"/>
          </a:xfrm>
          <a:prstGeom prst="rect">
            <a:avLst/>
          </a:prstGeom>
          <a:noFill/>
          <a:ln/>
        </p:spPr>
        <p:txBody>
          <a:bodyPr vert="horz" wrap="none" lIns="0" tIns="0" rIns="0" bIns="0" rtlCol="0" anchor="ctr"/>
          <a:lstStyle/>
          <a:p>
            <a:pPr marL="127000" indent="-127000">
              <a:buSzPct val="100000"/>
              <a:buChar char="•"/>
            </a:pPr>
            <a:r>
              <a:rPr lang="en-US" sz="1200" dirty="0" err="1">
                <a:solidFill>
                  <a:srgbClr val="0F172A"/>
                </a:solidFill>
                <a:latin typeface="Times New Roman" panose="02020603050405020304" pitchFamily="18" charset="0"/>
                <a:cs typeface="Times New Roman" panose="02020603050405020304" pitchFamily="18" charset="0"/>
              </a:rPr>
              <a:t>învață</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reprezentări</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latente</a:t>
            </a:r>
            <a:r>
              <a:rPr lang="en-US" sz="1200" dirty="0">
                <a:solidFill>
                  <a:srgbClr val="0F172A"/>
                </a:solidFill>
                <a:latin typeface="Times New Roman" panose="02020603050405020304" pitchFamily="18" charset="0"/>
                <a:cs typeface="Times New Roman" panose="02020603050405020304" pitchFamily="18" charset="0"/>
              </a:rPr>
              <a:t> utile </a:t>
            </a:r>
            <a:r>
              <a:rPr lang="en-US" sz="1200" dirty="0" err="1">
                <a:solidFill>
                  <a:srgbClr val="0F172A"/>
                </a:solidFill>
                <a:latin typeface="Times New Roman" panose="02020603050405020304" pitchFamily="18" charset="0"/>
                <a:cs typeface="Times New Roman" panose="02020603050405020304" pitchFamily="18" charset="0"/>
              </a:rPr>
              <a:t>pentru</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reconstrucție</a:t>
            </a:r>
            <a:endParaRPr lang="en-US" sz="1200" dirty="0">
              <a:latin typeface="Times New Roman" panose="02020603050405020304" pitchFamily="18" charset="0"/>
              <a:cs typeface="Times New Roman" panose="02020603050405020304" pitchFamily="18" charset="0"/>
            </a:endParaRPr>
          </a:p>
          <a:p>
            <a:pPr marL="127000" indent="-127000">
              <a:buSzPct val="100000"/>
              <a:buChar char="•"/>
            </a:pPr>
            <a:r>
              <a:rPr lang="en-US" sz="1200" dirty="0" err="1">
                <a:solidFill>
                  <a:srgbClr val="0F172A"/>
                </a:solidFill>
                <a:latin typeface="Times New Roman" panose="02020603050405020304" pitchFamily="18" charset="0"/>
                <a:cs typeface="Times New Roman" panose="02020603050405020304" pitchFamily="18" charset="0"/>
              </a:rPr>
              <a:t>poate</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reconstrui</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anomalii</a:t>
            </a:r>
            <a:r>
              <a:rPr lang="en-US" sz="1200" dirty="0">
                <a:solidFill>
                  <a:srgbClr val="0F172A"/>
                </a:solidFill>
                <a:latin typeface="Times New Roman" panose="02020603050405020304" pitchFamily="18" charset="0"/>
                <a:cs typeface="Times New Roman" panose="02020603050405020304" pitchFamily="18" charset="0"/>
              </a:rPr>
              <a:t> care </a:t>
            </a:r>
            <a:r>
              <a:rPr lang="en-US" sz="1200" dirty="0" err="1">
                <a:solidFill>
                  <a:srgbClr val="0F172A"/>
                </a:solidFill>
                <a:latin typeface="Times New Roman" panose="02020603050405020304" pitchFamily="18" charset="0"/>
                <a:cs typeface="Times New Roman" panose="02020603050405020304" pitchFamily="18" charset="0"/>
              </a:rPr>
              <a:t>seamănă</a:t>
            </a:r>
            <a:r>
              <a:rPr lang="en-US" sz="1200" dirty="0">
                <a:solidFill>
                  <a:srgbClr val="0F172A"/>
                </a:solidFill>
                <a:latin typeface="Times New Roman" panose="02020603050405020304" pitchFamily="18" charset="0"/>
                <a:cs typeface="Times New Roman" panose="02020603050405020304" pitchFamily="18" charset="0"/>
              </a:rPr>
              <a:t> local cu </a:t>
            </a:r>
            <a:r>
              <a:rPr lang="en-US" sz="1200" dirty="0" err="1">
                <a:solidFill>
                  <a:srgbClr val="0F172A"/>
                </a:solidFill>
                <a:latin typeface="Times New Roman" panose="02020603050405020304" pitchFamily="18" charset="0"/>
                <a:cs typeface="Times New Roman" panose="02020603050405020304" pitchFamily="18" charset="0"/>
              </a:rPr>
              <a:t>normalul</a:t>
            </a:r>
            <a:endParaRPr lang="en-US" sz="1200" dirty="0">
              <a:latin typeface="Times New Roman" panose="02020603050405020304" pitchFamily="18" charset="0"/>
              <a:cs typeface="Times New Roman" panose="02020603050405020304" pitchFamily="18" charset="0"/>
            </a:endParaRPr>
          </a:p>
          <a:p>
            <a:pPr marL="127000" indent="-127000">
              <a:buSzPct val="100000"/>
              <a:buChar char="•"/>
            </a:pPr>
            <a:r>
              <a:rPr lang="en-US" sz="1200" dirty="0" err="1">
                <a:solidFill>
                  <a:srgbClr val="0F172A"/>
                </a:solidFill>
                <a:latin typeface="Times New Roman" panose="02020603050405020304" pitchFamily="18" charset="0"/>
                <a:cs typeface="Times New Roman" panose="02020603050405020304" pitchFamily="18" charset="0"/>
              </a:rPr>
              <a:t>risc</a:t>
            </a:r>
            <a:r>
              <a:rPr lang="en-US" sz="1200" dirty="0">
                <a:solidFill>
                  <a:srgbClr val="0F172A"/>
                </a:solidFill>
                <a:latin typeface="Times New Roman" panose="02020603050405020304" pitchFamily="18" charset="0"/>
                <a:cs typeface="Times New Roman" panose="02020603050405020304" pitchFamily="18" charset="0"/>
              </a:rPr>
              <a:t> principal: </a:t>
            </a:r>
            <a:r>
              <a:rPr lang="en-US" sz="1200" dirty="0" err="1">
                <a:solidFill>
                  <a:srgbClr val="0F172A"/>
                </a:solidFill>
                <a:latin typeface="Times New Roman" panose="02020603050405020304" pitchFamily="18" charset="0"/>
                <a:cs typeface="Times New Roman" panose="02020603050405020304" pitchFamily="18" charset="0"/>
              </a:rPr>
              <a:t>anomalie</a:t>
            </a:r>
            <a:r>
              <a:rPr lang="en-US" sz="1200" dirty="0">
                <a:solidFill>
                  <a:srgbClr val="0F172A"/>
                </a:solidFill>
                <a:latin typeface="Times New Roman" panose="02020603050405020304" pitchFamily="18" charset="0"/>
                <a:cs typeface="Times New Roman" panose="02020603050405020304" pitchFamily="18" charset="0"/>
              </a:rPr>
              <a:t> cu </a:t>
            </a:r>
            <a:r>
              <a:rPr lang="en-US" sz="1200" dirty="0" err="1">
                <a:solidFill>
                  <a:srgbClr val="0F172A"/>
                </a:solidFill>
                <a:latin typeface="Times New Roman" panose="02020603050405020304" pitchFamily="18" charset="0"/>
                <a:cs typeface="Times New Roman" panose="02020603050405020304" pitchFamily="18" charset="0"/>
              </a:rPr>
              <a:t>eroare</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mică</a:t>
            </a:r>
            <a:r>
              <a:rPr lang="en-US" sz="1200" dirty="0">
                <a:solidFill>
                  <a:srgbClr val="0F172A"/>
                </a:solidFill>
                <a:latin typeface="Times New Roman" panose="02020603050405020304" pitchFamily="18" charset="0"/>
                <a:cs typeface="Times New Roman" panose="02020603050405020304" pitchFamily="18" charset="0"/>
              </a:rPr>
              <a:t> = False Negative</a:t>
            </a:r>
            <a:endParaRPr lang="en-US" sz="1200" dirty="0">
              <a:latin typeface="Times New Roman" panose="02020603050405020304" pitchFamily="18" charset="0"/>
              <a:cs typeface="Times New Roman" panose="02020603050405020304" pitchFamily="18" charset="0"/>
            </a:endParaRPr>
          </a:p>
          <a:p>
            <a:pPr marL="0" indent="0" algn="l">
              <a:buNone/>
            </a:pPr>
            <a:endParaRPr lang="en-US" sz="1200" dirty="0">
              <a:latin typeface="Times New Roman" panose="02020603050405020304" pitchFamily="18" charset="0"/>
              <a:cs typeface="Times New Roman" panose="02020603050405020304" pitchFamily="18" charset="0"/>
            </a:endParaRPr>
          </a:p>
        </p:txBody>
      </p:sp>
      <p:sp>
        <p:nvSpPr>
          <p:cNvPr id="32" name="SK-4-text-31"/>
          <p:cNvSpPr/>
          <p:nvPr/>
        </p:nvSpPr>
        <p:spPr>
          <a:xfrm>
            <a:off x="6290965" y="2167085"/>
            <a:ext cx="3295650" cy="219373"/>
          </a:xfrm>
          <a:prstGeom prst="rect">
            <a:avLst/>
          </a:prstGeom>
          <a:noFill/>
          <a:ln/>
        </p:spPr>
        <p:txBody>
          <a:bodyPr vert="horz" wrap="none" lIns="0" tIns="0" rIns="0" bIns="0" rtlCol="0" anchor="ctr"/>
          <a:lstStyle/>
          <a:p>
            <a:pPr marL="0" indent="0" algn="l">
              <a:buNone/>
            </a:pPr>
            <a:r>
              <a:rPr lang="en-US" sz="1500" b="1" dirty="0" err="1">
                <a:solidFill>
                  <a:srgbClr val="001D3D"/>
                </a:solidFill>
                <a:latin typeface="Times New Roman" panose="02020603050405020304" pitchFamily="18" charset="0"/>
                <a:ea typeface="Roboto" pitchFamily="34" charset="-122"/>
                <a:cs typeface="Times New Roman" panose="02020603050405020304" pitchFamily="18" charset="0"/>
              </a:rPr>
              <a:t>MemAE</a:t>
            </a:r>
            <a:endParaRPr lang="en-US" sz="1500" dirty="0">
              <a:latin typeface="Times New Roman" panose="02020603050405020304" pitchFamily="18" charset="0"/>
              <a:cs typeface="Times New Roman" panose="02020603050405020304" pitchFamily="18" charset="0"/>
            </a:endParaRPr>
          </a:p>
        </p:txBody>
      </p:sp>
      <p:pic>
        <p:nvPicPr>
          <p:cNvPr id="43" name="Picture 42">
            <a:extLst>
              <a:ext uri="{FF2B5EF4-FFF2-40B4-BE49-F238E27FC236}">
                <a16:creationId xmlns:a16="http://schemas.microsoft.com/office/drawing/2014/main" id="{2E0BBAB1-6EAA-59D3-C663-9658D6E6ECAC}"/>
              </a:ext>
            </a:extLst>
          </p:cNvPr>
          <p:cNvPicPr>
            <a:picLocks noChangeAspect="1"/>
          </p:cNvPicPr>
          <p:nvPr/>
        </p:nvPicPr>
        <p:blipFill>
          <a:blip r:embed="rId13"/>
          <a:stretch>
            <a:fillRect/>
          </a:stretch>
        </p:blipFill>
        <p:spPr>
          <a:xfrm>
            <a:off x="4421354" y="4867076"/>
            <a:ext cx="3056664" cy="1238648"/>
          </a:xfrm>
          <a:prstGeom prst="rect">
            <a:avLst/>
          </a:prstGeom>
        </p:spPr>
      </p:pic>
      <p:pic>
        <p:nvPicPr>
          <p:cNvPr id="44" name="SK-2-img-4" descr="preencoded.png">
            <a:extLst>
              <a:ext uri="{FF2B5EF4-FFF2-40B4-BE49-F238E27FC236}">
                <a16:creationId xmlns:a16="http://schemas.microsoft.com/office/drawing/2014/main" id="{1B4A5780-3517-4281-8F2F-FB92EFFBE564}"/>
              </a:ext>
            </a:extLst>
          </p:cNvPr>
          <p:cNvPicPr>
            <a:picLocks noChangeAspect="1"/>
          </p:cNvPicPr>
          <p:nvPr/>
        </p:nvPicPr>
        <p:blipFill>
          <a:blip r:embed="rId14"/>
          <a:stretch>
            <a:fillRect/>
          </a:stretch>
        </p:blipFill>
        <p:spPr>
          <a:xfrm>
            <a:off x="444921" y="949859"/>
            <a:ext cx="792361" cy="95994"/>
          </a:xfrm>
          <a:prstGeom prst="rect">
            <a:avLst/>
          </a:prstGeom>
        </p:spPr>
      </p:pic>
      <p:sp>
        <p:nvSpPr>
          <p:cNvPr id="46" name="SK-6-text-92">
            <a:extLst>
              <a:ext uri="{FF2B5EF4-FFF2-40B4-BE49-F238E27FC236}">
                <a16:creationId xmlns:a16="http://schemas.microsoft.com/office/drawing/2014/main" id="{BE450B0C-C570-4344-A81B-B4E191084356}"/>
              </a:ext>
            </a:extLst>
          </p:cNvPr>
          <p:cNvSpPr/>
          <p:nvPr/>
        </p:nvSpPr>
        <p:spPr>
          <a:xfrm>
            <a:off x="414486" y="1193304"/>
            <a:ext cx="11777514" cy="233065"/>
          </a:xfrm>
          <a:prstGeom prst="rect">
            <a:avLst/>
          </a:prstGeom>
          <a:noFill/>
          <a:ln/>
        </p:spPr>
        <p:txBody>
          <a:bodyPr vert="horz" wrap="none" lIns="0" tIns="0" rIns="0" bIns="0" rtlCol="0" anchor="ctr"/>
          <a:lstStyle/>
          <a:p>
            <a:pPr marL="0" indent="0" algn="l">
              <a:buNone/>
            </a:pPr>
            <a:r>
              <a:rPr lang="en-US" sz="1500" dirty="0" err="1">
                <a:solidFill>
                  <a:srgbClr val="666666"/>
                </a:solidFill>
                <a:latin typeface="Times New Roman" panose="02020603050405020304" pitchFamily="18" charset="0"/>
                <a:ea typeface="Roboto" pitchFamily="34" charset="-122"/>
                <a:cs typeface="Times New Roman" panose="02020603050405020304" pitchFamily="18" charset="0"/>
              </a:rPr>
              <a:t>Exemplul</a:t>
            </a: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 </a:t>
            </a:r>
            <a:r>
              <a:rPr lang="en-US" sz="1500" dirty="0" err="1">
                <a:solidFill>
                  <a:srgbClr val="666666"/>
                </a:solidFill>
                <a:latin typeface="Times New Roman" panose="02020603050405020304" pitchFamily="18" charset="0"/>
                <a:ea typeface="Roboto" pitchFamily="34" charset="-122"/>
                <a:cs typeface="Times New Roman" panose="02020603050405020304" pitchFamily="18" charset="0"/>
              </a:rPr>
              <a:t>intuitiv</a:t>
            </a: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 </a:t>
            </a:r>
            <a:r>
              <a:rPr lang="en-US" sz="1500" dirty="0" err="1">
                <a:solidFill>
                  <a:srgbClr val="666666"/>
                </a:solidFill>
                <a:latin typeface="Times New Roman" panose="02020603050405020304" pitchFamily="18" charset="0"/>
                <a:ea typeface="Roboto" pitchFamily="34" charset="-122"/>
                <a:cs typeface="Times New Roman" panose="02020603050405020304" pitchFamily="18" charset="0"/>
              </a:rPr>
              <a:t>folosit</a:t>
            </a: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 de </a:t>
            </a:r>
            <a:r>
              <a:rPr lang="en-US" sz="1500" dirty="0" err="1">
                <a:solidFill>
                  <a:srgbClr val="666666"/>
                </a:solidFill>
                <a:latin typeface="Times New Roman" panose="02020603050405020304" pitchFamily="18" charset="0"/>
                <a:ea typeface="Roboto" pitchFamily="34" charset="-122"/>
                <a:cs typeface="Times New Roman" panose="02020603050405020304" pitchFamily="18" charset="0"/>
              </a:rPr>
              <a:t>autori</a:t>
            </a: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 </a:t>
            </a:r>
            <a:r>
              <a:rPr lang="en-US" sz="1500" dirty="0" err="1">
                <a:solidFill>
                  <a:srgbClr val="666666"/>
                </a:solidFill>
                <a:latin typeface="Times New Roman" panose="02020603050405020304" pitchFamily="18" charset="0"/>
                <a:ea typeface="Roboto" pitchFamily="34" charset="-122"/>
                <a:cs typeface="Times New Roman" panose="02020603050405020304" pitchFamily="18" charset="0"/>
              </a:rPr>
              <a:t>cifre</a:t>
            </a: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 MNIST</a:t>
            </a:r>
          </a:p>
          <a:p>
            <a:pPr marL="0" indent="0" algn="l">
              <a:buNone/>
            </a:pPr>
            <a:endParaRPr lang="en-US" sz="1500" dirty="0">
              <a:latin typeface="Times New Roman" panose="02020603050405020304" pitchFamily="18" charset="0"/>
              <a:cs typeface="Times New Roman" panose="02020603050405020304" pitchFamily="18" charset="0"/>
            </a:endParaRPr>
          </a:p>
        </p:txBody>
      </p:sp>
      <p:sp>
        <p:nvSpPr>
          <p:cNvPr id="48" name="Text 4">
            <a:extLst>
              <a:ext uri="{FF2B5EF4-FFF2-40B4-BE49-F238E27FC236}">
                <a16:creationId xmlns:a16="http://schemas.microsoft.com/office/drawing/2014/main" id="{4891E341-E1B2-4345-ABC1-31927C542158}"/>
              </a:ext>
            </a:extLst>
          </p:cNvPr>
          <p:cNvSpPr/>
          <p:nvPr/>
        </p:nvSpPr>
        <p:spPr>
          <a:xfrm>
            <a:off x="666014" y="2658353"/>
            <a:ext cx="4572000" cy="365760"/>
          </a:xfrm>
          <a:prstGeom prst="rect">
            <a:avLst/>
          </a:prstGeom>
          <a:noFill/>
          <a:ln/>
        </p:spPr>
        <p:txBody>
          <a:bodyPr wrap="square" lIns="0" tIns="0" rIns="0" bIns="0" rtlCol="0" anchor="ctr"/>
          <a:lstStyle/>
          <a:p>
            <a:pPr marL="0" indent="0">
              <a:buNone/>
            </a:pPr>
            <a:r>
              <a:rPr lang="en-US" dirty="0">
                <a:solidFill>
                  <a:srgbClr val="0F172A"/>
                </a:solidFill>
                <a:latin typeface="Times New Roman" panose="02020603050405020304" pitchFamily="18" charset="0"/>
                <a:cs typeface="Times New Roman" panose="02020603050405020304" pitchFamily="18" charset="0"/>
              </a:rPr>
              <a:t>x → Encoder → z → Decoder → x</a:t>
            </a:r>
            <a:r>
              <a:rPr lang="en-US" b="1" dirty="0">
                <a:solidFill>
                  <a:srgbClr val="0F172A"/>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53" name="Text 7">
            <a:extLst>
              <a:ext uri="{FF2B5EF4-FFF2-40B4-BE49-F238E27FC236}">
                <a16:creationId xmlns:a16="http://schemas.microsoft.com/office/drawing/2014/main" id="{16FC5D70-3492-452E-BD43-D450C0A673A5}"/>
              </a:ext>
            </a:extLst>
          </p:cNvPr>
          <p:cNvSpPr/>
          <p:nvPr/>
        </p:nvSpPr>
        <p:spPr>
          <a:xfrm>
            <a:off x="6123526" y="2585232"/>
            <a:ext cx="5695749" cy="594360"/>
          </a:xfrm>
          <a:prstGeom prst="rect">
            <a:avLst/>
          </a:prstGeom>
          <a:noFill/>
          <a:ln/>
        </p:spPr>
        <p:txBody>
          <a:bodyPr wrap="square" lIns="0" tIns="0" rIns="0" bIns="0" rtlCol="0" anchor="ctr">
            <a:normAutofit/>
          </a:bodyPr>
          <a:lstStyle/>
          <a:p>
            <a:pPr marL="0" indent="0">
              <a:buNone/>
            </a:pPr>
            <a:r>
              <a:rPr lang="en-US" sz="1800" dirty="0">
                <a:solidFill>
                  <a:srgbClr val="0F172A"/>
                </a:solidFill>
                <a:latin typeface="Times New Roman" panose="02020603050405020304" pitchFamily="18" charset="0"/>
                <a:cs typeface="Times New Roman" panose="02020603050405020304" pitchFamily="18" charset="0"/>
              </a:rPr>
              <a:t>x → Encoder → z → Memorie normală → ẑ → Decoder → x̂</a:t>
            </a:r>
            <a:endParaRPr lang="en-US" sz="1800" dirty="0">
              <a:latin typeface="Times New Roman" panose="02020603050405020304" pitchFamily="18" charset="0"/>
              <a:cs typeface="Times New Roman" panose="02020603050405020304" pitchFamily="18" charset="0"/>
            </a:endParaRPr>
          </a:p>
        </p:txBody>
      </p:sp>
      <p:sp>
        <p:nvSpPr>
          <p:cNvPr id="57" name="SK-4-text-30">
            <a:extLst>
              <a:ext uri="{FF2B5EF4-FFF2-40B4-BE49-F238E27FC236}">
                <a16:creationId xmlns:a16="http://schemas.microsoft.com/office/drawing/2014/main" id="{10C6BDAA-8AB6-43B1-B2BD-C8F2C2C49F0F}"/>
              </a:ext>
            </a:extLst>
          </p:cNvPr>
          <p:cNvSpPr/>
          <p:nvPr/>
        </p:nvSpPr>
        <p:spPr>
          <a:xfrm>
            <a:off x="6130519" y="3024113"/>
            <a:ext cx="3906358" cy="1324262"/>
          </a:xfrm>
          <a:prstGeom prst="rect">
            <a:avLst/>
          </a:prstGeom>
          <a:noFill/>
          <a:ln/>
        </p:spPr>
        <p:txBody>
          <a:bodyPr vert="horz" wrap="none" lIns="0" tIns="0" rIns="0" bIns="0" rtlCol="0" anchor="ctr"/>
          <a:lstStyle/>
          <a:p>
            <a:pPr marL="127000" indent="-127000">
              <a:buSzPct val="100000"/>
              <a:buChar char="•"/>
            </a:pPr>
            <a:r>
              <a:rPr lang="en-US" sz="1200" dirty="0" err="1">
                <a:solidFill>
                  <a:srgbClr val="0F172A"/>
                </a:solidFill>
                <a:latin typeface="Times New Roman" panose="02020603050405020304" pitchFamily="18" charset="0"/>
                <a:cs typeface="Times New Roman" panose="02020603050405020304" pitchFamily="18" charset="0"/>
              </a:rPr>
              <a:t>memoria</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stochează</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prototipuri</a:t>
            </a:r>
            <a:r>
              <a:rPr lang="en-US" sz="1200" dirty="0">
                <a:solidFill>
                  <a:srgbClr val="0F172A"/>
                </a:solidFill>
                <a:latin typeface="Times New Roman" panose="02020603050405020304" pitchFamily="18" charset="0"/>
                <a:cs typeface="Times New Roman" panose="02020603050405020304" pitchFamily="18" charset="0"/>
              </a:rPr>
              <a:t> ale </a:t>
            </a:r>
            <a:r>
              <a:rPr lang="en-US" sz="1200" dirty="0" err="1">
                <a:solidFill>
                  <a:srgbClr val="0F172A"/>
                </a:solidFill>
                <a:latin typeface="Times New Roman" panose="02020603050405020304" pitchFamily="18" charset="0"/>
                <a:cs typeface="Times New Roman" panose="02020603050405020304" pitchFamily="18" charset="0"/>
              </a:rPr>
              <a:t>normalului</a:t>
            </a:r>
            <a:endParaRPr lang="en-US" sz="1200" dirty="0">
              <a:solidFill>
                <a:srgbClr val="0F172A"/>
              </a:solidFill>
              <a:latin typeface="Times New Roman" panose="02020603050405020304" pitchFamily="18" charset="0"/>
              <a:cs typeface="Times New Roman" panose="02020603050405020304" pitchFamily="18" charset="0"/>
            </a:endParaRPr>
          </a:p>
          <a:p>
            <a:pPr marL="127000" indent="-127000">
              <a:buSzPct val="100000"/>
              <a:buChar char="•"/>
            </a:pPr>
            <a:r>
              <a:rPr lang="en-US" sz="1200" dirty="0" err="1">
                <a:solidFill>
                  <a:srgbClr val="0F172A"/>
                </a:solidFill>
                <a:latin typeface="Times New Roman" panose="02020603050405020304" pitchFamily="18" charset="0"/>
                <a:cs typeface="Times New Roman" panose="02020603050405020304" pitchFamily="18" charset="0"/>
              </a:rPr>
              <a:t>atenția</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selectează</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doar</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câteva</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sloturi</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relevante</a:t>
            </a:r>
            <a:endParaRPr lang="en-US" sz="1200" dirty="0">
              <a:solidFill>
                <a:srgbClr val="0F172A"/>
              </a:solidFill>
              <a:latin typeface="Times New Roman" panose="02020603050405020304" pitchFamily="18" charset="0"/>
              <a:cs typeface="Times New Roman" panose="02020603050405020304" pitchFamily="18" charset="0"/>
            </a:endParaRPr>
          </a:p>
          <a:p>
            <a:pPr marL="127000" indent="-127000">
              <a:buSzPct val="100000"/>
              <a:buChar char="•"/>
            </a:pPr>
            <a:r>
              <a:rPr lang="en-US" sz="1200" dirty="0" err="1">
                <a:solidFill>
                  <a:srgbClr val="0F172A"/>
                </a:solidFill>
                <a:latin typeface="Times New Roman" panose="02020603050405020304" pitchFamily="18" charset="0"/>
                <a:cs typeface="Times New Roman" panose="02020603050405020304" pitchFamily="18" charset="0"/>
              </a:rPr>
              <a:t>anomalia</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este</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reconstruită</a:t>
            </a:r>
            <a:r>
              <a:rPr lang="en-US" sz="1200" dirty="0">
                <a:solidFill>
                  <a:srgbClr val="0F172A"/>
                </a:solidFill>
                <a:latin typeface="Times New Roman" panose="02020603050405020304" pitchFamily="18" charset="0"/>
                <a:cs typeface="Times New Roman" panose="02020603050405020304" pitchFamily="18" charset="0"/>
              </a:rPr>
              <a:t> ca </a:t>
            </a:r>
            <a:r>
              <a:rPr lang="en-US" sz="1200" dirty="0" err="1">
                <a:solidFill>
                  <a:srgbClr val="0F172A"/>
                </a:solidFill>
                <a:latin typeface="Times New Roman" panose="02020603050405020304" pitchFamily="18" charset="0"/>
                <a:cs typeface="Times New Roman" panose="02020603050405020304" pitchFamily="18" charset="0"/>
              </a:rPr>
              <a:t>ceva</a:t>
            </a:r>
            <a:r>
              <a:rPr lang="en-US" sz="1200" dirty="0">
                <a:solidFill>
                  <a:srgbClr val="0F172A"/>
                </a:solidFill>
                <a:latin typeface="Times New Roman" panose="02020603050405020304" pitchFamily="18" charset="0"/>
                <a:cs typeface="Times New Roman" panose="02020603050405020304" pitchFamily="18" charset="0"/>
              </a:rPr>
              <a:t> normal → </a:t>
            </a:r>
            <a:r>
              <a:rPr lang="en-US" sz="1200" dirty="0" err="1">
                <a:solidFill>
                  <a:srgbClr val="0F172A"/>
                </a:solidFill>
                <a:latin typeface="Times New Roman" panose="02020603050405020304" pitchFamily="18" charset="0"/>
                <a:cs typeface="Times New Roman" panose="02020603050405020304" pitchFamily="18" charset="0"/>
              </a:rPr>
              <a:t>eroare</a:t>
            </a:r>
            <a:r>
              <a:rPr lang="en-US" sz="1200" dirty="0">
                <a:solidFill>
                  <a:srgbClr val="0F172A"/>
                </a:solidFill>
                <a:latin typeface="Times New Roman" panose="02020603050405020304" pitchFamily="18" charset="0"/>
                <a:cs typeface="Times New Roman" panose="02020603050405020304" pitchFamily="18" charset="0"/>
              </a:rPr>
              <a:t> </a:t>
            </a:r>
            <a:r>
              <a:rPr lang="en-US" sz="1200" dirty="0" err="1">
                <a:solidFill>
                  <a:srgbClr val="0F172A"/>
                </a:solidFill>
                <a:latin typeface="Times New Roman" panose="02020603050405020304" pitchFamily="18" charset="0"/>
                <a:cs typeface="Times New Roman" panose="02020603050405020304" pitchFamily="18" charset="0"/>
              </a:rPr>
              <a:t>mai</a:t>
            </a:r>
            <a:r>
              <a:rPr lang="en-US" sz="1200" dirty="0">
                <a:solidFill>
                  <a:srgbClr val="0F172A"/>
                </a:solidFill>
                <a:latin typeface="Times New Roman" panose="02020603050405020304" pitchFamily="18" charset="0"/>
                <a:cs typeface="Times New Roman" panose="02020603050405020304" pitchFamily="18" charset="0"/>
              </a:rPr>
              <a:t> mare</a:t>
            </a:r>
          </a:p>
          <a:p>
            <a:pPr marL="0" indent="0" algn="l">
              <a:buNone/>
            </a:pPr>
            <a:endParaRPr lang="en-US" sz="1200" dirty="0">
              <a:latin typeface="Times New Roman" panose="02020603050405020304" pitchFamily="18" charset="0"/>
              <a:cs typeface="Times New Roman" panose="02020603050405020304" pitchFamily="18" charset="0"/>
            </a:endParaRPr>
          </a:p>
        </p:txBody>
      </p:sp>
      <p:sp>
        <p:nvSpPr>
          <p:cNvPr id="58" name="Text 9">
            <a:extLst>
              <a:ext uri="{FF2B5EF4-FFF2-40B4-BE49-F238E27FC236}">
                <a16:creationId xmlns:a16="http://schemas.microsoft.com/office/drawing/2014/main" id="{2C5CD620-4439-4E21-9BDE-8DCCA0890EFD}"/>
              </a:ext>
            </a:extLst>
          </p:cNvPr>
          <p:cNvSpPr/>
          <p:nvPr/>
        </p:nvSpPr>
        <p:spPr>
          <a:xfrm>
            <a:off x="1959843" y="6559536"/>
            <a:ext cx="8686800" cy="320040"/>
          </a:xfrm>
          <a:prstGeom prst="rect">
            <a:avLst/>
          </a:prstGeom>
          <a:noFill/>
          <a:ln/>
        </p:spPr>
        <p:txBody>
          <a:bodyPr wrap="square" lIns="0" tIns="0" rIns="0" bIns="0" rtlCol="0" anchor="ctr"/>
          <a:lstStyle/>
          <a:p>
            <a:pPr marL="0" indent="0" algn="ctr">
              <a:buNone/>
            </a:pPr>
            <a:r>
              <a:rPr lang="en-US" sz="1250" dirty="0">
                <a:solidFill>
                  <a:srgbClr val="475569"/>
                </a:solidFill>
                <a:latin typeface="Times New Roman" panose="02020603050405020304" pitchFamily="18" charset="0"/>
                <a:cs typeface="Times New Roman" panose="02020603050405020304" pitchFamily="18" charset="0"/>
              </a:rPr>
              <a:t>Exemplu din articol: când normalul este „5”, o intrare „9” este reconstruită de MemAE ca un „5”.</a:t>
            </a:r>
            <a:endParaRPr lang="en-US" sz="12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2251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K-5-img-1" descr="preencoded.png"/>
          <p:cNvPicPr>
            <a:picLocks noChangeAspect="1"/>
          </p:cNvPicPr>
          <p:nvPr/>
        </p:nvPicPr>
        <p:blipFill>
          <a:blip r:embed="rId3"/>
          <a:stretch>
            <a:fillRect/>
          </a:stretch>
        </p:blipFill>
        <p:spPr>
          <a:xfrm>
            <a:off x="0" y="0"/>
            <a:ext cx="12192000" cy="6858000"/>
          </a:xfrm>
          <a:prstGeom prst="rect">
            <a:avLst/>
          </a:prstGeom>
        </p:spPr>
      </p:pic>
      <p:pic>
        <p:nvPicPr>
          <p:cNvPr id="4" name="SK-5-img-3" descr="preencoded.png"/>
          <p:cNvPicPr>
            <a:picLocks noChangeAspect="1"/>
          </p:cNvPicPr>
          <p:nvPr/>
        </p:nvPicPr>
        <p:blipFill>
          <a:blip r:embed="rId4"/>
          <a:stretch>
            <a:fillRect/>
          </a:stretch>
        </p:blipFill>
        <p:spPr>
          <a:xfrm>
            <a:off x="10241161" y="0"/>
            <a:ext cx="1950690" cy="1165771"/>
          </a:xfrm>
          <a:prstGeom prst="rect">
            <a:avLst/>
          </a:prstGeom>
        </p:spPr>
      </p:pic>
      <p:pic>
        <p:nvPicPr>
          <p:cNvPr id="6" name="SK-5-img-5" descr="preencoded.png"/>
          <p:cNvPicPr>
            <a:picLocks noChangeAspect="1"/>
          </p:cNvPicPr>
          <p:nvPr/>
        </p:nvPicPr>
        <p:blipFill>
          <a:blip r:embed="rId5"/>
          <a:stretch>
            <a:fillRect/>
          </a:stretch>
        </p:blipFill>
        <p:spPr>
          <a:xfrm>
            <a:off x="609600" y="1597819"/>
            <a:ext cx="11021467" cy="987475"/>
          </a:xfrm>
          <a:prstGeom prst="rect">
            <a:avLst/>
          </a:prstGeom>
        </p:spPr>
      </p:pic>
      <p:pic>
        <p:nvPicPr>
          <p:cNvPr id="7" name="SK-5-img-6" descr="preencoded.png"/>
          <p:cNvPicPr>
            <a:picLocks noChangeAspect="1"/>
          </p:cNvPicPr>
          <p:nvPr/>
        </p:nvPicPr>
        <p:blipFill>
          <a:blip r:embed="rId6"/>
          <a:stretch>
            <a:fillRect/>
          </a:stretch>
        </p:blipFill>
        <p:spPr>
          <a:xfrm>
            <a:off x="841177" y="1858417"/>
            <a:ext cx="2340769" cy="466279"/>
          </a:xfrm>
          <a:prstGeom prst="rect">
            <a:avLst/>
          </a:prstGeom>
        </p:spPr>
      </p:pic>
      <p:pic>
        <p:nvPicPr>
          <p:cNvPr id="8" name="SK-5-img-7" descr="preencoded.png"/>
          <p:cNvPicPr>
            <a:picLocks noChangeAspect="1"/>
          </p:cNvPicPr>
          <p:nvPr/>
        </p:nvPicPr>
        <p:blipFill>
          <a:blip r:embed="rId7"/>
          <a:stretch>
            <a:fillRect/>
          </a:stretch>
        </p:blipFill>
        <p:spPr>
          <a:xfrm>
            <a:off x="609600" y="2708821"/>
            <a:ext cx="11021467" cy="1021705"/>
          </a:xfrm>
          <a:prstGeom prst="rect">
            <a:avLst/>
          </a:prstGeom>
        </p:spPr>
      </p:pic>
      <p:pic>
        <p:nvPicPr>
          <p:cNvPr id="9" name="SK-5-img-8" descr="preencoded.png"/>
          <p:cNvPicPr>
            <a:picLocks noChangeAspect="1"/>
          </p:cNvPicPr>
          <p:nvPr/>
        </p:nvPicPr>
        <p:blipFill>
          <a:blip r:embed="rId8"/>
          <a:stretch>
            <a:fillRect/>
          </a:stretch>
        </p:blipFill>
        <p:spPr>
          <a:xfrm>
            <a:off x="841177" y="2983111"/>
            <a:ext cx="2340769" cy="473125"/>
          </a:xfrm>
          <a:prstGeom prst="rect">
            <a:avLst/>
          </a:prstGeom>
        </p:spPr>
      </p:pic>
      <p:pic>
        <p:nvPicPr>
          <p:cNvPr id="10" name="SK-5-img-9" descr="preencoded.png"/>
          <p:cNvPicPr>
            <a:picLocks noChangeAspect="1"/>
          </p:cNvPicPr>
          <p:nvPr/>
        </p:nvPicPr>
        <p:blipFill>
          <a:blip r:embed="rId9"/>
          <a:stretch>
            <a:fillRect/>
          </a:stretch>
        </p:blipFill>
        <p:spPr>
          <a:xfrm>
            <a:off x="609600" y="3881586"/>
            <a:ext cx="11021467" cy="2242542"/>
          </a:xfrm>
          <a:prstGeom prst="rect">
            <a:avLst/>
          </a:prstGeom>
        </p:spPr>
      </p:pic>
      <p:pic>
        <p:nvPicPr>
          <p:cNvPr id="11" name="SK-5-img-10" descr="preencoded.png"/>
          <p:cNvPicPr>
            <a:picLocks noChangeAspect="1"/>
          </p:cNvPicPr>
          <p:nvPr/>
        </p:nvPicPr>
        <p:blipFill>
          <a:blip r:embed="rId10"/>
          <a:stretch>
            <a:fillRect/>
          </a:stretch>
        </p:blipFill>
        <p:spPr>
          <a:xfrm>
            <a:off x="6018014" y="4094113"/>
            <a:ext cx="9525" cy="1831032"/>
          </a:xfrm>
          <a:prstGeom prst="rect">
            <a:avLst/>
          </a:prstGeom>
        </p:spPr>
      </p:pic>
      <p:pic>
        <p:nvPicPr>
          <p:cNvPr id="12" name="SK-5-img-11" descr="preencoded.png"/>
          <p:cNvPicPr>
            <a:picLocks noChangeAspect="1"/>
          </p:cNvPicPr>
          <p:nvPr/>
        </p:nvPicPr>
        <p:blipFill>
          <a:blip r:embed="rId11"/>
          <a:stretch>
            <a:fillRect/>
          </a:stretch>
        </p:blipFill>
        <p:spPr>
          <a:xfrm>
            <a:off x="2657773" y="5225653"/>
            <a:ext cx="1414165" cy="377130"/>
          </a:xfrm>
          <a:prstGeom prst="rect">
            <a:avLst/>
          </a:prstGeom>
        </p:spPr>
      </p:pic>
      <p:pic>
        <p:nvPicPr>
          <p:cNvPr id="13" name="SK-5-img-12" descr="preencoded.png"/>
          <p:cNvPicPr>
            <a:picLocks noChangeAspect="1"/>
          </p:cNvPicPr>
          <p:nvPr/>
        </p:nvPicPr>
        <p:blipFill>
          <a:blip r:embed="rId12"/>
          <a:stretch>
            <a:fillRect/>
          </a:stretch>
        </p:blipFill>
        <p:spPr>
          <a:xfrm>
            <a:off x="6754267" y="5472559"/>
            <a:ext cx="1694557" cy="377130"/>
          </a:xfrm>
          <a:prstGeom prst="rect">
            <a:avLst/>
          </a:prstGeom>
        </p:spPr>
      </p:pic>
      <p:pic>
        <p:nvPicPr>
          <p:cNvPr id="14" name="SK-5-img-13" descr="preencoded.png"/>
          <p:cNvPicPr>
            <a:picLocks noChangeAspect="1"/>
          </p:cNvPicPr>
          <p:nvPr/>
        </p:nvPicPr>
        <p:blipFill>
          <a:blip r:embed="rId13"/>
          <a:stretch>
            <a:fillRect/>
          </a:stretch>
        </p:blipFill>
        <p:spPr>
          <a:xfrm>
            <a:off x="8826996" y="5472559"/>
            <a:ext cx="1950690" cy="377130"/>
          </a:xfrm>
          <a:prstGeom prst="rect">
            <a:avLst/>
          </a:prstGeom>
        </p:spPr>
      </p:pic>
      <p:pic>
        <p:nvPicPr>
          <p:cNvPr id="15" name="SK-5-img-14" descr="preencoded.png"/>
          <p:cNvPicPr>
            <a:picLocks noChangeAspect="1"/>
          </p:cNvPicPr>
          <p:nvPr/>
        </p:nvPicPr>
        <p:blipFill>
          <a:blip r:embed="rId14"/>
          <a:stretch>
            <a:fillRect/>
          </a:stretch>
        </p:blipFill>
        <p:spPr>
          <a:xfrm>
            <a:off x="8961090" y="5527477"/>
            <a:ext cx="1658094" cy="246757"/>
          </a:xfrm>
          <a:prstGeom prst="rect">
            <a:avLst/>
          </a:prstGeom>
        </p:spPr>
      </p:pic>
      <p:pic>
        <p:nvPicPr>
          <p:cNvPr id="16" name="SK-5-img-15" descr="preencoded.png"/>
          <p:cNvPicPr>
            <a:picLocks noChangeAspect="1"/>
          </p:cNvPicPr>
          <p:nvPr/>
        </p:nvPicPr>
        <p:blipFill>
          <a:blip r:embed="rId15"/>
          <a:stretch>
            <a:fillRect/>
          </a:stretch>
        </p:blipFill>
        <p:spPr>
          <a:xfrm>
            <a:off x="6888361" y="5527477"/>
            <a:ext cx="1426369" cy="246757"/>
          </a:xfrm>
          <a:prstGeom prst="rect">
            <a:avLst/>
          </a:prstGeom>
        </p:spPr>
      </p:pic>
      <p:pic>
        <p:nvPicPr>
          <p:cNvPr id="17" name="SK-5-img-16" descr="preencoded.png"/>
          <p:cNvPicPr>
            <a:picLocks noChangeAspect="1"/>
          </p:cNvPicPr>
          <p:nvPr/>
        </p:nvPicPr>
        <p:blipFill>
          <a:blip r:embed="rId16"/>
          <a:stretch>
            <a:fillRect/>
          </a:stretch>
        </p:blipFill>
        <p:spPr>
          <a:xfrm>
            <a:off x="6839694" y="4457700"/>
            <a:ext cx="3791694" cy="740569"/>
          </a:xfrm>
          <a:prstGeom prst="rect">
            <a:avLst/>
          </a:prstGeom>
        </p:spPr>
      </p:pic>
      <p:pic>
        <p:nvPicPr>
          <p:cNvPr id="18" name="SK-5-img-17" descr="preencoded.png"/>
          <p:cNvPicPr>
            <a:picLocks noChangeAspect="1"/>
          </p:cNvPicPr>
          <p:nvPr/>
        </p:nvPicPr>
        <p:blipFill>
          <a:blip r:embed="rId17"/>
          <a:stretch>
            <a:fillRect/>
          </a:stretch>
        </p:blipFill>
        <p:spPr>
          <a:xfrm>
            <a:off x="2791867" y="5307955"/>
            <a:ext cx="950863" cy="185142"/>
          </a:xfrm>
          <a:prstGeom prst="rect">
            <a:avLst/>
          </a:prstGeom>
        </p:spPr>
      </p:pic>
      <p:pic>
        <p:nvPicPr>
          <p:cNvPr id="19" name="SK-5-img-18" descr="preencoded.png"/>
          <p:cNvPicPr>
            <a:picLocks noChangeAspect="1"/>
          </p:cNvPicPr>
          <p:nvPr/>
        </p:nvPicPr>
        <p:blipFill>
          <a:blip r:embed="rId18"/>
          <a:stretch>
            <a:fillRect/>
          </a:stretch>
        </p:blipFill>
        <p:spPr>
          <a:xfrm>
            <a:off x="902196" y="4457700"/>
            <a:ext cx="4437757" cy="651421"/>
          </a:xfrm>
          <a:prstGeom prst="rect">
            <a:avLst/>
          </a:prstGeom>
        </p:spPr>
      </p:pic>
      <p:pic>
        <p:nvPicPr>
          <p:cNvPr id="20" name="SK-5-img-19" descr="preencoded.png"/>
          <p:cNvPicPr>
            <a:picLocks noChangeAspect="1"/>
          </p:cNvPicPr>
          <p:nvPr/>
        </p:nvPicPr>
        <p:blipFill>
          <a:blip r:embed="rId19"/>
          <a:stretch>
            <a:fillRect/>
          </a:stretch>
        </p:blipFill>
        <p:spPr>
          <a:xfrm>
            <a:off x="3876973" y="2962573"/>
            <a:ext cx="3547765" cy="651421"/>
          </a:xfrm>
          <a:prstGeom prst="rect">
            <a:avLst/>
          </a:prstGeom>
        </p:spPr>
      </p:pic>
      <p:pic>
        <p:nvPicPr>
          <p:cNvPr id="21" name="SK-5-img-20" descr="preencoded.png"/>
          <p:cNvPicPr>
            <a:picLocks noChangeAspect="1"/>
          </p:cNvPicPr>
          <p:nvPr/>
        </p:nvPicPr>
        <p:blipFill>
          <a:blip r:embed="rId20"/>
          <a:stretch>
            <a:fillRect/>
          </a:stretch>
        </p:blipFill>
        <p:spPr>
          <a:xfrm>
            <a:off x="938659" y="3079105"/>
            <a:ext cx="316855" cy="294829"/>
          </a:xfrm>
          <a:prstGeom prst="rect">
            <a:avLst/>
          </a:prstGeom>
        </p:spPr>
      </p:pic>
      <p:pic>
        <p:nvPicPr>
          <p:cNvPr id="22" name="SK-5-img-21" descr="preencoded.png"/>
          <p:cNvPicPr>
            <a:picLocks noChangeAspect="1"/>
          </p:cNvPicPr>
          <p:nvPr/>
        </p:nvPicPr>
        <p:blipFill>
          <a:blip r:embed="rId21"/>
          <a:stretch>
            <a:fillRect/>
          </a:stretch>
        </p:blipFill>
        <p:spPr>
          <a:xfrm>
            <a:off x="3815953" y="1844725"/>
            <a:ext cx="3669655" cy="452586"/>
          </a:xfrm>
          <a:prstGeom prst="rect">
            <a:avLst/>
          </a:prstGeom>
        </p:spPr>
      </p:pic>
      <p:pic>
        <p:nvPicPr>
          <p:cNvPr id="23" name="SK-5-img-22" descr="preencoded.png"/>
          <p:cNvPicPr>
            <a:picLocks noChangeAspect="1"/>
          </p:cNvPicPr>
          <p:nvPr/>
        </p:nvPicPr>
        <p:blipFill>
          <a:blip r:embed="rId22"/>
          <a:stretch>
            <a:fillRect/>
          </a:stretch>
        </p:blipFill>
        <p:spPr>
          <a:xfrm>
            <a:off x="938659" y="1927027"/>
            <a:ext cx="316855" cy="301675"/>
          </a:xfrm>
          <a:prstGeom prst="rect">
            <a:avLst/>
          </a:prstGeom>
        </p:spPr>
      </p:pic>
      <p:sp>
        <p:nvSpPr>
          <p:cNvPr id="24" name="SK-5-text-23"/>
          <p:cNvSpPr/>
          <p:nvPr/>
        </p:nvSpPr>
        <p:spPr>
          <a:xfrm>
            <a:off x="487561" y="356592"/>
            <a:ext cx="6234112" cy="205680"/>
          </a:xfrm>
          <a:prstGeom prst="rect">
            <a:avLst/>
          </a:prstGeom>
          <a:noFill/>
          <a:ln/>
        </p:spPr>
        <p:txBody>
          <a:bodyPr vert="horz" wrap="none" lIns="0" tIns="0" rIns="0" bIns="0" rtlCol="0" anchor="ctr"/>
          <a:lstStyle/>
          <a:p>
            <a:pPr marL="0" indent="0" algn="l">
              <a:buNone/>
            </a:pPr>
            <a:r>
              <a:rPr lang="en-US" sz="1500" dirty="0">
                <a:solidFill>
                  <a:srgbClr val="888888"/>
                </a:solidFill>
                <a:latin typeface="Times New Roman" panose="02020603050405020304" pitchFamily="18" charset="0"/>
                <a:ea typeface="Inter" pitchFamily="34" charset="-122"/>
                <a:cs typeface="Times New Roman" panose="02020603050405020304" pitchFamily="18" charset="0"/>
              </a:rPr>
              <a:t>06 / 11 · Funcții de </a:t>
            </a:r>
            <a:r>
              <a:rPr lang="ro-RO" sz="1500" dirty="0">
                <a:solidFill>
                  <a:srgbClr val="888888"/>
                </a:solidFill>
                <a:latin typeface="Times New Roman" panose="02020603050405020304" pitchFamily="18" charset="0"/>
                <a:ea typeface="Inter" pitchFamily="34" charset="-122"/>
                <a:cs typeface="Times New Roman" panose="02020603050405020304" pitchFamily="18" charset="0"/>
              </a:rPr>
              <a:t>p</a:t>
            </a:r>
            <a:r>
              <a:rPr lang="en-US" sz="1500" dirty="0" err="1">
                <a:solidFill>
                  <a:srgbClr val="888888"/>
                </a:solidFill>
                <a:latin typeface="Times New Roman" panose="02020603050405020304" pitchFamily="18" charset="0"/>
                <a:ea typeface="Inter" pitchFamily="34" charset="-122"/>
                <a:cs typeface="Times New Roman" panose="02020603050405020304" pitchFamily="18" charset="0"/>
              </a:rPr>
              <a:t>ierdere</a:t>
            </a:r>
            <a:endParaRPr lang="en-US" sz="1500" dirty="0">
              <a:latin typeface="Times New Roman" panose="02020603050405020304" pitchFamily="18" charset="0"/>
              <a:cs typeface="Times New Roman" panose="02020603050405020304" pitchFamily="18" charset="0"/>
            </a:endParaRPr>
          </a:p>
        </p:txBody>
      </p:sp>
      <p:sp>
        <p:nvSpPr>
          <p:cNvPr id="25" name="SK-5-text-24"/>
          <p:cNvSpPr/>
          <p:nvPr/>
        </p:nvSpPr>
        <p:spPr>
          <a:xfrm>
            <a:off x="487561" y="747415"/>
            <a:ext cx="11704439" cy="404515"/>
          </a:xfrm>
          <a:prstGeom prst="rect">
            <a:avLst/>
          </a:prstGeom>
          <a:noFill/>
          <a:ln/>
        </p:spPr>
        <p:txBody>
          <a:bodyPr vert="horz" wrap="none" lIns="0" tIns="0" rIns="0" bIns="0" rtlCol="0" anchor="ctr"/>
          <a:lstStyle/>
          <a:p>
            <a:pPr marL="0" indent="0" algn="l">
              <a:buNone/>
            </a:pPr>
            <a:r>
              <a:rPr lang="en-US" sz="3000" b="1" dirty="0">
                <a:solidFill>
                  <a:srgbClr val="001B44"/>
                </a:solidFill>
                <a:latin typeface="Times New Roman" panose="02020603050405020304" pitchFamily="18" charset="0"/>
                <a:ea typeface="Inter" pitchFamily="34" charset="-122"/>
                <a:cs typeface="Times New Roman" panose="02020603050405020304" pitchFamily="18" charset="0"/>
              </a:rPr>
              <a:t>Funcțiile de </a:t>
            </a:r>
            <a:r>
              <a:rPr lang="ro-RO" sz="3000" b="1" dirty="0">
                <a:solidFill>
                  <a:srgbClr val="001B44"/>
                </a:solidFill>
                <a:latin typeface="Times New Roman" panose="02020603050405020304" pitchFamily="18" charset="0"/>
                <a:ea typeface="Inter" pitchFamily="34" charset="-122"/>
                <a:cs typeface="Times New Roman" panose="02020603050405020304" pitchFamily="18" charset="0"/>
              </a:rPr>
              <a:t>p</a:t>
            </a:r>
            <a:r>
              <a:rPr lang="en-US" sz="3000" b="1" dirty="0" err="1">
                <a:solidFill>
                  <a:srgbClr val="001B44"/>
                </a:solidFill>
                <a:latin typeface="Times New Roman" panose="02020603050405020304" pitchFamily="18" charset="0"/>
                <a:ea typeface="Inter" pitchFamily="34" charset="-122"/>
                <a:cs typeface="Times New Roman" panose="02020603050405020304" pitchFamily="18" charset="0"/>
              </a:rPr>
              <a:t>ierdere</a:t>
            </a:r>
            <a:r>
              <a:rPr lang="en-US" sz="3000" b="1" dirty="0">
                <a:solidFill>
                  <a:srgbClr val="001B44"/>
                </a:solidFill>
                <a:latin typeface="Times New Roman" panose="02020603050405020304" pitchFamily="18" charset="0"/>
                <a:ea typeface="Inter" pitchFamily="34" charset="-122"/>
                <a:cs typeface="Times New Roman" panose="02020603050405020304" pitchFamily="18" charset="0"/>
              </a:rPr>
              <a:t> </a:t>
            </a:r>
            <a:r>
              <a:rPr lang="en-US" sz="3000" b="1" dirty="0" err="1">
                <a:solidFill>
                  <a:srgbClr val="001B44"/>
                </a:solidFill>
                <a:latin typeface="Times New Roman" panose="02020603050405020304" pitchFamily="18" charset="0"/>
                <a:ea typeface="Inter" pitchFamily="34" charset="-122"/>
                <a:cs typeface="Times New Roman" panose="02020603050405020304" pitchFamily="18" charset="0"/>
              </a:rPr>
              <a:t>și</a:t>
            </a:r>
            <a:r>
              <a:rPr lang="en-US" sz="3000" b="1" dirty="0">
                <a:solidFill>
                  <a:srgbClr val="001B44"/>
                </a:solidFill>
                <a:latin typeface="Times New Roman" panose="02020603050405020304" pitchFamily="18" charset="0"/>
                <a:ea typeface="Inter" pitchFamily="34" charset="-122"/>
                <a:cs typeface="Times New Roman" panose="02020603050405020304" pitchFamily="18" charset="0"/>
              </a:rPr>
              <a:t> </a:t>
            </a:r>
            <a:r>
              <a:rPr lang="ro-RO" sz="3000" b="1" dirty="0">
                <a:solidFill>
                  <a:srgbClr val="001B44"/>
                </a:solidFill>
                <a:latin typeface="Times New Roman" panose="02020603050405020304" pitchFamily="18" charset="0"/>
                <a:ea typeface="Inter" pitchFamily="34" charset="-122"/>
                <a:cs typeface="Times New Roman" panose="02020603050405020304" pitchFamily="18" charset="0"/>
              </a:rPr>
              <a:t>s</a:t>
            </a:r>
            <a:r>
              <a:rPr lang="en-US" sz="3000" b="1" dirty="0" err="1">
                <a:solidFill>
                  <a:srgbClr val="001B44"/>
                </a:solidFill>
                <a:latin typeface="Times New Roman" panose="02020603050405020304" pitchFamily="18" charset="0"/>
                <a:ea typeface="Inter" pitchFamily="34" charset="-122"/>
                <a:cs typeface="Times New Roman" panose="02020603050405020304" pitchFamily="18" charset="0"/>
              </a:rPr>
              <a:t>corarea</a:t>
            </a:r>
            <a:endParaRPr lang="en-US" sz="3000" dirty="0">
              <a:latin typeface="Times New Roman" panose="02020603050405020304" pitchFamily="18" charset="0"/>
              <a:cs typeface="Times New Roman" panose="02020603050405020304" pitchFamily="18" charset="0"/>
            </a:endParaRPr>
          </a:p>
        </p:txBody>
      </p:sp>
      <p:sp>
        <p:nvSpPr>
          <p:cNvPr id="26" name="SK-5-text-25"/>
          <p:cNvSpPr/>
          <p:nvPr/>
        </p:nvSpPr>
        <p:spPr>
          <a:xfrm>
            <a:off x="1267867" y="1981944"/>
            <a:ext cx="3333750" cy="191988"/>
          </a:xfrm>
          <a:prstGeom prst="rect">
            <a:avLst/>
          </a:prstGeom>
          <a:noFill/>
          <a:ln/>
        </p:spPr>
        <p:txBody>
          <a:bodyPr vert="horz" wrap="none" lIns="0" tIns="0" rIns="0" bIns="0" rtlCol="0" anchor="ctr"/>
          <a:lstStyle/>
          <a:p>
            <a:pPr marL="0" indent="0" algn="l">
              <a:buNone/>
            </a:pPr>
            <a:r>
              <a:rPr lang="en-US" sz="1125" b="1" dirty="0">
                <a:solidFill>
                  <a:srgbClr val="1D7A7A"/>
                </a:solidFill>
                <a:latin typeface="Times New Roman" panose="02020603050405020304" pitchFamily="18" charset="0"/>
                <a:ea typeface="Inter" pitchFamily="34" charset="-122"/>
                <a:cs typeface="Times New Roman" panose="02020603050405020304" pitchFamily="18" charset="0"/>
              </a:rPr>
              <a:t>RECONSTRUCTION LOSS</a:t>
            </a:r>
            <a:endParaRPr lang="en-US" sz="1125" dirty="0">
              <a:latin typeface="Times New Roman" panose="02020603050405020304" pitchFamily="18" charset="0"/>
              <a:cs typeface="Times New Roman" panose="02020603050405020304" pitchFamily="18" charset="0"/>
            </a:endParaRPr>
          </a:p>
        </p:txBody>
      </p:sp>
      <p:sp>
        <p:nvSpPr>
          <p:cNvPr id="27" name="SK-5-text-26"/>
          <p:cNvSpPr/>
          <p:nvPr/>
        </p:nvSpPr>
        <p:spPr>
          <a:xfrm>
            <a:off x="7900392" y="1885950"/>
            <a:ext cx="3352800" cy="397669"/>
          </a:xfrm>
          <a:prstGeom prst="rect">
            <a:avLst/>
          </a:prstGeom>
          <a:noFill/>
          <a:ln/>
        </p:spPr>
        <p:txBody>
          <a:bodyPr vert="horz" wrap="none" lIns="0" tIns="0" rIns="0" bIns="0" rtlCol="0" anchor="ctr"/>
          <a:lstStyle/>
          <a:p>
            <a:pPr marL="0" indent="0" algn="l">
              <a:lnSpc>
                <a:spcPts val="1350"/>
              </a:lnSpc>
              <a:buNone/>
            </a:pPr>
            <a:r>
              <a:rPr lang="en-US" sz="1125" dirty="0">
                <a:solidFill>
                  <a:srgbClr val="888888"/>
                </a:solidFill>
                <a:latin typeface="Times New Roman" panose="02020603050405020304" pitchFamily="18" charset="0"/>
                <a:ea typeface="Inter" pitchFamily="34" charset="-122"/>
                <a:cs typeface="Times New Roman" panose="02020603050405020304" pitchFamily="18" charset="0"/>
              </a:rPr>
              <a:t>Măsoară fidelitatea reconstrucției –</a:t>
            </a:r>
            <a:endParaRPr lang="en-US" sz="1125" dirty="0">
              <a:latin typeface="Times New Roman" panose="02020603050405020304" pitchFamily="18" charset="0"/>
              <a:cs typeface="Times New Roman" panose="02020603050405020304" pitchFamily="18" charset="0"/>
            </a:endParaRPr>
          </a:p>
          <a:p>
            <a:pPr marL="0" indent="0" algn="l">
              <a:lnSpc>
                <a:spcPts val="1350"/>
              </a:lnSpc>
              <a:buNone/>
            </a:pPr>
            <a:r>
              <a:rPr lang="en-US" sz="1125" dirty="0">
                <a:solidFill>
                  <a:srgbClr val="888888"/>
                </a:solidFill>
                <a:latin typeface="Times New Roman" panose="02020603050405020304" pitchFamily="18" charset="0"/>
                <a:ea typeface="Inter" pitchFamily="34" charset="-122"/>
                <a:cs typeface="Times New Roman" panose="02020603050405020304" pitchFamily="18" charset="0"/>
              </a:rPr>
              <a:t>mare pentru anomalii, mică pentru date normale.</a:t>
            </a:r>
            <a:endParaRPr lang="en-US" sz="1125" dirty="0">
              <a:latin typeface="Times New Roman" panose="02020603050405020304" pitchFamily="18" charset="0"/>
              <a:cs typeface="Times New Roman" panose="02020603050405020304" pitchFamily="18" charset="0"/>
            </a:endParaRPr>
          </a:p>
        </p:txBody>
      </p:sp>
      <p:sp>
        <p:nvSpPr>
          <p:cNvPr id="28" name="SK-5-text-27"/>
          <p:cNvSpPr/>
          <p:nvPr/>
        </p:nvSpPr>
        <p:spPr>
          <a:xfrm>
            <a:off x="1267867" y="3127177"/>
            <a:ext cx="4019550" cy="191988"/>
          </a:xfrm>
          <a:prstGeom prst="rect">
            <a:avLst/>
          </a:prstGeom>
          <a:noFill/>
          <a:ln/>
        </p:spPr>
        <p:txBody>
          <a:bodyPr vert="horz" wrap="none" lIns="0" tIns="0" rIns="0" bIns="0" rtlCol="0" anchor="ctr"/>
          <a:lstStyle/>
          <a:p>
            <a:pPr marL="0" indent="0" algn="l">
              <a:buNone/>
            </a:pPr>
            <a:r>
              <a:rPr lang="en-US" sz="1125" b="1" dirty="0">
                <a:solidFill>
                  <a:srgbClr val="C4702E"/>
                </a:solidFill>
                <a:latin typeface="Times New Roman" panose="02020603050405020304" pitchFamily="18" charset="0"/>
                <a:ea typeface="Inter" pitchFamily="34" charset="-122"/>
                <a:cs typeface="Times New Roman" panose="02020603050405020304" pitchFamily="18" charset="0"/>
              </a:rPr>
              <a:t>ENTROPY LOSS (SPARSITY)</a:t>
            </a:r>
            <a:endParaRPr lang="en-US" sz="1125" dirty="0">
              <a:latin typeface="Times New Roman" panose="02020603050405020304" pitchFamily="18" charset="0"/>
              <a:cs typeface="Times New Roman" panose="02020603050405020304" pitchFamily="18" charset="0"/>
            </a:endParaRPr>
          </a:p>
        </p:txBody>
      </p:sp>
      <p:sp>
        <p:nvSpPr>
          <p:cNvPr id="29" name="SK-5-text-28"/>
          <p:cNvSpPr/>
          <p:nvPr/>
        </p:nvSpPr>
        <p:spPr>
          <a:xfrm>
            <a:off x="7900392" y="3017490"/>
            <a:ext cx="3145482" cy="397669"/>
          </a:xfrm>
          <a:prstGeom prst="rect">
            <a:avLst/>
          </a:prstGeom>
          <a:noFill/>
          <a:ln/>
        </p:spPr>
        <p:txBody>
          <a:bodyPr vert="horz" wrap="none" lIns="0" tIns="0" rIns="0" bIns="0" rtlCol="0" anchor="ctr"/>
          <a:lstStyle/>
          <a:p>
            <a:pPr marL="0" indent="0" algn="l">
              <a:lnSpc>
                <a:spcPts val="1350"/>
              </a:lnSpc>
              <a:buNone/>
            </a:pPr>
            <a:r>
              <a:rPr lang="en-US" sz="1125" dirty="0">
                <a:solidFill>
                  <a:srgbClr val="888888"/>
                </a:solidFill>
                <a:latin typeface="Times New Roman" panose="02020603050405020304" pitchFamily="18" charset="0"/>
                <a:ea typeface="Inter" pitchFamily="34" charset="-122"/>
                <a:cs typeface="Times New Roman" panose="02020603050405020304" pitchFamily="18" charset="0"/>
              </a:rPr>
              <a:t>Penalizează distribuțiile dense ale atenției –</a:t>
            </a:r>
            <a:endParaRPr lang="en-US" sz="1125" dirty="0">
              <a:latin typeface="Times New Roman" panose="02020603050405020304" pitchFamily="18" charset="0"/>
              <a:cs typeface="Times New Roman" panose="02020603050405020304" pitchFamily="18" charset="0"/>
            </a:endParaRPr>
          </a:p>
          <a:p>
            <a:pPr marL="0" indent="0" algn="l">
              <a:lnSpc>
                <a:spcPts val="1350"/>
              </a:lnSpc>
              <a:buNone/>
            </a:pPr>
            <a:r>
              <a:rPr lang="en-US" sz="1125" dirty="0">
                <a:solidFill>
                  <a:srgbClr val="888888"/>
                </a:solidFill>
                <a:latin typeface="Times New Roman" panose="02020603050405020304" pitchFamily="18" charset="0"/>
                <a:ea typeface="Inter" pitchFamily="34" charset="-122"/>
                <a:cs typeface="Times New Roman" panose="02020603050405020304" pitchFamily="18" charset="0"/>
              </a:rPr>
              <a:t>forțează activarea unui număr mic de slot-uri.</a:t>
            </a:r>
            <a:endParaRPr lang="en-US" sz="1125" dirty="0">
              <a:latin typeface="Times New Roman" panose="02020603050405020304" pitchFamily="18" charset="0"/>
              <a:cs typeface="Times New Roman" panose="02020603050405020304" pitchFamily="18" charset="0"/>
            </a:endParaRPr>
          </a:p>
        </p:txBody>
      </p:sp>
      <p:sp>
        <p:nvSpPr>
          <p:cNvPr id="30" name="SK-5-text-29"/>
          <p:cNvSpPr/>
          <p:nvPr/>
        </p:nvSpPr>
        <p:spPr>
          <a:xfrm>
            <a:off x="902196" y="4128492"/>
            <a:ext cx="3460432" cy="212527"/>
          </a:xfrm>
          <a:prstGeom prst="rect">
            <a:avLst/>
          </a:prstGeom>
          <a:noFill/>
          <a:ln/>
        </p:spPr>
        <p:txBody>
          <a:bodyPr vert="horz" wrap="none" lIns="0" tIns="0" rIns="0" bIns="0" rtlCol="0" anchor="ctr"/>
          <a:lstStyle/>
          <a:p>
            <a:pPr marL="0" indent="0" algn="l">
              <a:buNone/>
            </a:pPr>
            <a:r>
              <a:rPr lang="en-US" sz="1575" b="1" dirty="0" err="1">
                <a:solidFill>
                  <a:srgbClr val="001B44"/>
                </a:solidFill>
                <a:latin typeface="Times New Roman" panose="02020603050405020304" pitchFamily="18" charset="0"/>
                <a:ea typeface="Inter" pitchFamily="34" charset="-122"/>
                <a:cs typeface="Times New Roman" panose="02020603050405020304" pitchFamily="18" charset="0"/>
              </a:rPr>
              <a:t>Obiectiv</a:t>
            </a:r>
            <a:r>
              <a:rPr lang="ro-RO" sz="1575" b="1" dirty="0">
                <a:solidFill>
                  <a:srgbClr val="001B44"/>
                </a:solidFill>
                <a:latin typeface="Times New Roman" panose="02020603050405020304" pitchFamily="18" charset="0"/>
                <a:ea typeface="Inter" pitchFamily="34" charset="-122"/>
                <a:cs typeface="Times New Roman" panose="02020603050405020304" pitchFamily="18" charset="0"/>
              </a:rPr>
              <a:t>(</a:t>
            </a:r>
            <a:r>
              <a:rPr lang="ro-RO" sz="1575" b="1" dirty="0" err="1">
                <a:solidFill>
                  <a:srgbClr val="001B44"/>
                </a:solidFill>
                <a:latin typeface="Times New Roman" panose="02020603050405020304" pitchFamily="18" charset="0"/>
                <a:ea typeface="Inter" pitchFamily="34" charset="-122"/>
                <a:cs typeface="Times New Roman" panose="02020603050405020304" pitchFamily="18" charset="0"/>
              </a:rPr>
              <a:t>Loss</a:t>
            </a:r>
            <a:r>
              <a:rPr lang="ro-RO" sz="1575" b="1" dirty="0">
                <a:solidFill>
                  <a:srgbClr val="001B44"/>
                </a:solidFill>
                <a:latin typeface="Times New Roman" panose="02020603050405020304" pitchFamily="18" charset="0"/>
                <a:ea typeface="Inter" pitchFamily="34" charset="-122"/>
                <a:cs typeface="Times New Roman" panose="02020603050405020304" pitchFamily="18" charset="0"/>
              </a:rPr>
              <a:t> total)</a:t>
            </a:r>
            <a:r>
              <a:rPr lang="en-US" sz="1575" b="1" dirty="0">
                <a:solidFill>
                  <a:srgbClr val="001B44"/>
                </a:solidFill>
                <a:latin typeface="Times New Roman" panose="02020603050405020304" pitchFamily="18" charset="0"/>
                <a:ea typeface="Inter" pitchFamily="34" charset="-122"/>
                <a:cs typeface="Times New Roman" panose="02020603050405020304" pitchFamily="18" charset="0"/>
              </a:rPr>
              <a:t> - training</a:t>
            </a:r>
            <a:endParaRPr lang="en-US" sz="1575" dirty="0">
              <a:latin typeface="Times New Roman" panose="02020603050405020304" pitchFamily="18" charset="0"/>
              <a:cs typeface="Times New Roman" panose="02020603050405020304" pitchFamily="18" charset="0"/>
            </a:endParaRPr>
          </a:p>
        </p:txBody>
      </p:sp>
      <p:sp>
        <p:nvSpPr>
          <p:cNvPr id="31" name="SK-5-text-30"/>
          <p:cNvSpPr/>
          <p:nvPr/>
        </p:nvSpPr>
        <p:spPr>
          <a:xfrm>
            <a:off x="2144718" y="5695429"/>
            <a:ext cx="6493192" cy="191988"/>
          </a:xfrm>
          <a:prstGeom prst="rect">
            <a:avLst/>
          </a:prstGeom>
          <a:noFill/>
          <a:ln/>
        </p:spPr>
        <p:txBody>
          <a:bodyPr vert="horz" wrap="none" lIns="0" tIns="0" rIns="0" bIns="0" rtlCol="0" anchor="ctr"/>
          <a:lstStyle/>
          <a:p>
            <a:pPr marL="0" indent="0" algn="l">
              <a:buNone/>
            </a:pPr>
            <a:r>
              <a:rPr lang="en-US" sz="1275" dirty="0">
                <a:solidFill>
                  <a:srgbClr val="888888"/>
                </a:solidFill>
                <a:latin typeface="Times New Roman" panose="02020603050405020304" pitchFamily="18" charset="0"/>
                <a:ea typeface="Inter" pitchFamily="34" charset="-122"/>
                <a:cs typeface="Times New Roman" panose="02020603050405020304" pitchFamily="18" charset="0"/>
              </a:rPr>
              <a:t>Stabil pe toate seturile de date</a:t>
            </a:r>
            <a:r>
              <a:rPr lang="ro-RO" sz="1275" dirty="0">
                <a:solidFill>
                  <a:srgbClr val="888888"/>
                </a:solidFill>
                <a:latin typeface="Times New Roman" panose="02020603050405020304" pitchFamily="18" charset="0"/>
                <a:ea typeface="Inter" pitchFamily="34" charset="-122"/>
                <a:cs typeface="Times New Roman" panose="02020603050405020304" pitchFamily="18" charset="0"/>
              </a:rPr>
              <a:t> </a:t>
            </a:r>
            <a:r>
              <a:rPr lang="en-US" sz="1275" dirty="0">
                <a:solidFill>
                  <a:srgbClr val="888888"/>
                </a:solidFill>
                <a:latin typeface="Times New Roman" panose="02020603050405020304" pitchFamily="18" charset="0"/>
                <a:ea typeface="Inter" pitchFamily="34" charset="-122"/>
                <a:cs typeface="Times New Roman" panose="02020603050405020304" pitchFamily="18" charset="0"/>
              </a:rPr>
              <a:t>.</a:t>
            </a:r>
            <a:endParaRPr lang="en-US" sz="1275" dirty="0">
              <a:latin typeface="Times New Roman" panose="02020603050405020304" pitchFamily="18" charset="0"/>
              <a:cs typeface="Times New Roman" panose="02020603050405020304" pitchFamily="18" charset="0"/>
            </a:endParaRPr>
          </a:p>
        </p:txBody>
      </p:sp>
      <p:sp>
        <p:nvSpPr>
          <p:cNvPr id="32" name="SK-5-text-31"/>
          <p:cNvSpPr/>
          <p:nvPr/>
        </p:nvSpPr>
        <p:spPr>
          <a:xfrm>
            <a:off x="6464499" y="4118222"/>
            <a:ext cx="3700462" cy="233065"/>
          </a:xfrm>
          <a:prstGeom prst="rect">
            <a:avLst/>
          </a:prstGeom>
          <a:noFill/>
          <a:ln/>
        </p:spPr>
        <p:txBody>
          <a:bodyPr vert="horz" wrap="none" lIns="0" tIns="0" rIns="0" bIns="0" rtlCol="0" anchor="ctr"/>
          <a:lstStyle/>
          <a:p>
            <a:pPr marL="0" indent="0" algn="l">
              <a:buNone/>
            </a:pPr>
            <a:r>
              <a:rPr lang="en-US" sz="1575" b="1" dirty="0">
                <a:solidFill>
                  <a:srgbClr val="001B44"/>
                </a:solidFill>
                <a:latin typeface="Times New Roman" panose="02020603050405020304" pitchFamily="18" charset="0"/>
                <a:ea typeface="Inter" pitchFamily="34" charset="-122"/>
                <a:cs typeface="Times New Roman" panose="02020603050405020304" pitchFamily="18" charset="0"/>
              </a:rPr>
              <a:t>Normality Score - testing</a:t>
            </a:r>
            <a:endParaRPr lang="en-US" sz="1575" dirty="0">
              <a:latin typeface="Times New Roman" panose="02020603050405020304" pitchFamily="18" charset="0"/>
              <a:cs typeface="Times New Roman" panose="02020603050405020304" pitchFamily="18" charset="0"/>
            </a:endParaRPr>
          </a:p>
        </p:txBody>
      </p:sp>
      <p:sp>
        <p:nvSpPr>
          <p:cNvPr id="33" name="SK-5-text-32"/>
          <p:cNvSpPr/>
          <p:nvPr/>
        </p:nvSpPr>
        <p:spPr>
          <a:xfrm>
            <a:off x="2365177" y="6322963"/>
            <a:ext cx="9826823" cy="212527"/>
          </a:xfrm>
          <a:prstGeom prst="rect">
            <a:avLst/>
          </a:prstGeom>
          <a:noFill/>
          <a:ln/>
        </p:spPr>
        <p:txBody>
          <a:bodyPr vert="horz" wrap="none" lIns="0" tIns="0" rIns="0" bIns="0" rtlCol="0" anchor="ctr"/>
          <a:lstStyle/>
          <a:p>
            <a:pPr marL="0" indent="0" algn="l">
              <a:buNone/>
            </a:pPr>
            <a:r>
              <a:rPr lang="en-US" sz="1425" dirty="0">
                <a:solidFill>
                  <a:srgbClr val="888888"/>
                </a:solidFill>
                <a:latin typeface="Times New Roman" panose="02020603050405020304" pitchFamily="18" charset="0"/>
                <a:ea typeface="Inter" pitchFamily="34" charset="-122"/>
                <a:cs typeface="Times New Roman" panose="02020603050405020304" pitchFamily="18" charset="0"/>
              </a:rPr>
              <a:t>Hard Shrinkage + Entropy Loss → sparsitate dublă → anomalii nu pot fi reconstruite fidel.</a:t>
            </a:r>
            <a:endParaRPr lang="en-US" sz="1425" dirty="0">
              <a:latin typeface="Times New Roman" panose="02020603050405020304" pitchFamily="18" charset="0"/>
              <a:cs typeface="Times New Roman" panose="02020603050405020304" pitchFamily="18" charset="0"/>
            </a:endParaRPr>
          </a:p>
        </p:txBody>
      </p:sp>
      <p:pic>
        <p:nvPicPr>
          <p:cNvPr id="34" name="SK-4-img-2" descr="preencoded.png">
            <a:extLst>
              <a:ext uri="{FF2B5EF4-FFF2-40B4-BE49-F238E27FC236}">
                <a16:creationId xmlns:a16="http://schemas.microsoft.com/office/drawing/2014/main" id="{D205CE56-BE99-4EAD-9ACE-D52F2B064C20}"/>
              </a:ext>
            </a:extLst>
          </p:cNvPr>
          <p:cNvPicPr>
            <a:picLocks noChangeAspect="1"/>
          </p:cNvPicPr>
          <p:nvPr/>
        </p:nvPicPr>
        <p:blipFill>
          <a:blip r:embed="rId23"/>
          <a:stretch>
            <a:fillRect/>
          </a:stretch>
        </p:blipFill>
        <p:spPr>
          <a:xfrm>
            <a:off x="0" y="0"/>
            <a:ext cx="146298" cy="6858000"/>
          </a:xfrm>
          <a:prstGeom prst="rect">
            <a:avLst/>
          </a:prstGeom>
        </p:spPr>
      </p:pic>
      <p:pic>
        <p:nvPicPr>
          <p:cNvPr id="35" name="SK-2-img-4" descr="preencoded.png">
            <a:extLst>
              <a:ext uri="{FF2B5EF4-FFF2-40B4-BE49-F238E27FC236}">
                <a16:creationId xmlns:a16="http://schemas.microsoft.com/office/drawing/2014/main" id="{2C61E429-6396-4A5E-BAEE-0C27893300CB}"/>
              </a:ext>
            </a:extLst>
          </p:cNvPr>
          <p:cNvPicPr>
            <a:picLocks noChangeAspect="1"/>
          </p:cNvPicPr>
          <p:nvPr/>
        </p:nvPicPr>
        <p:blipFill>
          <a:blip r:embed="rId24"/>
          <a:stretch>
            <a:fillRect/>
          </a:stretch>
        </p:blipFill>
        <p:spPr>
          <a:xfrm>
            <a:off x="487561" y="1227535"/>
            <a:ext cx="792361" cy="959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K-6-img-1" descr="preencoded.png"/>
          <p:cNvPicPr>
            <a:picLocks noChangeAspect="1"/>
          </p:cNvPicPr>
          <p:nvPr/>
        </p:nvPicPr>
        <p:blipFill>
          <a:blip r:embed="rId3"/>
          <a:stretch>
            <a:fillRect/>
          </a:stretch>
        </p:blipFill>
        <p:spPr>
          <a:xfrm>
            <a:off x="0" y="0"/>
            <a:ext cx="12192000" cy="6858000"/>
          </a:xfrm>
          <a:prstGeom prst="rect">
            <a:avLst/>
          </a:prstGeom>
        </p:spPr>
      </p:pic>
      <p:pic>
        <p:nvPicPr>
          <p:cNvPr id="5" name="SK-6-img-4" descr="preencoded.png"/>
          <p:cNvPicPr>
            <a:picLocks noChangeAspect="1"/>
          </p:cNvPicPr>
          <p:nvPr/>
        </p:nvPicPr>
        <p:blipFill>
          <a:blip r:embed="rId4"/>
          <a:stretch>
            <a:fillRect/>
          </a:stretch>
        </p:blipFill>
        <p:spPr>
          <a:xfrm>
            <a:off x="499765" y="1927027"/>
            <a:ext cx="3559969" cy="4142184"/>
          </a:xfrm>
          <a:prstGeom prst="rect">
            <a:avLst/>
          </a:prstGeom>
        </p:spPr>
      </p:pic>
      <p:pic>
        <p:nvPicPr>
          <p:cNvPr id="6" name="SK-6-img-5" descr="preencoded.png"/>
          <p:cNvPicPr>
            <a:picLocks noChangeAspect="1"/>
          </p:cNvPicPr>
          <p:nvPr/>
        </p:nvPicPr>
        <p:blipFill>
          <a:blip r:embed="rId4"/>
          <a:stretch>
            <a:fillRect/>
          </a:stretch>
        </p:blipFill>
        <p:spPr>
          <a:xfrm>
            <a:off x="4242792" y="1927027"/>
            <a:ext cx="3559969" cy="4142184"/>
          </a:xfrm>
          <a:prstGeom prst="rect">
            <a:avLst/>
          </a:prstGeom>
        </p:spPr>
      </p:pic>
      <p:pic>
        <p:nvPicPr>
          <p:cNvPr id="7" name="SK-6-img-6" descr="preencoded.png"/>
          <p:cNvPicPr>
            <a:picLocks noChangeAspect="1"/>
          </p:cNvPicPr>
          <p:nvPr/>
        </p:nvPicPr>
        <p:blipFill>
          <a:blip r:embed="rId4"/>
          <a:stretch>
            <a:fillRect/>
          </a:stretch>
        </p:blipFill>
        <p:spPr>
          <a:xfrm>
            <a:off x="7985671" y="1927027"/>
            <a:ext cx="3559969" cy="4142184"/>
          </a:xfrm>
          <a:prstGeom prst="rect">
            <a:avLst/>
          </a:prstGeom>
        </p:spPr>
      </p:pic>
      <p:pic>
        <p:nvPicPr>
          <p:cNvPr id="8" name="SK-6-img-7" descr="preencoded.png"/>
          <p:cNvPicPr>
            <a:picLocks noChangeAspect="1"/>
          </p:cNvPicPr>
          <p:nvPr/>
        </p:nvPicPr>
        <p:blipFill>
          <a:blip r:embed="rId5"/>
          <a:stretch>
            <a:fillRect/>
          </a:stretch>
        </p:blipFill>
        <p:spPr>
          <a:xfrm>
            <a:off x="499765" y="4514426"/>
            <a:ext cx="97482" cy="377130"/>
          </a:xfrm>
          <a:prstGeom prst="rect">
            <a:avLst/>
          </a:prstGeom>
        </p:spPr>
      </p:pic>
      <p:pic>
        <p:nvPicPr>
          <p:cNvPr id="9" name="SK-6-img-8" descr="preencoded.png"/>
          <p:cNvPicPr>
            <a:picLocks noChangeAspect="1"/>
          </p:cNvPicPr>
          <p:nvPr/>
        </p:nvPicPr>
        <p:blipFill>
          <a:blip r:embed="rId5"/>
          <a:stretch>
            <a:fillRect/>
          </a:stretch>
        </p:blipFill>
        <p:spPr>
          <a:xfrm>
            <a:off x="4281951" y="4396837"/>
            <a:ext cx="97482" cy="377130"/>
          </a:xfrm>
          <a:prstGeom prst="rect">
            <a:avLst/>
          </a:prstGeom>
        </p:spPr>
      </p:pic>
      <p:pic>
        <p:nvPicPr>
          <p:cNvPr id="10" name="SK-6-img-9" descr="preencoded.png"/>
          <p:cNvPicPr>
            <a:picLocks noChangeAspect="1"/>
          </p:cNvPicPr>
          <p:nvPr/>
        </p:nvPicPr>
        <p:blipFill>
          <a:blip r:embed="rId6"/>
          <a:stretch>
            <a:fillRect/>
          </a:stretch>
        </p:blipFill>
        <p:spPr>
          <a:xfrm>
            <a:off x="1072753" y="5472559"/>
            <a:ext cx="2413992" cy="432048"/>
          </a:xfrm>
          <a:prstGeom prst="rect">
            <a:avLst/>
          </a:prstGeom>
        </p:spPr>
      </p:pic>
      <p:pic>
        <p:nvPicPr>
          <p:cNvPr id="11" name="SK-6-img-10" descr="preencoded.png"/>
          <p:cNvPicPr>
            <a:picLocks noChangeAspect="1"/>
          </p:cNvPicPr>
          <p:nvPr/>
        </p:nvPicPr>
        <p:blipFill>
          <a:blip r:embed="rId7"/>
          <a:stretch>
            <a:fillRect/>
          </a:stretch>
        </p:blipFill>
        <p:spPr>
          <a:xfrm>
            <a:off x="4827983" y="5472559"/>
            <a:ext cx="2511327" cy="432048"/>
          </a:xfrm>
          <a:prstGeom prst="rect">
            <a:avLst/>
          </a:prstGeom>
        </p:spPr>
      </p:pic>
      <p:pic>
        <p:nvPicPr>
          <p:cNvPr id="12" name="SK-6-img-11" descr="preencoded.png"/>
          <p:cNvPicPr>
            <a:picLocks noChangeAspect="1"/>
          </p:cNvPicPr>
          <p:nvPr/>
        </p:nvPicPr>
        <p:blipFill>
          <a:blip r:embed="rId8"/>
          <a:stretch>
            <a:fillRect/>
          </a:stretch>
        </p:blipFill>
        <p:spPr>
          <a:xfrm>
            <a:off x="8570863" y="5472559"/>
            <a:ext cx="2548384" cy="432048"/>
          </a:xfrm>
          <a:prstGeom prst="rect">
            <a:avLst/>
          </a:prstGeom>
        </p:spPr>
      </p:pic>
      <p:pic>
        <p:nvPicPr>
          <p:cNvPr id="13" name="SK-6-img-12" descr="preencoded.png"/>
          <p:cNvPicPr>
            <a:picLocks noChangeAspect="1"/>
          </p:cNvPicPr>
          <p:nvPr/>
        </p:nvPicPr>
        <p:blipFill>
          <a:blip r:embed="rId9"/>
          <a:stretch>
            <a:fillRect/>
          </a:stretch>
        </p:blipFill>
        <p:spPr>
          <a:xfrm>
            <a:off x="0" y="6340971"/>
            <a:ext cx="10363200" cy="19050"/>
          </a:xfrm>
          <a:prstGeom prst="rect">
            <a:avLst/>
          </a:prstGeom>
        </p:spPr>
      </p:pic>
      <p:pic>
        <p:nvPicPr>
          <p:cNvPr id="14" name="SK-6-img-13" descr="preencoded.png"/>
          <p:cNvPicPr>
            <a:picLocks noChangeAspect="1"/>
          </p:cNvPicPr>
          <p:nvPr/>
        </p:nvPicPr>
        <p:blipFill>
          <a:blip r:embed="rId10"/>
          <a:stretch>
            <a:fillRect/>
          </a:stretch>
        </p:blipFill>
        <p:spPr>
          <a:xfrm>
            <a:off x="572988" y="2846040"/>
            <a:ext cx="3206496" cy="2061466"/>
          </a:xfrm>
          <a:prstGeom prst="rect">
            <a:avLst/>
          </a:prstGeom>
        </p:spPr>
      </p:pic>
      <p:pic>
        <p:nvPicPr>
          <p:cNvPr id="15" name="SK-6-img-14" descr="preencoded.png"/>
          <p:cNvPicPr>
            <a:picLocks noChangeAspect="1"/>
          </p:cNvPicPr>
          <p:nvPr/>
        </p:nvPicPr>
        <p:blipFill>
          <a:blip r:embed="rId11"/>
          <a:stretch>
            <a:fillRect/>
          </a:stretch>
        </p:blipFill>
        <p:spPr>
          <a:xfrm>
            <a:off x="572988" y="2846040"/>
            <a:ext cx="3206496" cy="334768"/>
          </a:xfrm>
          <a:prstGeom prst="rect">
            <a:avLst/>
          </a:prstGeom>
        </p:spPr>
      </p:pic>
      <p:pic>
        <p:nvPicPr>
          <p:cNvPr id="16" name="SK-6-img-15" descr="preencoded.png"/>
          <p:cNvPicPr>
            <a:picLocks noChangeAspect="1"/>
          </p:cNvPicPr>
          <p:nvPr/>
        </p:nvPicPr>
        <p:blipFill>
          <a:blip r:embed="rId12"/>
          <a:stretch>
            <a:fillRect/>
          </a:stretch>
        </p:blipFill>
        <p:spPr>
          <a:xfrm>
            <a:off x="8156377" y="2777430"/>
            <a:ext cx="3442784" cy="2290572"/>
          </a:xfrm>
          <a:prstGeom prst="rect">
            <a:avLst/>
          </a:prstGeom>
        </p:spPr>
      </p:pic>
      <p:pic>
        <p:nvPicPr>
          <p:cNvPr id="17" name="SK-6-img-16" descr="preencoded.png"/>
          <p:cNvPicPr>
            <a:picLocks noChangeAspect="1"/>
          </p:cNvPicPr>
          <p:nvPr/>
        </p:nvPicPr>
        <p:blipFill>
          <a:blip r:embed="rId13"/>
          <a:stretch>
            <a:fillRect/>
          </a:stretch>
        </p:blipFill>
        <p:spPr>
          <a:xfrm>
            <a:off x="8156377" y="2777430"/>
            <a:ext cx="980547" cy="369557"/>
          </a:xfrm>
          <a:prstGeom prst="rect">
            <a:avLst/>
          </a:prstGeom>
        </p:spPr>
      </p:pic>
      <p:pic>
        <p:nvPicPr>
          <p:cNvPr id="18" name="SK-6-img-17" descr="preencoded.png"/>
          <p:cNvPicPr>
            <a:picLocks noChangeAspect="1"/>
          </p:cNvPicPr>
          <p:nvPr/>
        </p:nvPicPr>
        <p:blipFill>
          <a:blip r:embed="rId14"/>
          <a:stretch>
            <a:fillRect/>
          </a:stretch>
        </p:blipFill>
        <p:spPr>
          <a:xfrm>
            <a:off x="9136924" y="2777430"/>
            <a:ext cx="820698" cy="369557"/>
          </a:xfrm>
          <a:prstGeom prst="rect">
            <a:avLst/>
          </a:prstGeom>
        </p:spPr>
      </p:pic>
      <p:pic>
        <p:nvPicPr>
          <p:cNvPr id="19" name="SK-6-img-18" descr="preencoded.png"/>
          <p:cNvPicPr>
            <a:picLocks noChangeAspect="1"/>
          </p:cNvPicPr>
          <p:nvPr/>
        </p:nvPicPr>
        <p:blipFill>
          <a:blip r:embed="rId14"/>
          <a:stretch>
            <a:fillRect/>
          </a:stretch>
        </p:blipFill>
        <p:spPr>
          <a:xfrm>
            <a:off x="9957621" y="2777430"/>
            <a:ext cx="820698" cy="369557"/>
          </a:xfrm>
          <a:prstGeom prst="rect">
            <a:avLst/>
          </a:prstGeom>
        </p:spPr>
      </p:pic>
      <p:pic>
        <p:nvPicPr>
          <p:cNvPr id="20" name="SK-6-img-19" descr="preencoded.png"/>
          <p:cNvPicPr>
            <a:picLocks noChangeAspect="1"/>
          </p:cNvPicPr>
          <p:nvPr/>
        </p:nvPicPr>
        <p:blipFill>
          <a:blip r:embed="rId14"/>
          <a:stretch>
            <a:fillRect/>
          </a:stretch>
        </p:blipFill>
        <p:spPr>
          <a:xfrm>
            <a:off x="10778319" y="2777430"/>
            <a:ext cx="820842" cy="369557"/>
          </a:xfrm>
          <a:prstGeom prst="rect">
            <a:avLst/>
          </a:prstGeom>
        </p:spPr>
      </p:pic>
      <p:pic>
        <p:nvPicPr>
          <p:cNvPr id="21" name="SK-6-img-20" descr="preencoded.png"/>
          <p:cNvPicPr>
            <a:picLocks noChangeAspect="1"/>
          </p:cNvPicPr>
          <p:nvPr/>
        </p:nvPicPr>
        <p:blipFill>
          <a:blip r:embed="rId15"/>
          <a:stretch>
            <a:fillRect/>
          </a:stretch>
        </p:blipFill>
        <p:spPr>
          <a:xfrm>
            <a:off x="8156377" y="4361482"/>
            <a:ext cx="980547" cy="706520"/>
          </a:xfrm>
          <a:prstGeom prst="rect">
            <a:avLst/>
          </a:prstGeom>
        </p:spPr>
      </p:pic>
      <p:pic>
        <p:nvPicPr>
          <p:cNvPr id="22" name="SK-6-img-21" descr="preencoded.png"/>
          <p:cNvPicPr>
            <a:picLocks noChangeAspect="1"/>
          </p:cNvPicPr>
          <p:nvPr/>
        </p:nvPicPr>
        <p:blipFill>
          <a:blip r:embed="rId16"/>
          <a:stretch>
            <a:fillRect/>
          </a:stretch>
        </p:blipFill>
        <p:spPr>
          <a:xfrm>
            <a:off x="4364682" y="2846040"/>
            <a:ext cx="3209585" cy="1938721"/>
          </a:xfrm>
          <a:prstGeom prst="rect">
            <a:avLst/>
          </a:prstGeom>
        </p:spPr>
      </p:pic>
      <p:pic>
        <p:nvPicPr>
          <p:cNvPr id="23" name="SK-6-img-22" descr="preencoded.png"/>
          <p:cNvPicPr>
            <a:picLocks noChangeAspect="1"/>
          </p:cNvPicPr>
          <p:nvPr/>
        </p:nvPicPr>
        <p:blipFill>
          <a:blip r:embed="rId17"/>
          <a:stretch>
            <a:fillRect/>
          </a:stretch>
        </p:blipFill>
        <p:spPr>
          <a:xfrm>
            <a:off x="4364682" y="2846040"/>
            <a:ext cx="1042785" cy="356285"/>
          </a:xfrm>
          <a:prstGeom prst="rect">
            <a:avLst/>
          </a:prstGeom>
        </p:spPr>
      </p:pic>
      <p:pic>
        <p:nvPicPr>
          <p:cNvPr id="24" name="SK-6-img-23" descr="preencoded.png"/>
          <p:cNvPicPr>
            <a:picLocks noChangeAspect="1"/>
          </p:cNvPicPr>
          <p:nvPr/>
        </p:nvPicPr>
        <p:blipFill>
          <a:blip r:embed="rId18"/>
          <a:stretch>
            <a:fillRect/>
          </a:stretch>
        </p:blipFill>
        <p:spPr>
          <a:xfrm>
            <a:off x="5407468" y="2846040"/>
            <a:ext cx="556840" cy="356285"/>
          </a:xfrm>
          <a:prstGeom prst="rect">
            <a:avLst/>
          </a:prstGeom>
        </p:spPr>
      </p:pic>
      <p:pic>
        <p:nvPicPr>
          <p:cNvPr id="25" name="SK-6-img-24" descr="preencoded.png"/>
          <p:cNvPicPr>
            <a:picLocks noChangeAspect="1"/>
          </p:cNvPicPr>
          <p:nvPr/>
        </p:nvPicPr>
        <p:blipFill>
          <a:blip r:embed="rId19"/>
          <a:stretch>
            <a:fillRect/>
          </a:stretch>
        </p:blipFill>
        <p:spPr>
          <a:xfrm>
            <a:off x="5964308" y="2846040"/>
            <a:ext cx="728917" cy="356285"/>
          </a:xfrm>
          <a:prstGeom prst="rect">
            <a:avLst/>
          </a:prstGeom>
        </p:spPr>
      </p:pic>
      <p:pic>
        <p:nvPicPr>
          <p:cNvPr id="26" name="SK-6-img-25" descr="preencoded.png"/>
          <p:cNvPicPr>
            <a:picLocks noChangeAspect="1"/>
          </p:cNvPicPr>
          <p:nvPr/>
        </p:nvPicPr>
        <p:blipFill>
          <a:blip r:embed="rId20"/>
          <a:stretch>
            <a:fillRect/>
          </a:stretch>
        </p:blipFill>
        <p:spPr>
          <a:xfrm>
            <a:off x="6693225" y="2846040"/>
            <a:ext cx="881043" cy="356285"/>
          </a:xfrm>
          <a:prstGeom prst="rect">
            <a:avLst/>
          </a:prstGeom>
        </p:spPr>
      </p:pic>
      <p:pic>
        <p:nvPicPr>
          <p:cNvPr id="27" name="SK-6-img-26" descr="preencoded.png"/>
          <p:cNvPicPr>
            <a:picLocks noChangeAspect="1"/>
          </p:cNvPicPr>
          <p:nvPr/>
        </p:nvPicPr>
        <p:blipFill>
          <a:blip r:embed="rId21"/>
          <a:stretch>
            <a:fillRect/>
          </a:stretch>
        </p:blipFill>
        <p:spPr>
          <a:xfrm>
            <a:off x="8662392" y="5548015"/>
            <a:ext cx="304800" cy="260598"/>
          </a:xfrm>
          <a:prstGeom prst="rect">
            <a:avLst/>
          </a:prstGeom>
        </p:spPr>
      </p:pic>
      <p:pic>
        <p:nvPicPr>
          <p:cNvPr id="28" name="SK-6-img-27" descr="preencoded.png"/>
          <p:cNvPicPr>
            <a:picLocks noChangeAspect="1"/>
          </p:cNvPicPr>
          <p:nvPr/>
        </p:nvPicPr>
        <p:blipFill>
          <a:blip r:embed="rId22"/>
          <a:stretch>
            <a:fillRect/>
          </a:stretch>
        </p:blipFill>
        <p:spPr>
          <a:xfrm>
            <a:off x="8241655" y="2105323"/>
            <a:ext cx="438894" cy="479971"/>
          </a:xfrm>
          <a:prstGeom prst="rect">
            <a:avLst/>
          </a:prstGeom>
        </p:spPr>
      </p:pic>
      <p:pic>
        <p:nvPicPr>
          <p:cNvPr id="29" name="SK-6-img-28" descr="preencoded.png"/>
          <p:cNvPicPr>
            <a:picLocks noChangeAspect="1"/>
          </p:cNvPicPr>
          <p:nvPr/>
        </p:nvPicPr>
        <p:blipFill>
          <a:blip r:embed="rId23"/>
          <a:stretch>
            <a:fillRect/>
          </a:stretch>
        </p:blipFill>
        <p:spPr>
          <a:xfrm>
            <a:off x="4681686" y="5561707"/>
            <a:ext cx="316855" cy="212527"/>
          </a:xfrm>
          <a:prstGeom prst="rect">
            <a:avLst/>
          </a:prstGeom>
        </p:spPr>
      </p:pic>
      <p:pic>
        <p:nvPicPr>
          <p:cNvPr id="30" name="SK-6-img-29" descr="preencoded.png"/>
          <p:cNvPicPr>
            <a:picLocks noChangeAspect="1"/>
          </p:cNvPicPr>
          <p:nvPr/>
        </p:nvPicPr>
        <p:blipFill>
          <a:blip r:embed="rId24"/>
          <a:stretch>
            <a:fillRect/>
          </a:stretch>
        </p:blipFill>
        <p:spPr>
          <a:xfrm>
            <a:off x="4401294" y="2160240"/>
            <a:ext cx="572988" cy="383977"/>
          </a:xfrm>
          <a:prstGeom prst="rect">
            <a:avLst/>
          </a:prstGeom>
        </p:spPr>
      </p:pic>
      <p:pic>
        <p:nvPicPr>
          <p:cNvPr id="31" name="SK-6-img-30" descr="preencoded.png"/>
          <p:cNvPicPr>
            <a:picLocks noChangeAspect="1"/>
          </p:cNvPicPr>
          <p:nvPr/>
        </p:nvPicPr>
        <p:blipFill>
          <a:blip r:embed="rId25"/>
          <a:stretch>
            <a:fillRect/>
          </a:stretch>
        </p:blipFill>
        <p:spPr>
          <a:xfrm>
            <a:off x="1243459" y="5548015"/>
            <a:ext cx="292596" cy="260598"/>
          </a:xfrm>
          <a:prstGeom prst="rect">
            <a:avLst/>
          </a:prstGeom>
        </p:spPr>
      </p:pic>
      <p:pic>
        <p:nvPicPr>
          <p:cNvPr id="32" name="SK-6-img-31" descr="preencoded.png"/>
          <p:cNvPicPr>
            <a:picLocks noChangeAspect="1"/>
          </p:cNvPicPr>
          <p:nvPr/>
        </p:nvPicPr>
        <p:blipFill>
          <a:blip r:embed="rId26"/>
          <a:stretch>
            <a:fillRect/>
          </a:stretch>
        </p:blipFill>
        <p:spPr>
          <a:xfrm>
            <a:off x="633859" y="2112169"/>
            <a:ext cx="524173" cy="473125"/>
          </a:xfrm>
          <a:prstGeom prst="rect">
            <a:avLst/>
          </a:prstGeom>
        </p:spPr>
      </p:pic>
      <p:sp>
        <p:nvSpPr>
          <p:cNvPr id="33" name="SK-6-text-32"/>
          <p:cNvSpPr/>
          <p:nvPr/>
        </p:nvSpPr>
        <p:spPr>
          <a:xfrm>
            <a:off x="687293" y="2846040"/>
            <a:ext cx="1338031" cy="334768"/>
          </a:xfrm>
          <a:prstGeom prst="rect">
            <a:avLst/>
          </a:prstGeom>
          <a:noFill/>
          <a:ln/>
        </p:spPr>
        <p:txBody>
          <a:bodyPr vert="horz" wrap="square" lIns="0" tIns="0" rIns="0" bIns="0" rtlCol="0" anchor="ctr"/>
          <a:lstStyle/>
          <a:p>
            <a:pPr marL="0" indent="0" algn="l">
              <a:buNone/>
            </a:pPr>
            <a:r>
              <a:rPr lang="en-US" sz="1200" b="1" dirty="0">
                <a:solidFill>
                  <a:srgbClr val="002B5B"/>
                </a:solidFill>
                <a:latin typeface="Times New Roman" panose="02020603050405020304" pitchFamily="18" charset="0"/>
                <a:cs typeface="Times New Roman" panose="02020603050405020304" pitchFamily="18" charset="0"/>
              </a:rPr>
              <a:t>Metodă</a:t>
            </a:r>
            <a:endParaRPr lang="en-US" sz="1200" dirty="0">
              <a:latin typeface="Times New Roman" panose="02020603050405020304" pitchFamily="18" charset="0"/>
              <a:cs typeface="Times New Roman" panose="02020603050405020304" pitchFamily="18" charset="0"/>
            </a:endParaRPr>
          </a:p>
        </p:txBody>
      </p:sp>
      <p:sp>
        <p:nvSpPr>
          <p:cNvPr id="34" name="SK-6-text-33"/>
          <p:cNvSpPr/>
          <p:nvPr/>
        </p:nvSpPr>
        <p:spPr>
          <a:xfrm>
            <a:off x="2025320" y="2846040"/>
            <a:ext cx="597132" cy="334768"/>
          </a:xfrm>
          <a:prstGeom prst="rect">
            <a:avLst/>
          </a:prstGeom>
          <a:noFill/>
          <a:ln/>
        </p:spPr>
        <p:txBody>
          <a:bodyPr vert="horz" wrap="square" lIns="0" tIns="0" rIns="0" bIns="0" rtlCol="0" anchor="ctr"/>
          <a:lstStyle/>
          <a:p>
            <a:pPr marL="0" indent="0" algn="ctr">
              <a:buNone/>
            </a:pPr>
            <a:r>
              <a:rPr lang="en-US" sz="1200" b="1" dirty="0">
                <a:solidFill>
                  <a:srgbClr val="002B5B"/>
                </a:solidFill>
                <a:latin typeface="Times New Roman" panose="02020603050405020304" pitchFamily="18" charset="0"/>
                <a:cs typeface="Times New Roman" panose="02020603050405020304" pitchFamily="18" charset="0"/>
              </a:rPr>
              <a:t>MNIST</a:t>
            </a:r>
            <a:endParaRPr lang="en-US" sz="1200" dirty="0">
              <a:latin typeface="Times New Roman" panose="02020603050405020304" pitchFamily="18" charset="0"/>
              <a:cs typeface="Times New Roman" panose="02020603050405020304" pitchFamily="18" charset="0"/>
            </a:endParaRPr>
          </a:p>
        </p:txBody>
      </p:sp>
      <p:sp>
        <p:nvSpPr>
          <p:cNvPr id="35" name="SK-6-text-34"/>
          <p:cNvSpPr/>
          <p:nvPr/>
        </p:nvSpPr>
        <p:spPr>
          <a:xfrm>
            <a:off x="2774852" y="2846040"/>
            <a:ext cx="814133" cy="334768"/>
          </a:xfrm>
          <a:prstGeom prst="rect">
            <a:avLst/>
          </a:prstGeom>
          <a:noFill/>
          <a:ln/>
        </p:spPr>
        <p:txBody>
          <a:bodyPr vert="horz" wrap="square" lIns="0" tIns="0" rIns="0" bIns="0" rtlCol="0" anchor="ctr"/>
          <a:lstStyle/>
          <a:p>
            <a:pPr marL="0" indent="0" algn="ctr">
              <a:buNone/>
            </a:pPr>
            <a:r>
              <a:rPr lang="en-US" sz="1200" b="1" dirty="0">
                <a:solidFill>
                  <a:srgbClr val="002B5B"/>
                </a:solidFill>
                <a:latin typeface="Times New Roman" panose="02020603050405020304" pitchFamily="18" charset="0"/>
                <a:cs typeface="Times New Roman" panose="02020603050405020304" pitchFamily="18" charset="0"/>
              </a:rPr>
              <a:t>CIFAR-10</a:t>
            </a:r>
            <a:endParaRPr lang="en-US" sz="1200" dirty="0">
              <a:latin typeface="Times New Roman" panose="02020603050405020304" pitchFamily="18" charset="0"/>
              <a:cs typeface="Times New Roman" panose="02020603050405020304" pitchFamily="18" charset="0"/>
            </a:endParaRPr>
          </a:p>
        </p:txBody>
      </p:sp>
      <p:sp>
        <p:nvSpPr>
          <p:cNvPr id="36" name="SK-6-text-35"/>
          <p:cNvSpPr/>
          <p:nvPr/>
        </p:nvSpPr>
        <p:spPr>
          <a:xfrm>
            <a:off x="687293" y="3180808"/>
            <a:ext cx="1338031" cy="345230"/>
          </a:xfrm>
          <a:prstGeom prst="rect">
            <a:avLst/>
          </a:prstGeom>
          <a:noFill/>
          <a:ln/>
        </p:spPr>
        <p:txBody>
          <a:bodyPr vert="horz" wrap="square" lIns="0" tIns="0" rIns="0" bIns="0" rtlCol="0" anchor="ctr"/>
          <a:lstStyle/>
          <a:p>
            <a:pPr marL="0" indent="0" algn="l">
              <a:buNone/>
            </a:pPr>
            <a:r>
              <a:rPr lang="en-US" sz="1200" dirty="0">
                <a:solidFill>
                  <a:srgbClr val="1A1A1A"/>
                </a:solidFill>
                <a:latin typeface="Times New Roman" panose="02020603050405020304" pitchFamily="18" charset="0"/>
                <a:cs typeface="Times New Roman" panose="02020603050405020304" pitchFamily="18" charset="0"/>
              </a:rPr>
              <a:t>OC-SVM</a:t>
            </a:r>
            <a:endParaRPr lang="en-US" sz="1200" dirty="0">
              <a:latin typeface="Times New Roman" panose="02020603050405020304" pitchFamily="18" charset="0"/>
              <a:cs typeface="Times New Roman" panose="02020603050405020304" pitchFamily="18" charset="0"/>
            </a:endParaRPr>
          </a:p>
        </p:txBody>
      </p:sp>
      <p:sp>
        <p:nvSpPr>
          <p:cNvPr id="37" name="SK-6-text-36"/>
          <p:cNvSpPr/>
          <p:nvPr/>
        </p:nvSpPr>
        <p:spPr>
          <a:xfrm>
            <a:off x="2025320" y="3180808"/>
            <a:ext cx="597132" cy="345230"/>
          </a:xfrm>
          <a:prstGeom prst="rect">
            <a:avLst/>
          </a:prstGeom>
          <a:noFill/>
          <a:ln/>
        </p:spPr>
        <p:txBody>
          <a:bodyPr vert="horz" wrap="square" lIns="0" tIns="0" rIns="0" bIns="0" rtlCol="0" anchor="ctr"/>
          <a:lstStyle/>
          <a:p>
            <a:pPr marL="0" indent="0" algn="ctr">
              <a:buNone/>
            </a:pPr>
            <a:r>
              <a:rPr lang="en-US" sz="1200" dirty="0">
                <a:solidFill>
                  <a:srgbClr val="1A1A1A"/>
                </a:solidFill>
                <a:latin typeface="Times New Roman" panose="02020603050405020304" pitchFamily="18" charset="0"/>
                <a:cs typeface="Times New Roman" panose="02020603050405020304" pitchFamily="18" charset="0"/>
              </a:rPr>
              <a:t>0.9499</a:t>
            </a:r>
            <a:endParaRPr lang="en-US" sz="1200" dirty="0">
              <a:latin typeface="Times New Roman" panose="02020603050405020304" pitchFamily="18" charset="0"/>
              <a:cs typeface="Times New Roman" panose="02020603050405020304" pitchFamily="18" charset="0"/>
            </a:endParaRPr>
          </a:p>
        </p:txBody>
      </p:sp>
      <p:sp>
        <p:nvSpPr>
          <p:cNvPr id="38" name="SK-6-text-37"/>
          <p:cNvSpPr/>
          <p:nvPr/>
        </p:nvSpPr>
        <p:spPr>
          <a:xfrm>
            <a:off x="2774852" y="3180808"/>
            <a:ext cx="814133" cy="345230"/>
          </a:xfrm>
          <a:prstGeom prst="rect">
            <a:avLst/>
          </a:prstGeom>
          <a:noFill/>
          <a:ln/>
        </p:spPr>
        <p:txBody>
          <a:bodyPr vert="horz" wrap="square" lIns="0" tIns="0" rIns="0" bIns="0" rtlCol="0" anchor="ctr"/>
          <a:lstStyle/>
          <a:p>
            <a:pPr marL="0" indent="0" algn="ctr">
              <a:buNone/>
            </a:pPr>
            <a:r>
              <a:rPr lang="en-US" sz="1200" dirty="0">
                <a:solidFill>
                  <a:srgbClr val="1A1A1A"/>
                </a:solidFill>
                <a:latin typeface="Times New Roman" panose="02020603050405020304" pitchFamily="18" charset="0"/>
                <a:cs typeface="Times New Roman" panose="02020603050405020304" pitchFamily="18" charset="0"/>
              </a:rPr>
              <a:t>0.5619</a:t>
            </a:r>
            <a:endParaRPr lang="en-US" sz="1200" dirty="0">
              <a:latin typeface="Times New Roman" panose="02020603050405020304" pitchFamily="18" charset="0"/>
              <a:cs typeface="Times New Roman" panose="02020603050405020304" pitchFamily="18" charset="0"/>
            </a:endParaRPr>
          </a:p>
        </p:txBody>
      </p:sp>
      <p:sp>
        <p:nvSpPr>
          <p:cNvPr id="39" name="SK-6-text-38"/>
          <p:cNvSpPr/>
          <p:nvPr/>
        </p:nvSpPr>
        <p:spPr>
          <a:xfrm>
            <a:off x="687293" y="3526038"/>
            <a:ext cx="1338031" cy="345230"/>
          </a:xfrm>
          <a:prstGeom prst="rect">
            <a:avLst/>
          </a:prstGeom>
          <a:noFill/>
          <a:ln/>
        </p:spPr>
        <p:txBody>
          <a:bodyPr vert="horz" wrap="square" lIns="0" tIns="0" rIns="0" bIns="0" rtlCol="0" anchor="ctr"/>
          <a:lstStyle/>
          <a:p>
            <a:pPr marL="0" indent="0" algn="l">
              <a:buNone/>
            </a:pPr>
            <a:r>
              <a:rPr lang="en-US" sz="1200" dirty="0">
                <a:solidFill>
                  <a:srgbClr val="1A1A1A"/>
                </a:solidFill>
                <a:latin typeface="Times New Roman" panose="02020603050405020304" pitchFamily="18" charset="0"/>
                <a:cs typeface="Times New Roman" panose="02020603050405020304" pitchFamily="18" charset="0"/>
              </a:rPr>
              <a:t>VAE</a:t>
            </a:r>
            <a:endParaRPr lang="en-US" sz="1200" dirty="0">
              <a:latin typeface="Times New Roman" panose="02020603050405020304" pitchFamily="18" charset="0"/>
              <a:cs typeface="Times New Roman" panose="02020603050405020304" pitchFamily="18" charset="0"/>
            </a:endParaRPr>
          </a:p>
        </p:txBody>
      </p:sp>
      <p:sp>
        <p:nvSpPr>
          <p:cNvPr id="40" name="SK-6-text-39"/>
          <p:cNvSpPr/>
          <p:nvPr/>
        </p:nvSpPr>
        <p:spPr>
          <a:xfrm>
            <a:off x="2025320" y="3526038"/>
            <a:ext cx="597132" cy="345230"/>
          </a:xfrm>
          <a:prstGeom prst="rect">
            <a:avLst/>
          </a:prstGeom>
          <a:noFill/>
          <a:ln/>
        </p:spPr>
        <p:txBody>
          <a:bodyPr vert="horz" wrap="square" lIns="0" tIns="0" rIns="0" bIns="0" rtlCol="0" anchor="ctr"/>
          <a:lstStyle/>
          <a:p>
            <a:pPr marL="0" indent="0" algn="ctr">
              <a:buNone/>
            </a:pPr>
            <a:r>
              <a:rPr lang="en-US" sz="1200" dirty="0">
                <a:solidFill>
                  <a:srgbClr val="1A1A1A"/>
                </a:solidFill>
                <a:latin typeface="Times New Roman" panose="02020603050405020304" pitchFamily="18" charset="0"/>
                <a:cs typeface="Times New Roman" panose="02020603050405020304" pitchFamily="18" charset="0"/>
              </a:rPr>
              <a:t>0.9643</a:t>
            </a:r>
            <a:endParaRPr lang="en-US" sz="1200" dirty="0">
              <a:latin typeface="Times New Roman" panose="02020603050405020304" pitchFamily="18" charset="0"/>
              <a:cs typeface="Times New Roman" panose="02020603050405020304" pitchFamily="18" charset="0"/>
            </a:endParaRPr>
          </a:p>
        </p:txBody>
      </p:sp>
      <p:sp>
        <p:nvSpPr>
          <p:cNvPr id="41" name="SK-6-text-40"/>
          <p:cNvSpPr/>
          <p:nvPr/>
        </p:nvSpPr>
        <p:spPr>
          <a:xfrm>
            <a:off x="2774852" y="3526038"/>
            <a:ext cx="814133" cy="345230"/>
          </a:xfrm>
          <a:prstGeom prst="rect">
            <a:avLst/>
          </a:prstGeom>
          <a:noFill/>
          <a:ln/>
        </p:spPr>
        <p:txBody>
          <a:bodyPr vert="horz" wrap="square" lIns="0" tIns="0" rIns="0" bIns="0" rtlCol="0" anchor="ctr"/>
          <a:lstStyle/>
          <a:p>
            <a:pPr marL="0" indent="0" algn="ctr">
              <a:buNone/>
            </a:pPr>
            <a:r>
              <a:rPr lang="en-US" sz="1200" dirty="0">
                <a:solidFill>
                  <a:srgbClr val="1A1A1A"/>
                </a:solidFill>
                <a:latin typeface="Times New Roman" panose="02020603050405020304" pitchFamily="18" charset="0"/>
                <a:cs typeface="Times New Roman" panose="02020603050405020304" pitchFamily="18" charset="0"/>
              </a:rPr>
              <a:t>0.5725</a:t>
            </a:r>
            <a:endParaRPr lang="en-US" sz="1200" dirty="0">
              <a:latin typeface="Times New Roman" panose="02020603050405020304" pitchFamily="18" charset="0"/>
              <a:cs typeface="Times New Roman" panose="02020603050405020304" pitchFamily="18" charset="0"/>
            </a:endParaRPr>
          </a:p>
        </p:txBody>
      </p:sp>
      <p:sp>
        <p:nvSpPr>
          <p:cNvPr id="42" name="SK-6-text-41"/>
          <p:cNvSpPr/>
          <p:nvPr/>
        </p:nvSpPr>
        <p:spPr>
          <a:xfrm>
            <a:off x="687293" y="3871267"/>
            <a:ext cx="1779332" cy="345230"/>
          </a:xfrm>
          <a:prstGeom prst="rect">
            <a:avLst/>
          </a:prstGeom>
          <a:noFill/>
          <a:ln/>
        </p:spPr>
        <p:txBody>
          <a:bodyPr vert="horz" wrap="square" lIns="0" tIns="0" rIns="0" bIns="0" rtlCol="0" anchor="ctr"/>
          <a:lstStyle/>
          <a:p>
            <a:pPr marL="0" indent="0" algn="l">
              <a:buNone/>
            </a:pPr>
            <a:r>
              <a:rPr lang="en-US" sz="1200" dirty="0">
                <a:solidFill>
                  <a:srgbClr val="1A1A1A"/>
                </a:solidFill>
                <a:latin typeface="Times New Roman" panose="02020603050405020304" pitchFamily="18" charset="0"/>
                <a:cs typeface="Times New Roman" panose="02020603050405020304" pitchFamily="18" charset="0"/>
              </a:rPr>
              <a:t>AE baseline</a:t>
            </a:r>
            <a:endParaRPr lang="en-US" sz="1200" dirty="0">
              <a:latin typeface="Times New Roman" panose="02020603050405020304" pitchFamily="18" charset="0"/>
              <a:cs typeface="Times New Roman" panose="02020603050405020304" pitchFamily="18" charset="0"/>
            </a:endParaRPr>
          </a:p>
        </p:txBody>
      </p:sp>
      <p:sp>
        <p:nvSpPr>
          <p:cNvPr id="43" name="SK-6-text-42"/>
          <p:cNvSpPr/>
          <p:nvPr/>
        </p:nvSpPr>
        <p:spPr>
          <a:xfrm>
            <a:off x="2025320" y="3871267"/>
            <a:ext cx="597132" cy="345230"/>
          </a:xfrm>
          <a:prstGeom prst="rect">
            <a:avLst/>
          </a:prstGeom>
          <a:noFill/>
          <a:ln/>
        </p:spPr>
        <p:txBody>
          <a:bodyPr vert="horz" wrap="square" lIns="0" tIns="0" rIns="0" bIns="0" rtlCol="0" anchor="ctr"/>
          <a:lstStyle/>
          <a:p>
            <a:pPr marL="0" indent="0" algn="ctr">
              <a:buNone/>
            </a:pPr>
            <a:r>
              <a:rPr lang="en-US" sz="1200" dirty="0">
                <a:solidFill>
                  <a:srgbClr val="1A1A1A"/>
                </a:solidFill>
                <a:latin typeface="Times New Roman" panose="02020603050405020304" pitchFamily="18" charset="0"/>
                <a:cs typeface="Times New Roman" panose="02020603050405020304" pitchFamily="18" charset="0"/>
              </a:rPr>
              <a:t>0.9619</a:t>
            </a:r>
            <a:endParaRPr lang="en-US" sz="1200" dirty="0">
              <a:latin typeface="Times New Roman" panose="02020603050405020304" pitchFamily="18" charset="0"/>
              <a:cs typeface="Times New Roman" panose="02020603050405020304" pitchFamily="18" charset="0"/>
            </a:endParaRPr>
          </a:p>
        </p:txBody>
      </p:sp>
      <p:sp>
        <p:nvSpPr>
          <p:cNvPr id="44" name="SK-6-text-43"/>
          <p:cNvSpPr/>
          <p:nvPr/>
        </p:nvSpPr>
        <p:spPr>
          <a:xfrm>
            <a:off x="2774852" y="3871267"/>
            <a:ext cx="814133" cy="345230"/>
          </a:xfrm>
          <a:prstGeom prst="rect">
            <a:avLst/>
          </a:prstGeom>
          <a:noFill/>
          <a:ln/>
        </p:spPr>
        <p:txBody>
          <a:bodyPr vert="horz" wrap="square" lIns="0" tIns="0" rIns="0" bIns="0" rtlCol="0" anchor="ctr"/>
          <a:lstStyle/>
          <a:p>
            <a:pPr marL="0" indent="0" algn="ctr">
              <a:buNone/>
            </a:pPr>
            <a:r>
              <a:rPr lang="en-US" sz="1200" dirty="0">
                <a:solidFill>
                  <a:srgbClr val="1A1A1A"/>
                </a:solidFill>
                <a:latin typeface="Times New Roman" panose="02020603050405020304" pitchFamily="18" charset="0"/>
                <a:cs typeface="Times New Roman" panose="02020603050405020304" pitchFamily="18" charset="0"/>
              </a:rPr>
              <a:t>0.5706</a:t>
            </a:r>
            <a:endParaRPr lang="en-US" sz="1200" dirty="0">
              <a:latin typeface="Times New Roman" panose="02020603050405020304" pitchFamily="18" charset="0"/>
              <a:cs typeface="Times New Roman" panose="02020603050405020304" pitchFamily="18" charset="0"/>
            </a:endParaRPr>
          </a:p>
        </p:txBody>
      </p:sp>
      <p:sp>
        <p:nvSpPr>
          <p:cNvPr id="45" name="SK-6-text-44"/>
          <p:cNvSpPr/>
          <p:nvPr/>
        </p:nvSpPr>
        <p:spPr>
          <a:xfrm>
            <a:off x="687293" y="4216497"/>
            <a:ext cx="2088992" cy="345230"/>
          </a:xfrm>
          <a:prstGeom prst="rect">
            <a:avLst/>
          </a:prstGeom>
          <a:noFill/>
          <a:ln/>
        </p:spPr>
        <p:txBody>
          <a:bodyPr vert="horz" wrap="square" lIns="0" tIns="0" rIns="0" bIns="0" rtlCol="0" anchor="ctr"/>
          <a:lstStyle/>
          <a:p>
            <a:pPr marL="0" indent="0" algn="l">
              <a:buNone/>
            </a:pPr>
            <a:r>
              <a:rPr lang="en-US" sz="1200" dirty="0">
                <a:solidFill>
                  <a:srgbClr val="1A1A1A"/>
                </a:solidFill>
                <a:latin typeface="Times New Roman" panose="02020603050405020304" pitchFamily="18" charset="0"/>
                <a:cs typeface="Times New Roman" panose="02020603050405020304" pitchFamily="18" charset="0"/>
              </a:rPr>
              <a:t>MemAE-nonSpar</a:t>
            </a:r>
            <a:endParaRPr lang="en-US" sz="1200" dirty="0">
              <a:latin typeface="Times New Roman" panose="02020603050405020304" pitchFamily="18" charset="0"/>
              <a:cs typeface="Times New Roman" panose="02020603050405020304" pitchFamily="18" charset="0"/>
            </a:endParaRPr>
          </a:p>
        </p:txBody>
      </p:sp>
      <p:sp>
        <p:nvSpPr>
          <p:cNvPr id="46" name="SK-6-text-45"/>
          <p:cNvSpPr/>
          <p:nvPr/>
        </p:nvSpPr>
        <p:spPr>
          <a:xfrm>
            <a:off x="2025320" y="4216497"/>
            <a:ext cx="597132" cy="345230"/>
          </a:xfrm>
          <a:prstGeom prst="rect">
            <a:avLst/>
          </a:prstGeom>
          <a:noFill/>
          <a:ln/>
        </p:spPr>
        <p:txBody>
          <a:bodyPr vert="horz" wrap="square" lIns="0" tIns="0" rIns="0" bIns="0" rtlCol="0" anchor="ctr"/>
          <a:lstStyle/>
          <a:p>
            <a:pPr marL="0" indent="0" algn="ctr">
              <a:buNone/>
            </a:pPr>
            <a:r>
              <a:rPr lang="en-US" sz="1200" dirty="0">
                <a:solidFill>
                  <a:srgbClr val="1A1A1A"/>
                </a:solidFill>
                <a:latin typeface="Times New Roman" panose="02020603050405020304" pitchFamily="18" charset="0"/>
                <a:cs typeface="Times New Roman" panose="02020603050405020304" pitchFamily="18" charset="0"/>
              </a:rPr>
              <a:t>0.9725</a:t>
            </a:r>
            <a:endParaRPr lang="en-US" sz="1200" dirty="0">
              <a:latin typeface="Times New Roman" panose="02020603050405020304" pitchFamily="18" charset="0"/>
              <a:cs typeface="Times New Roman" panose="02020603050405020304" pitchFamily="18" charset="0"/>
            </a:endParaRPr>
          </a:p>
        </p:txBody>
      </p:sp>
      <p:sp>
        <p:nvSpPr>
          <p:cNvPr id="47" name="SK-6-text-46"/>
          <p:cNvSpPr/>
          <p:nvPr/>
        </p:nvSpPr>
        <p:spPr>
          <a:xfrm>
            <a:off x="2774852" y="4216497"/>
            <a:ext cx="814133" cy="345230"/>
          </a:xfrm>
          <a:prstGeom prst="rect">
            <a:avLst/>
          </a:prstGeom>
          <a:noFill/>
          <a:ln/>
        </p:spPr>
        <p:txBody>
          <a:bodyPr vert="horz" wrap="square" lIns="0" tIns="0" rIns="0" bIns="0" rtlCol="0" anchor="ctr"/>
          <a:lstStyle/>
          <a:p>
            <a:pPr marL="0" indent="0" algn="ctr">
              <a:buNone/>
            </a:pPr>
            <a:r>
              <a:rPr lang="en-US" sz="1200" dirty="0">
                <a:solidFill>
                  <a:srgbClr val="1A1A1A"/>
                </a:solidFill>
                <a:latin typeface="Times New Roman" panose="02020603050405020304" pitchFamily="18" charset="0"/>
                <a:cs typeface="Times New Roman" panose="02020603050405020304" pitchFamily="18" charset="0"/>
              </a:rPr>
              <a:t>0.6058</a:t>
            </a:r>
            <a:endParaRPr lang="en-US" sz="1200" dirty="0">
              <a:latin typeface="Times New Roman" panose="02020603050405020304" pitchFamily="18" charset="0"/>
              <a:cs typeface="Times New Roman" panose="02020603050405020304" pitchFamily="18" charset="0"/>
            </a:endParaRPr>
          </a:p>
        </p:txBody>
      </p:sp>
      <p:sp>
        <p:nvSpPr>
          <p:cNvPr id="48" name="SK-6-text-47"/>
          <p:cNvSpPr/>
          <p:nvPr/>
        </p:nvSpPr>
        <p:spPr>
          <a:xfrm>
            <a:off x="687293" y="4561726"/>
            <a:ext cx="1338031" cy="345780"/>
          </a:xfrm>
          <a:prstGeom prst="rect">
            <a:avLst/>
          </a:prstGeom>
          <a:noFill/>
          <a:ln/>
        </p:spPr>
        <p:txBody>
          <a:bodyPr vert="horz" wrap="square" lIns="0" tIns="0" rIns="0" bIns="0" rtlCol="0" anchor="ctr"/>
          <a:lstStyle/>
          <a:p>
            <a:pPr marL="0" indent="0" algn="l">
              <a:buNone/>
            </a:pPr>
            <a:r>
              <a:rPr lang="en-US" sz="1200" b="1" dirty="0">
                <a:solidFill>
                  <a:srgbClr val="1A1A1A"/>
                </a:solidFill>
                <a:latin typeface="Times New Roman" panose="02020603050405020304" pitchFamily="18" charset="0"/>
                <a:cs typeface="Times New Roman" panose="02020603050405020304" pitchFamily="18" charset="0"/>
              </a:rPr>
              <a:t>MemAE</a:t>
            </a:r>
            <a:endParaRPr lang="en-US" sz="1200" dirty="0">
              <a:latin typeface="Times New Roman" panose="02020603050405020304" pitchFamily="18" charset="0"/>
              <a:cs typeface="Times New Roman" panose="02020603050405020304" pitchFamily="18" charset="0"/>
            </a:endParaRPr>
          </a:p>
        </p:txBody>
      </p:sp>
      <p:sp>
        <p:nvSpPr>
          <p:cNvPr id="49" name="SK-6-text-48"/>
          <p:cNvSpPr/>
          <p:nvPr/>
        </p:nvSpPr>
        <p:spPr>
          <a:xfrm>
            <a:off x="2025320" y="4561726"/>
            <a:ext cx="597132" cy="345780"/>
          </a:xfrm>
          <a:prstGeom prst="rect">
            <a:avLst/>
          </a:prstGeom>
          <a:noFill/>
          <a:ln/>
        </p:spPr>
        <p:txBody>
          <a:bodyPr vert="horz" wrap="square" lIns="0" tIns="0" rIns="0" bIns="0" rtlCol="0" anchor="ctr"/>
          <a:lstStyle/>
          <a:p>
            <a:pPr marL="0" indent="0" algn="ctr">
              <a:buNone/>
            </a:pPr>
            <a:r>
              <a:rPr lang="en-US" sz="1200" b="1" dirty="0">
                <a:solidFill>
                  <a:srgbClr val="0B7A8A"/>
                </a:solidFill>
                <a:latin typeface="Times New Roman" panose="02020603050405020304" pitchFamily="18" charset="0"/>
                <a:cs typeface="Times New Roman" panose="02020603050405020304" pitchFamily="18" charset="0"/>
              </a:rPr>
              <a:t>0.9751</a:t>
            </a:r>
            <a:endParaRPr lang="en-US" sz="1200" dirty="0">
              <a:latin typeface="Times New Roman" panose="02020603050405020304" pitchFamily="18" charset="0"/>
              <a:cs typeface="Times New Roman" panose="02020603050405020304" pitchFamily="18" charset="0"/>
            </a:endParaRPr>
          </a:p>
        </p:txBody>
      </p:sp>
      <p:sp>
        <p:nvSpPr>
          <p:cNvPr id="50" name="SK-6-text-49"/>
          <p:cNvSpPr/>
          <p:nvPr/>
        </p:nvSpPr>
        <p:spPr>
          <a:xfrm>
            <a:off x="2774852" y="4561726"/>
            <a:ext cx="814133" cy="345780"/>
          </a:xfrm>
          <a:prstGeom prst="rect">
            <a:avLst/>
          </a:prstGeom>
          <a:noFill/>
          <a:ln/>
        </p:spPr>
        <p:txBody>
          <a:bodyPr vert="horz" wrap="square" lIns="0" tIns="0" rIns="0" bIns="0" rtlCol="0" anchor="ctr"/>
          <a:lstStyle/>
          <a:p>
            <a:pPr marL="0" indent="0" algn="ctr">
              <a:buNone/>
            </a:pPr>
            <a:r>
              <a:rPr lang="en-US" sz="1200" b="1" dirty="0">
                <a:solidFill>
                  <a:srgbClr val="0B7A8A"/>
                </a:solidFill>
                <a:latin typeface="Times New Roman" panose="02020603050405020304" pitchFamily="18" charset="0"/>
                <a:cs typeface="Times New Roman" panose="02020603050405020304" pitchFamily="18" charset="0"/>
              </a:rPr>
              <a:t>0.6088</a:t>
            </a:r>
            <a:endParaRPr lang="en-US" sz="1200" dirty="0">
              <a:latin typeface="Times New Roman" panose="02020603050405020304" pitchFamily="18" charset="0"/>
              <a:cs typeface="Times New Roman" panose="02020603050405020304" pitchFamily="18" charset="0"/>
            </a:endParaRPr>
          </a:p>
        </p:txBody>
      </p:sp>
      <p:sp>
        <p:nvSpPr>
          <p:cNvPr id="51" name="SK-6-text-50"/>
          <p:cNvSpPr/>
          <p:nvPr/>
        </p:nvSpPr>
        <p:spPr>
          <a:xfrm>
            <a:off x="8249127" y="2777430"/>
            <a:ext cx="1254275" cy="369557"/>
          </a:xfrm>
          <a:prstGeom prst="rect">
            <a:avLst/>
          </a:prstGeom>
          <a:noFill/>
          <a:ln/>
        </p:spPr>
        <p:txBody>
          <a:bodyPr vert="horz" wrap="square" lIns="0" tIns="0" rIns="0" bIns="0" rtlCol="0" anchor="ctr"/>
          <a:lstStyle/>
          <a:p>
            <a:pPr marL="0" indent="0" algn="l">
              <a:lnSpc>
                <a:spcPts val="1665"/>
              </a:lnSpc>
              <a:buNone/>
            </a:pPr>
            <a:r>
              <a:rPr lang="en-US" sz="1388" b="1" dirty="0">
                <a:solidFill>
                  <a:srgbClr val="0C2653"/>
                </a:solidFill>
                <a:latin typeface="Times New Roman" panose="02020603050405020304" pitchFamily="18" charset="0"/>
                <a:cs typeface="Times New Roman" panose="02020603050405020304" pitchFamily="18" charset="0"/>
              </a:rPr>
              <a:t>Metodă</a:t>
            </a:r>
            <a:endParaRPr lang="en-US" sz="1388" dirty="0">
              <a:latin typeface="Times New Roman" panose="02020603050405020304" pitchFamily="18" charset="0"/>
              <a:cs typeface="Times New Roman" panose="02020603050405020304" pitchFamily="18" charset="0"/>
            </a:endParaRPr>
          </a:p>
        </p:txBody>
      </p:sp>
      <p:sp>
        <p:nvSpPr>
          <p:cNvPr id="52" name="SK-6-text-51"/>
          <p:cNvSpPr/>
          <p:nvPr/>
        </p:nvSpPr>
        <p:spPr>
          <a:xfrm>
            <a:off x="9091680" y="2777430"/>
            <a:ext cx="892135" cy="369557"/>
          </a:xfrm>
          <a:prstGeom prst="rect">
            <a:avLst/>
          </a:prstGeom>
          <a:noFill/>
          <a:ln/>
        </p:spPr>
        <p:txBody>
          <a:bodyPr vert="horz" wrap="square" lIns="0" tIns="0" rIns="0" bIns="0" rtlCol="0" anchor="ctr"/>
          <a:lstStyle/>
          <a:p>
            <a:pPr marL="0" indent="0" algn="ctr">
              <a:lnSpc>
                <a:spcPts val="1665"/>
              </a:lnSpc>
              <a:buNone/>
            </a:pPr>
            <a:r>
              <a:rPr lang="en-US" sz="1388" b="1" dirty="0">
                <a:solidFill>
                  <a:srgbClr val="0C2653"/>
                </a:solidFill>
                <a:latin typeface="Times New Roman" panose="02020603050405020304" pitchFamily="18" charset="0"/>
                <a:cs typeface="Times New Roman" panose="02020603050405020304" pitchFamily="18" charset="0"/>
              </a:rPr>
              <a:t>Prec.</a:t>
            </a:r>
            <a:endParaRPr lang="en-US" sz="1388" dirty="0">
              <a:latin typeface="Times New Roman" panose="02020603050405020304" pitchFamily="18" charset="0"/>
              <a:cs typeface="Times New Roman" panose="02020603050405020304" pitchFamily="18" charset="0"/>
            </a:endParaRPr>
          </a:p>
        </p:txBody>
      </p:sp>
      <p:sp>
        <p:nvSpPr>
          <p:cNvPr id="53" name="SK-6-text-52"/>
          <p:cNvSpPr/>
          <p:nvPr/>
        </p:nvSpPr>
        <p:spPr>
          <a:xfrm>
            <a:off x="9912378" y="2777430"/>
            <a:ext cx="892135" cy="369557"/>
          </a:xfrm>
          <a:prstGeom prst="rect">
            <a:avLst/>
          </a:prstGeom>
          <a:noFill/>
          <a:ln/>
        </p:spPr>
        <p:txBody>
          <a:bodyPr vert="horz" wrap="square" lIns="0" tIns="0" rIns="0" bIns="0" rtlCol="0" anchor="ctr"/>
          <a:lstStyle/>
          <a:p>
            <a:pPr marL="0" indent="0" algn="ctr">
              <a:lnSpc>
                <a:spcPts val="1665"/>
              </a:lnSpc>
              <a:buNone/>
            </a:pPr>
            <a:r>
              <a:rPr lang="en-US" sz="1388" b="1" dirty="0">
                <a:solidFill>
                  <a:srgbClr val="0C2653"/>
                </a:solidFill>
                <a:latin typeface="Times New Roman" panose="02020603050405020304" pitchFamily="18" charset="0"/>
                <a:cs typeface="Times New Roman" panose="02020603050405020304" pitchFamily="18" charset="0"/>
              </a:rPr>
              <a:t>Recall</a:t>
            </a:r>
            <a:endParaRPr lang="en-US" sz="1388" dirty="0">
              <a:latin typeface="Times New Roman" panose="02020603050405020304" pitchFamily="18" charset="0"/>
              <a:cs typeface="Times New Roman" panose="02020603050405020304" pitchFamily="18" charset="0"/>
            </a:endParaRPr>
          </a:p>
        </p:txBody>
      </p:sp>
      <p:sp>
        <p:nvSpPr>
          <p:cNvPr id="54" name="SK-6-text-53"/>
          <p:cNvSpPr/>
          <p:nvPr/>
        </p:nvSpPr>
        <p:spPr>
          <a:xfrm>
            <a:off x="10733075" y="2777430"/>
            <a:ext cx="892279" cy="369557"/>
          </a:xfrm>
          <a:prstGeom prst="rect">
            <a:avLst/>
          </a:prstGeom>
          <a:noFill/>
          <a:ln/>
        </p:spPr>
        <p:txBody>
          <a:bodyPr vert="horz" wrap="square" lIns="0" tIns="0" rIns="0" bIns="0" rtlCol="0" anchor="ctr"/>
          <a:lstStyle/>
          <a:p>
            <a:pPr marL="0" indent="0" algn="ctr">
              <a:lnSpc>
                <a:spcPts val="1665"/>
              </a:lnSpc>
              <a:buNone/>
            </a:pPr>
            <a:r>
              <a:rPr lang="en-US" sz="1388" b="1" dirty="0">
                <a:solidFill>
                  <a:srgbClr val="0C2653"/>
                </a:solidFill>
                <a:latin typeface="Times New Roman" panose="02020603050405020304" pitchFamily="18" charset="0"/>
                <a:cs typeface="Times New Roman" panose="02020603050405020304" pitchFamily="18" charset="0"/>
              </a:rPr>
              <a:t>F1</a:t>
            </a:r>
            <a:endParaRPr lang="en-US" sz="1388" dirty="0">
              <a:latin typeface="Times New Roman" panose="02020603050405020304" pitchFamily="18" charset="0"/>
              <a:cs typeface="Times New Roman" panose="02020603050405020304" pitchFamily="18" charset="0"/>
            </a:endParaRPr>
          </a:p>
        </p:txBody>
      </p:sp>
      <p:sp>
        <p:nvSpPr>
          <p:cNvPr id="55" name="SK-6-text-54"/>
          <p:cNvSpPr/>
          <p:nvPr/>
        </p:nvSpPr>
        <p:spPr>
          <a:xfrm>
            <a:off x="8249127" y="3146988"/>
            <a:ext cx="1266995" cy="607247"/>
          </a:xfrm>
          <a:prstGeom prst="rect">
            <a:avLst/>
          </a:prstGeom>
          <a:noFill/>
          <a:ln/>
        </p:spPr>
        <p:txBody>
          <a:bodyPr vert="horz" wrap="square" lIns="0" tIns="0" rIns="0" bIns="0" rtlCol="0" anchor="ctr"/>
          <a:lstStyle/>
          <a:p>
            <a:pPr marL="0" indent="0" algn="l">
              <a:lnSpc>
                <a:spcPts val="1753"/>
              </a:lnSpc>
              <a:buNone/>
            </a:pPr>
            <a:r>
              <a:rPr lang="en-US" sz="1461" dirty="0">
                <a:solidFill>
                  <a:srgbClr val="000000"/>
                </a:solidFill>
                <a:latin typeface="Times New Roman" panose="02020603050405020304" pitchFamily="18" charset="0"/>
                <a:cs typeface="Times New Roman" panose="02020603050405020304" pitchFamily="18" charset="0"/>
              </a:rPr>
              <a:t>OC-SVM</a:t>
            </a:r>
            <a:endParaRPr lang="en-US" sz="1461" dirty="0">
              <a:latin typeface="Times New Roman" panose="02020603050405020304" pitchFamily="18" charset="0"/>
              <a:cs typeface="Times New Roman" panose="02020603050405020304" pitchFamily="18" charset="0"/>
            </a:endParaRPr>
          </a:p>
        </p:txBody>
      </p:sp>
      <p:sp>
        <p:nvSpPr>
          <p:cNvPr id="56" name="SK-6-text-55"/>
          <p:cNvSpPr/>
          <p:nvPr/>
        </p:nvSpPr>
        <p:spPr>
          <a:xfrm>
            <a:off x="9089299" y="3146988"/>
            <a:ext cx="820698" cy="607247"/>
          </a:xfrm>
          <a:prstGeom prst="rect">
            <a:avLst/>
          </a:prstGeom>
          <a:noFill/>
          <a:ln/>
        </p:spPr>
        <p:txBody>
          <a:bodyPr vert="horz" wrap="square" lIns="0" tIns="0" rIns="0" bIns="0" rtlCol="0" anchor="ctr"/>
          <a:lstStyle/>
          <a:p>
            <a:pPr marL="0" indent="0" algn="ctr">
              <a:lnSpc>
                <a:spcPts val="1753"/>
              </a:lnSpc>
              <a:buNone/>
            </a:pPr>
            <a:r>
              <a:rPr lang="en-US" sz="1461" dirty="0">
                <a:solidFill>
                  <a:srgbClr val="000000"/>
                </a:solidFill>
                <a:latin typeface="Times New Roman" panose="02020603050405020304" pitchFamily="18" charset="0"/>
                <a:cs typeface="Times New Roman" panose="02020603050405020304" pitchFamily="18" charset="0"/>
              </a:rPr>
              <a:t>0.746</a:t>
            </a:r>
            <a:endParaRPr lang="en-US" sz="1461" dirty="0">
              <a:latin typeface="Times New Roman" panose="02020603050405020304" pitchFamily="18" charset="0"/>
              <a:cs typeface="Times New Roman" panose="02020603050405020304" pitchFamily="18" charset="0"/>
            </a:endParaRPr>
          </a:p>
        </p:txBody>
      </p:sp>
      <p:sp>
        <p:nvSpPr>
          <p:cNvPr id="57" name="SK-6-text-56"/>
          <p:cNvSpPr/>
          <p:nvPr/>
        </p:nvSpPr>
        <p:spPr>
          <a:xfrm>
            <a:off x="9909996" y="3146988"/>
            <a:ext cx="820698" cy="607247"/>
          </a:xfrm>
          <a:prstGeom prst="rect">
            <a:avLst/>
          </a:prstGeom>
          <a:noFill/>
          <a:ln/>
        </p:spPr>
        <p:txBody>
          <a:bodyPr vert="horz" wrap="square" lIns="0" tIns="0" rIns="0" bIns="0" rtlCol="0" anchor="ctr"/>
          <a:lstStyle/>
          <a:p>
            <a:pPr marL="0" indent="0" algn="ctr">
              <a:lnSpc>
                <a:spcPts val="1753"/>
              </a:lnSpc>
              <a:buNone/>
            </a:pPr>
            <a:r>
              <a:rPr lang="en-US" sz="1461" dirty="0">
                <a:solidFill>
                  <a:srgbClr val="000000"/>
                </a:solidFill>
                <a:latin typeface="Times New Roman" panose="02020603050405020304" pitchFamily="18" charset="0"/>
                <a:cs typeface="Times New Roman" panose="02020603050405020304" pitchFamily="18" charset="0"/>
              </a:rPr>
              <a:t>0.852</a:t>
            </a:r>
            <a:endParaRPr lang="en-US" sz="1461" dirty="0">
              <a:latin typeface="Times New Roman" panose="02020603050405020304" pitchFamily="18" charset="0"/>
              <a:cs typeface="Times New Roman" panose="02020603050405020304" pitchFamily="18" charset="0"/>
            </a:endParaRPr>
          </a:p>
        </p:txBody>
      </p:sp>
      <p:sp>
        <p:nvSpPr>
          <p:cNvPr id="58" name="SK-6-text-57"/>
          <p:cNvSpPr/>
          <p:nvPr/>
        </p:nvSpPr>
        <p:spPr>
          <a:xfrm>
            <a:off x="10730694" y="3146988"/>
            <a:ext cx="820842" cy="607247"/>
          </a:xfrm>
          <a:prstGeom prst="rect">
            <a:avLst/>
          </a:prstGeom>
          <a:noFill/>
          <a:ln/>
        </p:spPr>
        <p:txBody>
          <a:bodyPr vert="horz" wrap="square" lIns="0" tIns="0" rIns="0" bIns="0" rtlCol="0" anchor="ctr"/>
          <a:lstStyle/>
          <a:p>
            <a:pPr marL="0" indent="0" algn="ctr">
              <a:lnSpc>
                <a:spcPts val="1753"/>
              </a:lnSpc>
              <a:buNone/>
            </a:pPr>
            <a:r>
              <a:rPr lang="en-US" sz="1461" dirty="0">
                <a:solidFill>
                  <a:srgbClr val="000000"/>
                </a:solidFill>
                <a:latin typeface="Times New Roman" panose="02020603050405020304" pitchFamily="18" charset="0"/>
                <a:cs typeface="Times New Roman" panose="02020603050405020304" pitchFamily="18" charset="0"/>
              </a:rPr>
              <a:t>0.795</a:t>
            </a:r>
            <a:endParaRPr lang="en-US" sz="1461" dirty="0">
              <a:latin typeface="Times New Roman" panose="02020603050405020304" pitchFamily="18" charset="0"/>
              <a:cs typeface="Times New Roman" panose="02020603050405020304" pitchFamily="18" charset="0"/>
            </a:endParaRPr>
          </a:p>
        </p:txBody>
      </p:sp>
      <p:sp>
        <p:nvSpPr>
          <p:cNvPr id="59" name="SK-6-text-58"/>
          <p:cNvSpPr/>
          <p:nvPr/>
        </p:nvSpPr>
        <p:spPr>
          <a:xfrm>
            <a:off x="8249127" y="3754235"/>
            <a:ext cx="1071704" cy="607247"/>
          </a:xfrm>
          <a:prstGeom prst="rect">
            <a:avLst/>
          </a:prstGeom>
          <a:noFill/>
          <a:ln/>
        </p:spPr>
        <p:txBody>
          <a:bodyPr vert="horz" wrap="square" lIns="0" tIns="0" rIns="0" bIns="0" rtlCol="0" anchor="ctr"/>
          <a:lstStyle/>
          <a:p>
            <a:pPr marL="0" indent="0" algn="l">
              <a:lnSpc>
                <a:spcPts val="1753"/>
              </a:lnSpc>
              <a:buNone/>
            </a:pPr>
            <a:r>
              <a:rPr lang="en-US" sz="1461" dirty="0">
                <a:solidFill>
                  <a:srgbClr val="000000"/>
                </a:solidFill>
                <a:latin typeface="Times New Roman" panose="02020603050405020304" pitchFamily="18" charset="0"/>
                <a:cs typeface="Times New Roman" panose="02020603050405020304" pitchFamily="18" charset="0"/>
              </a:rPr>
              <a:t>DAGMM</a:t>
            </a:r>
            <a:endParaRPr lang="en-US" sz="1461" dirty="0">
              <a:latin typeface="Times New Roman" panose="02020603050405020304" pitchFamily="18" charset="0"/>
              <a:cs typeface="Times New Roman" panose="02020603050405020304" pitchFamily="18" charset="0"/>
            </a:endParaRPr>
          </a:p>
        </p:txBody>
      </p:sp>
      <p:sp>
        <p:nvSpPr>
          <p:cNvPr id="60" name="SK-6-text-59"/>
          <p:cNvSpPr/>
          <p:nvPr/>
        </p:nvSpPr>
        <p:spPr>
          <a:xfrm>
            <a:off x="9089299" y="3754235"/>
            <a:ext cx="820698" cy="607247"/>
          </a:xfrm>
          <a:prstGeom prst="rect">
            <a:avLst/>
          </a:prstGeom>
          <a:noFill/>
          <a:ln/>
        </p:spPr>
        <p:txBody>
          <a:bodyPr vert="horz" wrap="square" lIns="0" tIns="0" rIns="0" bIns="0" rtlCol="0" anchor="ctr"/>
          <a:lstStyle/>
          <a:p>
            <a:pPr marL="0" indent="0" algn="ctr">
              <a:lnSpc>
                <a:spcPts val="1753"/>
              </a:lnSpc>
              <a:buNone/>
            </a:pPr>
            <a:r>
              <a:rPr lang="en-US" sz="1461" dirty="0">
                <a:solidFill>
                  <a:srgbClr val="000000"/>
                </a:solidFill>
                <a:latin typeface="Times New Roman" panose="02020603050405020304" pitchFamily="18" charset="0"/>
                <a:cs typeface="Times New Roman" panose="02020603050405020304" pitchFamily="18" charset="0"/>
              </a:rPr>
              <a:t>0.930</a:t>
            </a:r>
            <a:endParaRPr lang="en-US" sz="1461" dirty="0">
              <a:latin typeface="Times New Roman" panose="02020603050405020304" pitchFamily="18" charset="0"/>
              <a:cs typeface="Times New Roman" panose="02020603050405020304" pitchFamily="18" charset="0"/>
            </a:endParaRPr>
          </a:p>
        </p:txBody>
      </p:sp>
      <p:sp>
        <p:nvSpPr>
          <p:cNvPr id="61" name="SK-6-text-60"/>
          <p:cNvSpPr/>
          <p:nvPr/>
        </p:nvSpPr>
        <p:spPr>
          <a:xfrm>
            <a:off x="9909996" y="3754235"/>
            <a:ext cx="820698" cy="607247"/>
          </a:xfrm>
          <a:prstGeom prst="rect">
            <a:avLst/>
          </a:prstGeom>
          <a:noFill/>
          <a:ln/>
        </p:spPr>
        <p:txBody>
          <a:bodyPr vert="horz" wrap="square" lIns="0" tIns="0" rIns="0" bIns="0" rtlCol="0" anchor="ctr"/>
          <a:lstStyle/>
          <a:p>
            <a:pPr marL="0" indent="0" algn="ctr">
              <a:lnSpc>
                <a:spcPts val="1753"/>
              </a:lnSpc>
              <a:buNone/>
            </a:pPr>
            <a:r>
              <a:rPr lang="en-US" sz="1461" dirty="0">
                <a:solidFill>
                  <a:srgbClr val="000000"/>
                </a:solidFill>
                <a:latin typeface="Times New Roman" panose="02020603050405020304" pitchFamily="18" charset="0"/>
                <a:cs typeface="Times New Roman" panose="02020603050405020304" pitchFamily="18" charset="0"/>
              </a:rPr>
              <a:t>0.944</a:t>
            </a:r>
            <a:endParaRPr lang="en-US" sz="1461" dirty="0">
              <a:latin typeface="Times New Roman" panose="02020603050405020304" pitchFamily="18" charset="0"/>
              <a:cs typeface="Times New Roman" panose="02020603050405020304" pitchFamily="18" charset="0"/>
            </a:endParaRPr>
          </a:p>
        </p:txBody>
      </p:sp>
      <p:sp>
        <p:nvSpPr>
          <p:cNvPr id="62" name="SK-6-text-61"/>
          <p:cNvSpPr/>
          <p:nvPr/>
        </p:nvSpPr>
        <p:spPr>
          <a:xfrm>
            <a:off x="10730694" y="3754235"/>
            <a:ext cx="820842" cy="607247"/>
          </a:xfrm>
          <a:prstGeom prst="rect">
            <a:avLst/>
          </a:prstGeom>
          <a:noFill/>
          <a:ln/>
        </p:spPr>
        <p:txBody>
          <a:bodyPr vert="horz" wrap="square" lIns="0" tIns="0" rIns="0" bIns="0" rtlCol="0" anchor="ctr"/>
          <a:lstStyle/>
          <a:p>
            <a:pPr marL="0" indent="0" algn="ctr">
              <a:lnSpc>
                <a:spcPts val="1753"/>
              </a:lnSpc>
              <a:buNone/>
            </a:pPr>
            <a:r>
              <a:rPr lang="en-US" sz="1461" dirty="0">
                <a:solidFill>
                  <a:srgbClr val="000000"/>
                </a:solidFill>
                <a:latin typeface="Times New Roman" panose="02020603050405020304" pitchFamily="18" charset="0"/>
                <a:cs typeface="Times New Roman" panose="02020603050405020304" pitchFamily="18" charset="0"/>
              </a:rPr>
              <a:t>0.937</a:t>
            </a:r>
            <a:endParaRPr lang="en-US" sz="1461" dirty="0">
              <a:latin typeface="Times New Roman" panose="02020603050405020304" pitchFamily="18" charset="0"/>
              <a:cs typeface="Times New Roman" panose="02020603050405020304" pitchFamily="18" charset="0"/>
            </a:endParaRPr>
          </a:p>
        </p:txBody>
      </p:sp>
      <p:sp>
        <p:nvSpPr>
          <p:cNvPr id="63" name="SK-6-text-62"/>
          <p:cNvSpPr/>
          <p:nvPr/>
        </p:nvSpPr>
        <p:spPr>
          <a:xfrm>
            <a:off x="8249127" y="4361482"/>
            <a:ext cx="1071704" cy="706520"/>
          </a:xfrm>
          <a:prstGeom prst="rect">
            <a:avLst/>
          </a:prstGeom>
          <a:noFill/>
          <a:ln/>
        </p:spPr>
        <p:txBody>
          <a:bodyPr vert="horz" wrap="square" lIns="0" tIns="0" rIns="0" bIns="0" rtlCol="0" anchor="ctr"/>
          <a:lstStyle/>
          <a:p>
            <a:pPr marL="0" indent="0" algn="l">
              <a:lnSpc>
                <a:spcPts val="1753"/>
              </a:lnSpc>
              <a:buNone/>
            </a:pPr>
            <a:r>
              <a:rPr lang="en-US" sz="1461" b="1" dirty="0">
                <a:solidFill>
                  <a:srgbClr val="000000"/>
                </a:solidFill>
                <a:latin typeface="Times New Roman" panose="02020603050405020304" pitchFamily="18" charset="0"/>
                <a:cs typeface="Times New Roman" panose="02020603050405020304" pitchFamily="18" charset="0"/>
              </a:rPr>
              <a:t>MemAE</a:t>
            </a:r>
            <a:endParaRPr lang="en-US" sz="1461" dirty="0">
              <a:latin typeface="Times New Roman" panose="02020603050405020304" pitchFamily="18" charset="0"/>
              <a:cs typeface="Times New Roman" panose="02020603050405020304" pitchFamily="18" charset="0"/>
            </a:endParaRPr>
          </a:p>
        </p:txBody>
      </p:sp>
      <p:sp>
        <p:nvSpPr>
          <p:cNvPr id="64" name="SK-6-text-63"/>
          <p:cNvSpPr/>
          <p:nvPr/>
        </p:nvSpPr>
        <p:spPr>
          <a:xfrm>
            <a:off x="9075011" y="4361482"/>
            <a:ext cx="849273" cy="706520"/>
          </a:xfrm>
          <a:prstGeom prst="rect">
            <a:avLst/>
          </a:prstGeom>
          <a:noFill/>
          <a:ln/>
        </p:spPr>
        <p:txBody>
          <a:bodyPr vert="horz" wrap="square" lIns="0" tIns="0" rIns="0" bIns="0" rtlCol="0" anchor="ctr"/>
          <a:lstStyle/>
          <a:p>
            <a:pPr marL="0" indent="0" algn="ctr">
              <a:lnSpc>
                <a:spcPts val="2279"/>
              </a:lnSpc>
              <a:buNone/>
            </a:pPr>
            <a:r>
              <a:rPr lang="en-US" sz="1899" b="1" dirty="0">
                <a:solidFill>
                  <a:srgbClr val="008097"/>
                </a:solidFill>
                <a:latin typeface="Times New Roman" panose="02020603050405020304" pitchFamily="18" charset="0"/>
                <a:cs typeface="Times New Roman" panose="02020603050405020304" pitchFamily="18" charset="0"/>
              </a:rPr>
              <a:t>0.963</a:t>
            </a:r>
            <a:endParaRPr lang="en-US" sz="1899" dirty="0">
              <a:latin typeface="Times New Roman" panose="02020603050405020304" pitchFamily="18" charset="0"/>
              <a:cs typeface="Times New Roman" panose="02020603050405020304" pitchFamily="18" charset="0"/>
            </a:endParaRPr>
          </a:p>
        </p:txBody>
      </p:sp>
      <p:sp>
        <p:nvSpPr>
          <p:cNvPr id="65" name="SK-6-text-64"/>
          <p:cNvSpPr/>
          <p:nvPr/>
        </p:nvSpPr>
        <p:spPr>
          <a:xfrm>
            <a:off x="9895709" y="4361482"/>
            <a:ext cx="849273" cy="706520"/>
          </a:xfrm>
          <a:prstGeom prst="rect">
            <a:avLst/>
          </a:prstGeom>
          <a:noFill/>
          <a:ln/>
        </p:spPr>
        <p:txBody>
          <a:bodyPr vert="horz" wrap="square" lIns="0" tIns="0" rIns="0" bIns="0" rtlCol="0" anchor="ctr"/>
          <a:lstStyle/>
          <a:p>
            <a:pPr marL="0" indent="0" algn="ctr">
              <a:lnSpc>
                <a:spcPts val="2279"/>
              </a:lnSpc>
              <a:buNone/>
            </a:pPr>
            <a:r>
              <a:rPr lang="en-US" sz="1899" b="1" dirty="0">
                <a:solidFill>
                  <a:srgbClr val="008097"/>
                </a:solidFill>
                <a:latin typeface="Times New Roman" panose="02020603050405020304" pitchFamily="18" charset="0"/>
                <a:cs typeface="Times New Roman" panose="02020603050405020304" pitchFamily="18" charset="0"/>
              </a:rPr>
              <a:t>0.966</a:t>
            </a:r>
            <a:endParaRPr lang="en-US" sz="1899" dirty="0">
              <a:latin typeface="Times New Roman" panose="02020603050405020304" pitchFamily="18" charset="0"/>
              <a:cs typeface="Times New Roman" panose="02020603050405020304" pitchFamily="18" charset="0"/>
            </a:endParaRPr>
          </a:p>
        </p:txBody>
      </p:sp>
      <p:sp>
        <p:nvSpPr>
          <p:cNvPr id="66" name="SK-6-text-65"/>
          <p:cNvSpPr/>
          <p:nvPr/>
        </p:nvSpPr>
        <p:spPr>
          <a:xfrm>
            <a:off x="10716406" y="4361482"/>
            <a:ext cx="849417" cy="706520"/>
          </a:xfrm>
          <a:prstGeom prst="rect">
            <a:avLst/>
          </a:prstGeom>
          <a:noFill/>
          <a:ln/>
        </p:spPr>
        <p:txBody>
          <a:bodyPr vert="horz" wrap="square" lIns="0" tIns="0" rIns="0" bIns="0" rtlCol="0" anchor="ctr"/>
          <a:lstStyle/>
          <a:p>
            <a:pPr marL="0" indent="0" algn="ctr">
              <a:lnSpc>
                <a:spcPts val="2279"/>
              </a:lnSpc>
              <a:buNone/>
            </a:pPr>
            <a:r>
              <a:rPr lang="en-US" sz="1899" b="1" dirty="0">
                <a:solidFill>
                  <a:srgbClr val="008097"/>
                </a:solidFill>
                <a:latin typeface="Times New Roman" panose="02020603050405020304" pitchFamily="18" charset="0"/>
                <a:cs typeface="Times New Roman" panose="02020603050405020304" pitchFamily="18" charset="0"/>
              </a:rPr>
              <a:t>0.964</a:t>
            </a:r>
            <a:endParaRPr lang="en-US" sz="1899" dirty="0">
              <a:latin typeface="Times New Roman" panose="02020603050405020304" pitchFamily="18" charset="0"/>
              <a:cs typeface="Times New Roman" panose="02020603050405020304" pitchFamily="18" charset="0"/>
            </a:endParaRPr>
          </a:p>
        </p:txBody>
      </p:sp>
      <p:sp>
        <p:nvSpPr>
          <p:cNvPr id="67" name="SK-6-text-66"/>
          <p:cNvSpPr/>
          <p:nvPr/>
        </p:nvSpPr>
        <p:spPr>
          <a:xfrm>
            <a:off x="4456532" y="2846040"/>
            <a:ext cx="1214977" cy="356285"/>
          </a:xfrm>
          <a:prstGeom prst="rect">
            <a:avLst/>
          </a:prstGeom>
          <a:noFill/>
          <a:ln/>
        </p:spPr>
        <p:txBody>
          <a:bodyPr vert="horz" wrap="square" lIns="0" tIns="0" rIns="0" bIns="0" rtlCol="0" anchor="ctr"/>
          <a:lstStyle/>
          <a:p>
            <a:pPr marL="0" indent="0" algn="l">
              <a:buNone/>
            </a:pPr>
            <a:r>
              <a:rPr lang="en-US" sz="1374" b="1" dirty="0">
                <a:solidFill>
                  <a:srgbClr val="002D5D"/>
                </a:solidFill>
                <a:latin typeface="Times New Roman" panose="02020603050405020304" pitchFamily="18" charset="0"/>
                <a:cs typeface="Times New Roman" panose="02020603050405020304" pitchFamily="18" charset="0"/>
              </a:rPr>
              <a:t>Metodă</a:t>
            </a:r>
            <a:endParaRPr lang="en-US" sz="1374" dirty="0">
              <a:latin typeface="Times New Roman" panose="02020603050405020304" pitchFamily="18" charset="0"/>
              <a:cs typeface="Times New Roman" panose="02020603050405020304" pitchFamily="18" charset="0"/>
            </a:endParaRPr>
          </a:p>
        </p:txBody>
      </p:sp>
      <p:sp>
        <p:nvSpPr>
          <p:cNvPr id="68" name="SK-6-text-67"/>
          <p:cNvSpPr/>
          <p:nvPr/>
        </p:nvSpPr>
        <p:spPr>
          <a:xfrm>
            <a:off x="5362224" y="2846040"/>
            <a:ext cx="552078" cy="356285"/>
          </a:xfrm>
          <a:prstGeom prst="rect">
            <a:avLst/>
          </a:prstGeom>
          <a:noFill/>
          <a:ln/>
        </p:spPr>
        <p:txBody>
          <a:bodyPr vert="horz" wrap="square" lIns="0" tIns="0" rIns="0" bIns="0" rtlCol="0" anchor="ctr"/>
          <a:lstStyle/>
          <a:p>
            <a:pPr marL="0" indent="0" algn="ctr">
              <a:buNone/>
            </a:pPr>
            <a:r>
              <a:rPr lang="en-US" sz="1374" b="1" dirty="0">
                <a:solidFill>
                  <a:srgbClr val="002D5D"/>
                </a:solidFill>
                <a:latin typeface="Times New Roman" panose="02020603050405020304" pitchFamily="18" charset="0"/>
                <a:cs typeface="Times New Roman" panose="02020603050405020304" pitchFamily="18" charset="0"/>
              </a:rPr>
              <a:t>Ped2</a:t>
            </a:r>
            <a:endParaRPr lang="en-US" sz="1374" dirty="0">
              <a:latin typeface="Times New Roman" panose="02020603050405020304" pitchFamily="18" charset="0"/>
              <a:cs typeface="Times New Roman" panose="02020603050405020304" pitchFamily="18" charset="0"/>
            </a:endParaRPr>
          </a:p>
        </p:txBody>
      </p:sp>
      <p:sp>
        <p:nvSpPr>
          <p:cNvPr id="69" name="SK-6-text-68"/>
          <p:cNvSpPr/>
          <p:nvPr/>
        </p:nvSpPr>
        <p:spPr>
          <a:xfrm>
            <a:off x="5919064" y="2846040"/>
            <a:ext cx="724154" cy="356285"/>
          </a:xfrm>
          <a:prstGeom prst="rect">
            <a:avLst/>
          </a:prstGeom>
          <a:noFill/>
          <a:ln/>
        </p:spPr>
        <p:txBody>
          <a:bodyPr vert="horz" wrap="square" lIns="0" tIns="0" rIns="0" bIns="0" rtlCol="0" anchor="ctr"/>
          <a:lstStyle/>
          <a:p>
            <a:pPr marL="0" indent="0" algn="ctr">
              <a:buNone/>
            </a:pPr>
            <a:r>
              <a:rPr lang="en-US" sz="1374" b="1" dirty="0">
                <a:solidFill>
                  <a:srgbClr val="002D5D"/>
                </a:solidFill>
                <a:latin typeface="Times New Roman" panose="02020603050405020304" pitchFamily="18" charset="0"/>
                <a:cs typeface="Times New Roman" panose="02020603050405020304" pitchFamily="18" charset="0"/>
              </a:rPr>
              <a:t>Avenue</a:t>
            </a:r>
            <a:endParaRPr lang="en-US" sz="1374" dirty="0">
              <a:latin typeface="Times New Roman" panose="02020603050405020304" pitchFamily="18" charset="0"/>
              <a:cs typeface="Times New Roman" panose="02020603050405020304" pitchFamily="18" charset="0"/>
            </a:endParaRPr>
          </a:p>
        </p:txBody>
      </p:sp>
      <p:sp>
        <p:nvSpPr>
          <p:cNvPr id="70" name="SK-6-text-69"/>
          <p:cNvSpPr/>
          <p:nvPr/>
        </p:nvSpPr>
        <p:spPr>
          <a:xfrm>
            <a:off x="6647981" y="2846040"/>
            <a:ext cx="876280" cy="356285"/>
          </a:xfrm>
          <a:prstGeom prst="rect">
            <a:avLst/>
          </a:prstGeom>
          <a:noFill/>
          <a:ln/>
        </p:spPr>
        <p:txBody>
          <a:bodyPr vert="horz" wrap="square" lIns="0" tIns="0" rIns="0" bIns="0" rtlCol="0" anchor="ctr"/>
          <a:lstStyle/>
          <a:p>
            <a:pPr marL="0" indent="0" algn="ctr">
              <a:buNone/>
            </a:pPr>
            <a:r>
              <a:rPr lang="en-US" sz="1374" b="1" dirty="0">
                <a:solidFill>
                  <a:srgbClr val="002D5D"/>
                </a:solidFill>
                <a:latin typeface="Times New Roman" panose="02020603050405020304" pitchFamily="18" charset="0"/>
                <a:cs typeface="Times New Roman" panose="02020603050405020304" pitchFamily="18" charset="0"/>
              </a:rPr>
              <a:t>Shanghai</a:t>
            </a:r>
            <a:endParaRPr lang="en-US" sz="1374" dirty="0">
              <a:latin typeface="Times New Roman" panose="02020603050405020304" pitchFamily="18" charset="0"/>
              <a:cs typeface="Times New Roman" panose="02020603050405020304" pitchFamily="18" charset="0"/>
            </a:endParaRPr>
          </a:p>
        </p:txBody>
      </p:sp>
      <p:sp>
        <p:nvSpPr>
          <p:cNvPr id="71" name="SK-6-text-70"/>
          <p:cNvSpPr/>
          <p:nvPr/>
        </p:nvSpPr>
        <p:spPr>
          <a:xfrm>
            <a:off x="4456532" y="3202325"/>
            <a:ext cx="1701937" cy="316410"/>
          </a:xfrm>
          <a:prstGeom prst="rect">
            <a:avLst/>
          </a:prstGeom>
          <a:noFill/>
          <a:ln/>
        </p:spPr>
        <p:txBody>
          <a:bodyPr vert="horz" wrap="square" lIns="0" tIns="0" rIns="0" bIns="0" rtlCol="0" anchor="ctr"/>
          <a:lstStyle/>
          <a:p>
            <a:pPr marL="0" indent="0" algn="l">
              <a:buNone/>
            </a:pPr>
            <a:r>
              <a:rPr lang="en-US" sz="1229" dirty="0">
                <a:solidFill>
                  <a:srgbClr val="212529"/>
                </a:solidFill>
                <a:latin typeface="Times New Roman" panose="02020603050405020304" pitchFamily="18" charset="0"/>
                <a:cs typeface="Times New Roman" panose="02020603050405020304" pitchFamily="18" charset="0"/>
              </a:rPr>
              <a:t>AE-Conv2D</a:t>
            </a:r>
            <a:endParaRPr lang="en-US" sz="1229" dirty="0">
              <a:latin typeface="Times New Roman" panose="02020603050405020304" pitchFamily="18" charset="0"/>
              <a:cs typeface="Times New Roman" panose="02020603050405020304" pitchFamily="18" charset="0"/>
            </a:endParaRPr>
          </a:p>
        </p:txBody>
      </p:sp>
      <p:sp>
        <p:nvSpPr>
          <p:cNvPr id="72" name="SK-6-text-71"/>
          <p:cNvSpPr/>
          <p:nvPr/>
        </p:nvSpPr>
        <p:spPr>
          <a:xfrm>
            <a:off x="5366986" y="3202325"/>
            <a:ext cx="542553"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0.850</a:t>
            </a:r>
            <a:endParaRPr lang="en-US" sz="1229" dirty="0">
              <a:latin typeface="Times New Roman" panose="02020603050405020304" pitchFamily="18" charset="0"/>
              <a:cs typeface="Times New Roman" panose="02020603050405020304" pitchFamily="18" charset="0"/>
            </a:endParaRPr>
          </a:p>
        </p:txBody>
      </p:sp>
      <p:sp>
        <p:nvSpPr>
          <p:cNvPr id="73" name="SK-6-text-72"/>
          <p:cNvSpPr/>
          <p:nvPr/>
        </p:nvSpPr>
        <p:spPr>
          <a:xfrm>
            <a:off x="5923827" y="3202325"/>
            <a:ext cx="714629"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0.800</a:t>
            </a:r>
            <a:endParaRPr lang="en-US" sz="1229" dirty="0">
              <a:latin typeface="Times New Roman" panose="02020603050405020304" pitchFamily="18" charset="0"/>
              <a:cs typeface="Times New Roman" panose="02020603050405020304" pitchFamily="18" charset="0"/>
            </a:endParaRPr>
          </a:p>
        </p:txBody>
      </p:sp>
      <p:sp>
        <p:nvSpPr>
          <p:cNvPr id="74" name="SK-6-text-73"/>
          <p:cNvSpPr/>
          <p:nvPr/>
        </p:nvSpPr>
        <p:spPr>
          <a:xfrm>
            <a:off x="6652743" y="3202325"/>
            <a:ext cx="866755"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0.609</a:t>
            </a:r>
            <a:endParaRPr lang="en-US" sz="1229" dirty="0">
              <a:latin typeface="Times New Roman" panose="02020603050405020304" pitchFamily="18" charset="0"/>
              <a:cs typeface="Times New Roman" panose="02020603050405020304" pitchFamily="18" charset="0"/>
            </a:endParaRPr>
          </a:p>
        </p:txBody>
      </p:sp>
      <p:sp>
        <p:nvSpPr>
          <p:cNvPr id="75" name="SK-6-text-74"/>
          <p:cNvSpPr/>
          <p:nvPr/>
        </p:nvSpPr>
        <p:spPr>
          <a:xfrm>
            <a:off x="4456532" y="3518735"/>
            <a:ext cx="1422459" cy="316410"/>
          </a:xfrm>
          <a:prstGeom prst="rect">
            <a:avLst/>
          </a:prstGeom>
          <a:noFill/>
          <a:ln/>
        </p:spPr>
        <p:txBody>
          <a:bodyPr vert="horz" wrap="square" lIns="0" tIns="0" rIns="0" bIns="0" rtlCol="0" anchor="ctr"/>
          <a:lstStyle/>
          <a:p>
            <a:pPr marL="0" indent="0" algn="l">
              <a:buNone/>
            </a:pPr>
            <a:r>
              <a:rPr lang="en-US" sz="1229" dirty="0">
                <a:solidFill>
                  <a:srgbClr val="212529"/>
                </a:solidFill>
                <a:latin typeface="Times New Roman" panose="02020603050405020304" pitchFamily="18" charset="0"/>
                <a:cs typeface="Times New Roman" panose="02020603050405020304" pitchFamily="18" charset="0"/>
              </a:rPr>
              <a:t>StackRNN</a:t>
            </a:r>
            <a:endParaRPr lang="en-US" sz="1229" dirty="0">
              <a:latin typeface="Times New Roman" panose="02020603050405020304" pitchFamily="18" charset="0"/>
              <a:cs typeface="Times New Roman" panose="02020603050405020304" pitchFamily="18" charset="0"/>
            </a:endParaRPr>
          </a:p>
        </p:txBody>
      </p:sp>
      <p:sp>
        <p:nvSpPr>
          <p:cNvPr id="76" name="SK-6-text-75"/>
          <p:cNvSpPr/>
          <p:nvPr/>
        </p:nvSpPr>
        <p:spPr>
          <a:xfrm>
            <a:off x="5366986" y="3518735"/>
            <a:ext cx="542553"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0.922</a:t>
            </a:r>
            <a:endParaRPr lang="en-US" sz="1229" dirty="0">
              <a:latin typeface="Times New Roman" panose="02020603050405020304" pitchFamily="18" charset="0"/>
              <a:cs typeface="Times New Roman" panose="02020603050405020304" pitchFamily="18" charset="0"/>
            </a:endParaRPr>
          </a:p>
        </p:txBody>
      </p:sp>
      <p:sp>
        <p:nvSpPr>
          <p:cNvPr id="77" name="SK-6-text-76"/>
          <p:cNvSpPr/>
          <p:nvPr/>
        </p:nvSpPr>
        <p:spPr>
          <a:xfrm>
            <a:off x="5923827" y="3518735"/>
            <a:ext cx="714629"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0.817</a:t>
            </a:r>
            <a:endParaRPr lang="en-US" sz="1229" dirty="0">
              <a:latin typeface="Times New Roman" panose="02020603050405020304" pitchFamily="18" charset="0"/>
              <a:cs typeface="Times New Roman" panose="02020603050405020304" pitchFamily="18" charset="0"/>
            </a:endParaRPr>
          </a:p>
        </p:txBody>
      </p:sp>
      <p:sp>
        <p:nvSpPr>
          <p:cNvPr id="78" name="SK-6-text-77"/>
          <p:cNvSpPr/>
          <p:nvPr/>
        </p:nvSpPr>
        <p:spPr>
          <a:xfrm>
            <a:off x="6652743" y="3518735"/>
            <a:ext cx="866755"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0.680</a:t>
            </a:r>
            <a:endParaRPr lang="en-US" sz="1229" dirty="0">
              <a:latin typeface="Times New Roman" panose="02020603050405020304" pitchFamily="18" charset="0"/>
              <a:cs typeface="Times New Roman" panose="02020603050405020304" pitchFamily="18" charset="0"/>
            </a:endParaRPr>
          </a:p>
        </p:txBody>
      </p:sp>
      <p:sp>
        <p:nvSpPr>
          <p:cNvPr id="79" name="SK-6-text-78"/>
          <p:cNvSpPr/>
          <p:nvPr/>
        </p:nvSpPr>
        <p:spPr>
          <a:xfrm>
            <a:off x="4456532" y="3910492"/>
            <a:ext cx="2024063" cy="165714"/>
          </a:xfrm>
          <a:prstGeom prst="rect">
            <a:avLst/>
          </a:prstGeom>
          <a:noFill/>
          <a:ln/>
        </p:spPr>
        <p:txBody>
          <a:bodyPr vert="horz" wrap="square" lIns="0" tIns="0" rIns="0" bIns="0" rtlCol="0" anchor="ctr"/>
          <a:lstStyle/>
          <a:p>
            <a:pPr marL="0" indent="0" algn="l">
              <a:buNone/>
            </a:pPr>
            <a:r>
              <a:rPr lang="en-US" sz="1229" i="1" dirty="0">
                <a:solidFill>
                  <a:srgbClr val="212529"/>
                </a:solidFill>
                <a:latin typeface="Times New Roman" panose="02020603050405020304" pitchFamily="18" charset="0"/>
                <a:cs typeface="Times New Roman" panose="02020603050405020304" pitchFamily="18" charset="0"/>
              </a:rPr>
              <a:t>Frame-Pred</a:t>
            </a:r>
            <a:endParaRPr lang="en-US" sz="1229" dirty="0">
              <a:latin typeface="Times New Roman" panose="02020603050405020304" pitchFamily="18" charset="0"/>
              <a:cs typeface="Times New Roman" panose="02020603050405020304" pitchFamily="18" charset="0"/>
            </a:endParaRPr>
          </a:p>
        </p:txBody>
      </p:sp>
      <p:sp>
        <p:nvSpPr>
          <p:cNvPr id="80" name="SK-6-text-79"/>
          <p:cNvSpPr/>
          <p:nvPr/>
        </p:nvSpPr>
        <p:spPr>
          <a:xfrm>
            <a:off x="5366986" y="3835144"/>
            <a:ext cx="542553" cy="316409"/>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0.954</a:t>
            </a:r>
            <a:endParaRPr lang="en-US" sz="1229" dirty="0">
              <a:latin typeface="Times New Roman" panose="02020603050405020304" pitchFamily="18" charset="0"/>
              <a:cs typeface="Times New Roman" panose="02020603050405020304" pitchFamily="18" charset="0"/>
            </a:endParaRPr>
          </a:p>
        </p:txBody>
      </p:sp>
      <p:sp>
        <p:nvSpPr>
          <p:cNvPr id="81" name="SK-6-text-80"/>
          <p:cNvSpPr/>
          <p:nvPr/>
        </p:nvSpPr>
        <p:spPr>
          <a:xfrm>
            <a:off x="5923827" y="3835144"/>
            <a:ext cx="714629" cy="316409"/>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0.849</a:t>
            </a:r>
            <a:endParaRPr lang="en-US" sz="1229" dirty="0">
              <a:latin typeface="Times New Roman" panose="02020603050405020304" pitchFamily="18" charset="0"/>
              <a:cs typeface="Times New Roman" panose="02020603050405020304" pitchFamily="18" charset="0"/>
            </a:endParaRPr>
          </a:p>
        </p:txBody>
      </p:sp>
      <p:sp>
        <p:nvSpPr>
          <p:cNvPr id="82" name="SK-6-text-81"/>
          <p:cNvSpPr/>
          <p:nvPr/>
        </p:nvSpPr>
        <p:spPr>
          <a:xfrm>
            <a:off x="6652743" y="3835144"/>
            <a:ext cx="866755" cy="316409"/>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0.728</a:t>
            </a:r>
            <a:endParaRPr lang="en-US" sz="1229" dirty="0">
              <a:latin typeface="Times New Roman" panose="02020603050405020304" pitchFamily="18" charset="0"/>
              <a:cs typeface="Times New Roman" panose="02020603050405020304" pitchFamily="18" charset="0"/>
            </a:endParaRPr>
          </a:p>
        </p:txBody>
      </p:sp>
      <p:sp>
        <p:nvSpPr>
          <p:cNvPr id="83" name="SK-6-text-82"/>
          <p:cNvSpPr/>
          <p:nvPr/>
        </p:nvSpPr>
        <p:spPr>
          <a:xfrm>
            <a:off x="4456532" y="4151554"/>
            <a:ext cx="1925520" cy="316410"/>
          </a:xfrm>
          <a:prstGeom prst="rect">
            <a:avLst/>
          </a:prstGeom>
          <a:noFill/>
          <a:ln/>
        </p:spPr>
        <p:txBody>
          <a:bodyPr vert="horz" wrap="square" lIns="0" tIns="0" rIns="0" bIns="0" rtlCol="0" anchor="ctr"/>
          <a:lstStyle/>
          <a:p>
            <a:pPr marL="0" indent="0" algn="l">
              <a:buNone/>
            </a:pPr>
            <a:r>
              <a:rPr lang="en-US" sz="1229" dirty="0">
                <a:solidFill>
                  <a:srgbClr val="212529"/>
                </a:solidFill>
                <a:latin typeface="Times New Roman" panose="02020603050405020304" pitchFamily="18" charset="0"/>
                <a:cs typeface="Times New Roman" panose="02020603050405020304" pitchFamily="18" charset="0"/>
              </a:rPr>
              <a:t>AE baseline</a:t>
            </a:r>
            <a:endParaRPr lang="en-US" sz="1229" dirty="0">
              <a:latin typeface="Times New Roman" panose="02020603050405020304" pitchFamily="18" charset="0"/>
              <a:cs typeface="Times New Roman" panose="02020603050405020304" pitchFamily="18" charset="0"/>
            </a:endParaRPr>
          </a:p>
        </p:txBody>
      </p:sp>
      <p:sp>
        <p:nvSpPr>
          <p:cNvPr id="84" name="SK-6-text-83"/>
          <p:cNvSpPr/>
          <p:nvPr/>
        </p:nvSpPr>
        <p:spPr>
          <a:xfrm>
            <a:off x="5366986" y="4151554"/>
            <a:ext cx="542553"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0.917</a:t>
            </a:r>
            <a:endParaRPr lang="en-US" sz="1229" dirty="0">
              <a:latin typeface="Times New Roman" panose="02020603050405020304" pitchFamily="18" charset="0"/>
              <a:cs typeface="Times New Roman" panose="02020603050405020304" pitchFamily="18" charset="0"/>
            </a:endParaRPr>
          </a:p>
        </p:txBody>
      </p:sp>
      <p:sp>
        <p:nvSpPr>
          <p:cNvPr id="85" name="SK-6-text-84"/>
          <p:cNvSpPr/>
          <p:nvPr/>
        </p:nvSpPr>
        <p:spPr>
          <a:xfrm>
            <a:off x="5923827" y="4151554"/>
            <a:ext cx="714629"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0.810</a:t>
            </a:r>
            <a:endParaRPr lang="en-US" sz="1229" dirty="0">
              <a:latin typeface="Times New Roman" panose="02020603050405020304" pitchFamily="18" charset="0"/>
              <a:cs typeface="Times New Roman" panose="02020603050405020304" pitchFamily="18" charset="0"/>
            </a:endParaRPr>
          </a:p>
        </p:txBody>
      </p:sp>
      <p:sp>
        <p:nvSpPr>
          <p:cNvPr id="86" name="SK-6-text-85"/>
          <p:cNvSpPr/>
          <p:nvPr/>
        </p:nvSpPr>
        <p:spPr>
          <a:xfrm>
            <a:off x="6652743" y="4151554"/>
            <a:ext cx="866755" cy="316410"/>
          </a:xfrm>
          <a:prstGeom prst="rect">
            <a:avLst/>
          </a:prstGeom>
          <a:noFill/>
          <a:ln/>
        </p:spPr>
        <p:txBody>
          <a:bodyPr vert="horz" wrap="square" lIns="0" tIns="0" rIns="0" bIns="0" rtlCol="0" anchor="ctr"/>
          <a:lstStyle/>
          <a:p>
            <a:pPr marL="0" indent="0" algn="ctr">
              <a:buNone/>
            </a:pPr>
            <a:r>
              <a:rPr lang="en-US" sz="1229" dirty="0">
                <a:solidFill>
                  <a:srgbClr val="212529"/>
                </a:solidFill>
                <a:latin typeface="Times New Roman" panose="02020603050405020304" pitchFamily="18" charset="0"/>
                <a:cs typeface="Times New Roman" panose="02020603050405020304" pitchFamily="18" charset="0"/>
              </a:rPr>
              <a:t>0.697</a:t>
            </a:r>
            <a:endParaRPr lang="en-US" sz="1229" dirty="0">
              <a:latin typeface="Times New Roman" panose="02020603050405020304" pitchFamily="18" charset="0"/>
              <a:cs typeface="Times New Roman" panose="02020603050405020304" pitchFamily="18" charset="0"/>
            </a:endParaRPr>
          </a:p>
        </p:txBody>
      </p:sp>
      <p:sp>
        <p:nvSpPr>
          <p:cNvPr id="87" name="SK-6-text-86"/>
          <p:cNvSpPr/>
          <p:nvPr/>
        </p:nvSpPr>
        <p:spPr>
          <a:xfrm>
            <a:off x="4456532" y="4467964"/>
            <a:ext cx="980873" cy="316798"/>
          </a:xfrm>
          <a:prstGeom prst="rect">
            <a:avLst/>
          </a:prstGeom>
          <a:noFill/>
          <a:ln/>
        </p:spPr>
        <p:txBody>
          <a:bodyPr vert="horz" wrap="square" lIns="0" tIns="0" rIns="0" bIns="0" rtlCol="0" anchor="ctr"/>
          <a:lstStyle/>
          <a:p>
            <a:pPr marL="0" indent="0" algn="l">
              <a:buNone/>
            </a:pPr>
            <a:r>
              <a:rPr lang="en-US" sz="1229" b="1" dirty="0">
                <a:solidFill>
                  <a:srgbClr val="000000"/>
                </a:solidFill>
                <a:latin typeface="Times New Roman" panose="02020603050405020304" pitchFamily="18" charset="0"/>
                <a:cs typeface="Times New Roman" panose="02020603050405020304" pitchFamily="18" charset="0"/>
              </a:rPr>
              <a:t>MemAE</a:t>
            </a:r>
            <a:endParaRPr lang="en-US" sz="1229" dirty="0">
              <a:latin typeface="Times New Roman" panose="02020603050405020304" pitchFamily="18" charset="0"/>
              <a:cs typeface="Times New Roman" panose="02020603050405020304" pitchFamily="18" charset="0"/>
            </a:endParaRPr>
          </a:p>
        </p:txBody>
      </p:sp>
      <p:sp>
        <p:nvSpPr>
          <p:cNvPr id="88" name="SK-6-text-87"/>
          <p:cNvSpPr/>
          <p:nvPr/>
        </p:nvSpPr>
        <p:spPr>
          <a:xfrm>
            <a:off x="5366986" y="4467964"/>
            <a:ext cx="542553" cy="316798"/>
          </a:xfrm>
          <a:prstGeom prst="rect">
            <a:avLst/>
          </a:prstGeom>
          <a:noFill/>
          <a:ln/>
        </p:spPr>
        <p:txBody>
          <a:bodyPr vert="horz" wrap="square" lIns="0" tIns="0" rIns="0" bIns="0" rtlCol="0" anchor="ctr"/>
          <a:lstStyle/>
          <a:p>
            <a:pPr marL="0" indent="0" algn="ctr">
              <a:buNone/>
            </a:pPr>
            <a:r>
              <a:rPr lang="en-US" sz="1229" b="1" dirty="0">
                <a:solidFill>
                  <a:srgbClr val="107D85"/>
                </a:solidFill>
                <a:latin typeface="Times New Roman" panose="02020603050405020304" pitchFamily="18" charset="0"/>
                <a:cs typeface="Times New Roman" panose="02020603050405020304" pitchFamily="18" charset="0"/>
              </a:rPr>
              <a:t>0.941</a:t>
            </a:r>
            <a:endParaRPr lang="en-US" sz="1229" dirty="0">
              <a:latin typeface="Times New Roman" panose="02020603050405020304" pitchFamily="18" charset="0"/>
              <a:cs typeface="Times New Roman" panose="02020603050405020304" pitchFamily="18" charset="0"/>
            </a:endParaRPr>
          </a:p>
        </p:txBody>
      </p:sp>
      <p:sp>
        <p:nvSpPr>
          <p:cNvPr id="89" name="SK-6-text-88"/>
          <p:cNvSpPr/>
          <p:nvPr/>
        </p:nvSpPr>
        <p:spPr>
          <a:xfrm>
            <a:off x="5923827" y="4467964"/>
            <a:ext cx="714629" cy="316798"/>
          </a:xfrm>
          <a:prstGeom prst="rect">
            <a:avLst/>
          </a:prstGeom>
          <a:noFill/>
          <a:ln/>
        </p:spPr>
        <p:txBody>
          <a:bodyPr vert="horz" wrap="square" lIns="0" tIns="0" rIns="0" bIns="0" rtlCol="0" anchor="ctr"/>
          <a:lstStyle/>
          <a:p>
            <a:pPr marL="0" indent="0" algn="ctr">
              <a:buNone/>
            </a:pPr>
            <a:r>
              <a:rPr lang="en-US" sz="1229" b="1" dirty="0">
                <a:solidFill>
                  <a:srgbClr val="107D85"/>
                </a:solidFill>
                <a:latin typeface="Times New Roman" panose="02020603050405020304" pitchFamily="18" charset="0"/>
                <a:cs typeface="Times New Roman" panose="02020603050405020304" pitchFamily="18" charset="0"/>
              </a:rPr>
              <a:t>0.833</a:t>
            </a:r>
            <a:endParaRPr lang="en-US" sz="1229" dirty="0">
              <a:latin typeface="Times New Roman" panose="02020603050405020304" pitchFamily="18" charset="0"/>
              <a:cs typeface="Times New Roman" panose="02020603050405020304" pitchFamily="18" charset="0"/>
            </a:endParaRPr>
          </a:p>
        </p:txBody>
      </p:sp>
      <p:sp>
        <p:nvSpPr>
          <p:cNvPr id="90" name="SK-6-text-89"/>
          <p:cNvSpPr/>
          <p:nvPr/>
        </p:nvSpPr>
        <p:spPr>
          <a:xfrm>
            <a:off x="6652743" y="4467964"/>
            <a:ext cx="866755" cy="316798"/>
          </a:xfrm>
          <a:prstGeom prst="rect">
            <a:avLst/>
          </a:prstGeom>
          <a:noFill/>
          <a:ln/>
        </p:spPr>
        <p:txBody>
          <a:bodyPr vert="horz" wrap="square" lIns="0" tIns="0" rIns="0" bIns="0" rtlCol="0" anchor="ctr"/>
          <a:lstStyle/>
          <a:p>
            <a:pPr marL="0" indent="0" algn="ctr">
              <a:buNone/>
            </a:pPr>
            <a:r>
              <a:rPr lang="en-US" sz="1229" b="1" dirty="0">
                <a:solidFill>
                  <a:srgbClr val="107D85"/>
                </a:solidFill>
                <a:latin typeface="Times New Roman" panose="02020603050405020304" pitchFamily="18" charset="0"/>
                <a:cs typeface="Times New Roman" panose="02020603050405020304" pitchFamily="18" charset="0"/>
              </a:rPr>
              <a:t>0.712</a:t>
            </a:r>
            <a:endParaRPr lang="en-US" sz="1229" dirty="0">
              <a:latin typeface="Times New Roman" panose="02020603050405020304" pitchFamily="18" charset="0"/>
              <a:cs typeface="Times New Roman" panose="02020603050405020304" pitchFamily="18" charset="0"/>
            </a:endParaRPr>
          </a:p>
        </p:txBody>
      </p:sp>
      <p:sp>
        <p:nvSpPr>
          <p:cNvPr id="91" name="SK-6-text-90"/>
          <p:cNvSpPr/>
          <p:nvPr/>
        </p:nvSpPr>
        <p:spPr>
          <a:xfrm>
            <a:off x="438894" y="274290"/>
            <a:ext cx="5300663" cy="219373"/>
          </a:xfrm>
          <a:prstGeom prst="rect">
            <a:avLst/>
          </a:prstGeom>
          <a:noFill/>
          <a:ln/>
        </p:spPr>
        <p:txBody>
          <a:bodyPr vert="horz" wrap="none" lIns="0" tIns="0" rIns="0" bIns="0" rtlCol="0" anchor="ctr"/>
          <a:lstStyle/>
          <a:p>
            <a:pPr marL="0" indent="0" algn="l">
              <a:buNone/>
            </a:pP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07 / 11 · </a:t>
            </a:r>
            <a:r>
              <a:rPr lang="en-US" sz="1500" dirty="0" err="1">
                <a:solidFill>
                  <a:srgbClr val="666666"/>
                </a:solidFill>
                <a:latin typeface="Times New Roman" panose="02020603050405020304" pitchFamily="18" charset="0"/>
                <a:ea typeface="Roboto" pitchFamily="34" charset="-122"/>
                <a:cs typeface="Times New Roman" panose="02020603050405020304" pitchFamily="18" charset="0"/>
              </a:rPr>
              <a:t>Rezultate</a:t>
            </a:r>
            <a:endParaRPr lang="en-US" sz="1500" dirty="0">
              <a:latin typeface="Times New Roman" panose="02020603050405020304" pitchFamily="18" charset="0"/>
              <a:cs typeface="Times New Roman" panose="02020603050405020304" pitchFamily="18" charset="0"/>
            </a:endParaRPr>
          </a:p>
        </p:txBody>
      </p:sp>
      <p:sp>
        <p:nvSpPr>
          <p:cNvPr id="92" name="SK-6-text-91"/>
          <p:cNvSpPr/>
          <p:nvPr/>
        </p:nvSpPr>
        <p:spPr>
          <a:xfrm>
            <a:off x="438894" y="644575"/>
            <a:ext cx="11753106" cy="404515"/>
          </a:xfrm>
          <a:prstGeom prst="rect">
            <a:avLst/>
          </a:prstGeom>
          <a:noFill/>
          <a:ln/>
        </p:spPr>
        <p:txBody>
          <a:bodyPr vert="horz" wrap="none" lIns="0" tIns="0" rIns="0" bIns="0" rtlCol="0" anchor="ctr"/>
          <a:lstStyle/>
          <a:p>
            <a:pPr marL="0" indent="0" algn="l">
              <a:buNone/>
            </a:pPr>
            <a:r>
              <a:rPr lang="en-US" sz="3000" b="1" dirty="0" err="1">
                <a:solidFill>
                  <a:srgbClr val="002147"/>
                </a:solidFill>
                <a:latin typeface="Times New Roman" panose="02020603050405020304" pitchFamily="18" charset="0"/>
                <a:ea typeface="Roboto" pitchFamily="34" charset="-122"/>
                <a:cs typeface="Times New Roman" panose="02020603050405020304" pitchFamily="18" charset="0"/>
              </a:rPr>
              <a:t>Rezultate</a:t>
            </a:r>
            <a:r>
              <a:rPr lang="en-US" sz="3000" b="1" dirty="0">
                <a:solidFill>
                  <a:srgbClr val="002147"/>
                </a:solidFill>
                <a:latin typeface="Times New Roman" panose="02020603050405020304" pitchFamily="18" charset="0"/>
                <a:ea typeface="Roboto" pitchFamily="34" charset="-122"/>
                <a:cs typeface="Times New Roman" panose="02020603050405020304" pitchFamily="18" charset="0"/>
              </a:rPr>
              <a:t> </a:t>
            </a:r>
            <a:r>
              <a:rPr lang="en-US" sz="3000" b="1" dirty="0" err="1">
                <a:solidFill>
                  <a:srgbClr val="002147"/>
                </a:solidFill>
                <a:latin typeface="Times New Roman" panose="02020603050405020304" pitchFamily="18" charset="0"/>
                <a:ea typeface="Roboto" pitchFamily="34" charset="-122"/>
                <a:cs typeface="Times New Roman" panose="02020603050405020304" pitchFamily="18" charset="0"/>
              </a:rPr>
              <a:t>experimentale</a:t>
            </a:r>
            <a:r>
              <a:rPr lang="en-US" sz="3000" b="1" dirty="0">
                <a:solidFill>
                  <a:srgbClr val="002147"/>
                </a:solidFill>
                <a:latin typeface="Times New Roman" panose="02020603050405020304" pitchFamily="18" charset="0"/>
                <a:ea typeface="Roboto" pitchFamily="34" charset="-122"/>
                <a:cs typeface="Times New Roman" panose="02020603050405020304" pitchFamily="18" charset="0"/>
              </a:rPr>
              <a:t> </a:t>
            </a:r>
            <a:r>
              <a:rPr lang="en-US" sz="3000" b="1" dirty="0" err="1">
                <a:solidFill>
                  <a:srgbClr val="002147"/>
                </a:solidFill>
                <a:latin typeface="Times New Roman" panose="02020603050405020304" pitchFamily="18" charset="0"/>
                <a:ea typeface="Roboto" pitchFamily="34" charset="-122"/>
                <a:cs typeface="Times New Roman" panose="02020603050405020304" pitchFamily="18" charset="0"/>
              </a:rPr>
              <a:t>și</a:t>
            </a:r>
            <a:r>
              <a:rPr lang="en-US" sz="3000" b="1" dirty="0">
                <a:solidFill>
                  <a:srgbClr val="002147"/>
                </a:solidFill>
                <a:latin typeface="Times New Roman" panose="02020603050405020304" pitchFamily="18" charset="0"/>
                <a:ea typeface="Roboto" pitchFamily="34" charset="-122"/>
                <a:cs typeface="Times New Roman" panose="02020603050405020304" pitchFamily="18" charset="0"/>
              </a:rPr>
              <a:t> </a:t>
            </a:r>
            <a:r>
              <a:rPr lang="en-US" sz="3000" b="1" dirty="0" err="1">
                <a:solidFill>
                  <a:srgbClr val="002147"/>
                </a:solidFill>
                <a:latin typeface="Times New Roman" panose="02020603050405020304" pitchFamily="18" charset="0"/>
                <a:ea typeface="Roboto" pitchFamily="34" charset="-122"/>
                <a:cs typeface="Times New Roman" panose="02020603050405020304" pitchFamily="18" charset="0"/>
              </a:rPr>
              <a:t>metrici</a:t>
            </a:r>
            <a:endParaRPr lang="en-US" sz="3000" dirty="0">
              <a:latin typeface="Times New Roman" panose="02020603050405020304" pitchFamily="18" charset="0"/>
              <a:cs typeface="Times New Roman" panose="02020603050405020304" pitchFamily="18" charset="0"/>
            </a:endParaRPr>
          </a:p>
        </p:txBody>
      </p:sp>
      <p:sp>
        <p:nvSpPr>
          <p:cNvPr id="93" name="SK-6-text-92"/>
          <p:cNvSpPr/>
          <p:nvPr/>
        </p:nvSpPr>
        <p:spPr>
          <a:xfrm>
            <a:off x="414486" y="1433215"/>
            <a:ext cx="11777514" cy="233065"/>
          </a:xfrm>
          <a:prstGeom prst="rect">
            <a:avLst/>
          </a:prstGeom>
          <a:noFill/>
          <a:ln/>
        </p:spPr>
        <p:txBody>
          <a:bodyPr vert="horz" wrap="none" lIns="0" tIns="0" rIns="0" bIns="0" rtlCol="0" anchor="ctr"/>
          <a:lstStyle/>
          <a:p>
            <a:pPr marL="0" indent="0" algn="l">
              <a:buNone/>
            </a:pP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MemAE obține performanțe de top pe toate cele trei domenii — imagini, video și cybersecurity</a:t>
            </a:r>
            <a:endParaRPr lang="en-US" sz="1500" dirty="0">
              <a:latin typeface="Times New Roman" panose="02020603050405020304" pitchFamily="18" charset="0"/>
              <a:cs typeface="Times New Roman" panose="02020603050405020304" pitchFamily="18" charset="0"/>
            </a:endParaRPr>
          </a:p>
        </p:txBody>
      </p:sp>
      <p:sp>
        <p:nvSpPr>
          <p:cNvPr id="94" name="SK-6-text-93"/>
          <p:cNvSpPr/>
          <p:nvPr/>
        </p:nvSpPr>
        <p:spPr>
          <a:xfrm>
            <a:off x="1280071" y="2160240"/>
            <a:ext cx="2204085" cy="274290"/>
          </a:xfrm>
          <a:prstGeom prst="rect">
            <a:avLst/>
          </a:prstGeom>
          <a:noFill/>
          <a:ln/>
        </p:spPr>
        <p:txBody>
          <a:bodyPr vert="horz" wrap="none" lIns="0" tIns="0" rIns="0" bIns="0" rtlCol="0" anchor="ctr"/>
          <a:lstStyle/>
          <a:p>
            <a:pPr marL="0" indent="0" algn="l">
              <a:buNone/>
            </a:pPr>
            <a:r>
              <a:rPr lang="en-US" sz="1950" b="1" dirty="0">
                <a:solidFill>
                  <a:srgbClr val="002147"/>
                </a:solidFill>
                <a:latin typeface="Times New Roman" panose="02020603050405020304" pitchFamily="18" charset="0"/>
                <a:ea typeface="Roboto" pitchFamily="34" charset="-122"/>
                <a:cs typeface="Times New Roman" panose="02020603050405020304" pitchFamily="18" charset="0"/>
              </a:rPr>
              <a:t>Imagini</a:t>
            </a:r>
            <a:endParaRPr lang="en-US" sz="1950" dirty="0">
              <a:latin typeface="Times New Roman" panose="02020603050405020304" pitchFamily="18" charset="0"/>
              <a:cs typeface="Times New Roman" panose="02020603050405020304" pitchFamily="18" charset="0"/>
            </a:endParaRPr>
          </a:p>
        </p:txBody>
      </p:sp>
      <p:sp>
        <p:nvSpPr>
          <p:cNvPr id="95" name="SK-6-text-94"/>
          <p:cNvSpPr/>
          <p:nvPr/>
        </p:nvSpPr>
        <p:spPr>
          <a:xfrm>
            <a:off x="1280071" y="2448223"/>
            <a:ext cx="3962400" cy="157609"/>
          </a:xfrm>
          <a:prstGeom prst="rect">
            <a:avLst/>
          </a:prstGeom>
          <a:noFill/>
          <a:ln/>
        </p:spPr>
        <p:txBody>
          <a:bodyPr vert="horz" wrap="none" lIns="0" tIns="0" rIns="0" bIns="0" rtlCol="0" anchor="ctr"/>
          <a:lstStyle/>
          <a:p>
            <a:pPr marL="0" indent="0" algn="l">
              <a:buNone/>
            </a:pPr>
            <a:r>
              <a:rPr lang="en-US" sz="1125" dirty="0">
                <a:solidFill>
                  <a:srgbClr val="666666"/>
                </a:solidFill>
                <a:latin typeface="Times New Roman" panose="02020603050405020304" pitchFamily="18" charset="0"/>
                <a:ea typeface="Roboto" pitchFamily="34" charset="-122"/>
                <a:cs typeface="Times New Roman" panose="02020603050405020304" pitchFamily="18" charset="0"/>
              </a:rPr>
              <a:t>Metrică: AUC · Tabel 1</a:t>
            </a:r>
            <a:endParaRPr lang="en-US" sz="1125" dirty="0">
              <a:latin typeface="Times New Roman" panose="02020603050405020304" pitchFamily="18" charset="0"/>
              <a:cs typeface="Times New Roman" panose="02020603050405020304" pitchFamily="18" charset="0"/>
            </a:endParaRPr>
          </a:p>
        </p:txBody>
      </p:sp>
      <p:sp>
        <p:nvSpPr>
          <p:cNvPr id="96" name="SK-6-text-95"/>
          <p:cNvSpPr/>
          <p:nvPr/>
        </p:nvSpPr>
        <p:spPr>
          <a:xfrm>
            <a:off x="1633686" y="5616625"/>
            <a:ext cx="4063365" cy="178296"/>
          </a:xfrm>
          <a:prstGeom prst="rect">
            <a:avLst/>
          </a:prstGeom>
          <a:noFill/>
          <a:ln/>
        </p:spPr>
        <p:txBody>
          <a:bodyPr vert="horz" wrap="none" lIns="0" tIns="0" rIns="0" bIns="0" rtlCol="0" anchor="ctr"/>
          <a:lstStyle/>
          <a:p>
            <a:pPr marL="0" indent="0" algn="l">
              <a:buNone/>
            </a:pPr>
            <a:r>
              <a:rPr lang="en-US" sz="1350" b="1" dirty="0">
                <a:solidFill>
                  <a:srgbClr val="FFFFFF"/>
                </a:solidFill>
                <a:latin typeface="Times New Roman" panose="02020603050405020304" pitchFamily="18" charset="0"/>
                <a:ea typeface="Roboto" pitchFamily="34" charset="-122"/>
                <a:cs typeface="Times New Roman" panose="02020603050405020304" pitchFamily="18" charset="0"/>
              </a:rPr>
              <a:t>Best: 0.9751 AUC</a:t>
            </a:r>
            <a:endParaRPr lang="en-US" sz="1350" dirty="0">
              <a:latin typeface="Times New Roman" panose="02020603050405020304" pitchFamily="18" charset="0"/>
              <a:cs typeface="Times New Roman" panose="02020603050405020304" pitchFamily="18" charset="0"/>
            </a:endParaRPr>
          </a:p>
        </p:txBody>
      </p:sp>
      <p:sp>
        <p:nvSpPr>
          <p:cNvPr id="97" name="SK-6-text-96"/>
          <p:cNvSpPr/>
          <p:nvPr/>
        </p:nvSpPr>
        <p:spPr>
          <a:xfrm>
            <a:off x="5083969" y="2160240"/>
            <a:ext cx="1609725" cy="226219"/>
          </a:xfrm>
          <a:prstGeom prst="rect">
            <a:avLst/>
          </a:prstGeom>
          <a:noFill/>
          <a:ln/>
        </p:spPr>
        <p:txBody>
          <a:bodyPr vert="horz" wrap="none" lIns="0" tIns="0" rIns="0" bIns="0" rtlCol="0" anchor="ctr"/>
          <a:lstStyle/>
          <a:p>
            <a:pPr marL="0" indent="0" algn="l">
              <a:buNone/>
            </a:pPr>
            <a:r>
              <a:rPr lang="en-US" sz="1950" b="1" dirty="0">
                <a:solidFill>
                  <a:srgbClr val="002147"/>
                </a:solidFill>
                <a:latin typeface="Times New Roman" panose="02020603050405020304" pitchFamily="18" charset="0"/>
                <a:ea typeface="Roboto" pitchFamily="34" charset="-122"/>
                <a:cs typeface="Times New Roman" panose="02020603050405020304" pitchFamily="18" charset="0"/>
              </a:rPr>
              <a:t>Video</a:t>
            </a:r>
            <a:endParaRPr lang="en-US" sz="1950" dirty="0">
              <a:latin typeface="Times New Roman" panose="02020603050405020304" pitchFamily="18" charset="0"/>
              <a:cs typeface="Times New Roman" panose="02020603050405020304" pitchFamily="18" charset="0"/>
            </a:endParaRPr>
          </a:p>
        </p:txBody>
      </p:sp>
      <p:sp>
        <p:nvSpPr>
          <p:cNvPr id="98" name="SK-6-text-97"/>
          <p:cNvSpPr/>
          <p:nvPr/>
        </p:nvSpPr>
        <p:spPr>
          <a:xfrm>
            <a:off x="5096173" y="2448223"/>
            <a:ext cx="3962400" cy="157609"/>
          </a:xfrm>
          <a:prstGeom prst="rect">
            <a:avLst/>
          </a:prstGeom>
          <a:noFill/>
          <a:ln/>
        </p:spPr>
        <p:txBody>
          <a:bodyPr vert="horz" wrap="none" lIns="0" tIns="0" rIns="0" bIns="0" rtlCol="0" anchor="ctr"/>
          <a:lstStyle/>
          <a:p>
            <a:pPr marL="0" indent="0" algn="l">
              <a:buNone/>
            </a:pPr>
            <a:r>
              <a:rPr lang="en-US" sz="1125" dirty="0">
                <a:solidFill>
                  <a:srgbClr val="666666"/>
                </a:solidFill>
                <a:latin typeface="Times New Roman" panose="02020603050405020304" pitchFamily="18" charset="0"/>
                <a:ea typeface="Roboto" pitchFamily="34" charset="-122"/>
                <a:cs typeface="Times New Roman" panose="02020603050405020304" pitchFamily="18" charset="0"/>
              </a:rPr>
              <a:t>Metrică: AUC · Tabel 2</a:t>
            </a:r>
            <a:endParaRPr lang="en-US" sz="1125" dirty="0">
              <a:latin typeface="Times New Roman" panose="02020603050405020304" pitchFamily="18" charset="0"/>
              <a:cs typeface="Times New Roman" panose="02020603050405020304" pitchFamily="18" charset="0"/>
            </a:endParaRPr>
          </a:p>
        </p:txBody>
      </p:sp>
      <p:sp>
        <p:nvSpPr>
          <p:cNvPr id="99" name="SK-6-text-98"/>
          <p:cNvSpPr/>
          <p:nvPr/>
        </p:nvSpPr>
        <p:spPr>
          <a:xfrm>
            <a:off x="5059561" y="5582394"/>
            <a:ext cx="6326505" cy="205680"/>
          </a:xfrm>
          <a:prstGeom prst="rect">
            <a:avLst/>
          </a:prstGeom>
          <a:noFill/>
          <a:ln/>
        </p:spPr>
        <p:txBody>
          <a:bodyPr vert="horz" wrap="none" lIns="0" tIns="0" rIns="0" bIns="0" rtlCol="0" anchor="ctr"/>
          <a:lstStyle/>
          <a:p>
            <a:pPr marL="0" indent="0" algn="l">
              <a:buNone/>
            </a:pPr>
            <a:r>
              <a:rPr lang="en-US" sz="1350" b="1" dirty="0">
                <a:solidFill>
                  <a:srgbClr val="FFFFFF"/>
                </a:solidFill>
                <a:latin typeface="Times New Roman" panose="02020603050405020304" pitchFamily="18" charset="0"/>
                <a:ea typeface="Roboto" pitchFamily="34" charset="-122"/>
                <a:cs typeface="Times New Roman" panose="02020603050405020304" pitchFamily="18" charset="0"/>
              </a:rPr>
              <a:t>38 fps · Overhead: neglijabil</a:t>
            </a:r>
            <a:endParaRPr lang="en-US" sz="1350" dirty="0">
              <a:latin typeface="Times New Roman" panose="02020603050405020304" pitchFamily="18" charset="0"/>
              <a:cs typeface="Times New Roman" panose="02020603050405020304" pitchFamily="18" charset="0"/>
            </a:endParaRPr>
          </a:p>
        </p:txBody>
      </p:sp>
      <p:sp>
        <p:nvSpPr>
          <p:cNvPr id="100" name="SK-6-text-99"/>
          <p:cNvSpPr/>
          <p:nvPr/>
        </p:nvSpPr>
        <p:spPr>
          <a:xfrm>
            <a:off x="8814792" y="2160240"/>
            <a:ext cx="3377208" cy="267444"/>
          </a:xfrm>
          <a:prstGeom prst="rect">
            <a:avLst/>
          </a:prstGeom>
          <a:noFill/>
          <a:ln/>
        </p:spPr>
        <p:txBody>
          <a:bodyPr vert="horz" wrap="none" lIns="0" tIns="0" rIns="0" bIns="0" rtlCol="0" anchor="ctr"/>
          <a:lstStyle/>
          <a:p>
            <a:pPr marL="0" indent="0" algn="l">
              <a:buNone/>
            </a:pPr>
            <a:r>
              <a:rPr lang="en-US" sz="1950" b="1" dirty="0">
                <a:solidFill>
                  <a:srgbClr val="002147"/>
                </a:solidFill>
                <a:latin typeface="Times New Roman" panose="02020603050405020304" pitchFamily="18" charset="0"/>
                <a:ea typeface="Roboto" pitchFamily="34" charset="-122"/>
                <a:cs typeface="Times New Roman" panose="02020603050405020304" pitchFamily="18" charset="0"/>
              </a:rPr>
              <a:t>Cybersecurity</a:t>
            </a:r>
            <a:endParaRPr lang="en-US" sz="1950" dirty="0">
              <a:latin typeface="Times New Roman" panose="02020603050405020304" pitchFamily="18" charset="0"/>
              <a:cs typeface="Times New Roman" panose="02020603050405020304" pitchFamily="18" charset="0"/>
            </a:endParaRPr>
          </a:p>
        </p:txBody>
      </p:sp>
      <p:sp>
        <p:nvSpPr>
          <p:cNvPr id="101" name="SK-6-text-100"/>
          <p:cNvSpPr/>
          <p:nvPr/>
        </p:nvSpPr>
        <p:spPr>
          <a:xfrm>
            <a:off x="8814792" y="2448223"/>
            <a:ext cx="3377208" cy="157609"/>
          </a:xfrm>
          <a:prstGeom prst="rect">
            <a:avLst/>
          </a:prstGeom>
          <a:noFill/>
          <a:ln/>
        </p:spPr>
        <p:txBody>
          <a:bodyPr vert="horz" wrap="none" lIns="0" tIns="0" rIns="0" bIns="0" rtlCol="0" anchor="ctr"/>
          <a:lstStyle/>
          <a:p>
            <a:pPr marL="0" indent="0" algn="l">
              <a:buNone/>
            </a:pPr>
            <a:r>
              <a:rPr lang="en-US" sz="1125" dirty="0">
                <a:solidFill>
                  <a:srgbClr val="666666"/>
                </a:solidFill>
                <a:latin typeface="Times New Roman" panose="02020603050405020304" pitchFamily="18" charset="0"/>
                <a:ea typeface="Roboto" pitchFamily="34" charset="-122"/>
                <a:cs typeface="Times New Roman" panose="02020603050405020304" pitchFamily="18" charset="0"/>
              </a:rPr>
              <a:t>Metrică: P / R / F1 · Tabel 3</a:t>
            </a:r>
            <a:endParaRPr lang="en-US" sz="1125" dirty="0">
              <a:latin typeface="Times New Roman" panose="02020603050405020304" pitchFamily="18" charset="0"/>
              <a:cs typeface="Times New Roman" panose="02020603050405020304" pitchFamily="18" charset="0"/>
            </a:endParaRPr>
          </a:p>
        </p:txBody>
      </p:sp>
      <p:sp>
        <p:nvSpPr>
          <p:cNvPr id="102" name="SK-6-text-101"/>
          <p:cNvSpPr/>
          <p:nvPr/>
        </p:nvSpPr>
        <p:spPr>
          <a:xfrm>
            <a:off x="9021961" y="5582394"/>
            <a:ext cx="3170039" cy="185142"/>
          </a:xfrm>
          <a:prstGeom prst="rect">
            <a:avLst/>
          </a:prstGeom>
          <a:noFill/>
          <a:ln/>
        </p:spPr>
        <p:txBody>
          <a:bodyPr vert="horz" wrap="none" lIns="0" tIns="0" rIns="0" bIns="0" rtlCol="0" anchor="ctr"/>
          <a:lstStyle/>
          <a:p>
            <a:pPr marL="0" indent="0" algn="l">
              <a:buNone/>
            </a:pPr>
            <a:r>
              <a:rPr lang="en-US" sz="1350" b="1" dirty="0">
                <a:solidFill>
                  <a:srgbClr val="FFFFFF"/>
                </a:solidFill>
                <a:latin typeface="Times New Roman" panose="02020603050405020304" pitchFamily="18" charset="0"/>
                <a:ea typeface="Roboto" pitchFamily="34" charset="-122"/>
                <a:cs typeface="Times New Roman" panose="02020603050405020304" pitchFamily="18" charset="0"/>
              </a:rPr>
              <a:t>F1 = 0.9641 · Best în clasă</a:t>
            </a:r>
            <a:endParaRPr lang="en-US" sz="1350" dirty="0">
              <a:latin typeface="Times New Roman" panose="02020603050405020304" pitchFamily="18" charset="0"/>
              <a:cs typeface="Times New Roman" panose="02020603050405020304" pitchFamily="18" charset="0"/>
            </a:endParaRPr>
          </a:p>
        </p:txBody>
      </p:sp>
      <p:sp>
        <p:nvSpPr>
          <p:cNvPr id="103" name="SK-6-text-102"/>
          <p:cNvSpPr/>
          <p:nvPr/>
        </p:nvSpPr>
        <p:spPr>
          <a:xfrm>
            <a:off x="414486" y="6453336"/>
            <a:ext cx="11777514" cy="212527"/>
          </a:xfrm>
          <a:prstGeom prst="rect">
            <a:avLst/>
          </a:prstGeom>
          <a:noFill/>
          <a:ln/>
        </p:spPr>
        <p:txBody>
          <a:bodyPr vert="horz" wrap="none" lIns="0" tIns="0" rIns="0" bIns="0" rtlCol="0" anchor="ctr"/>
          <a:lstStyle/>
          <a:p>
            <a:pPr marL="0" indent="0" algn="l">
              <a:buNone/>
            </a:pPr>
            <a:endParaRPr lang="en-US" sz="1125" dirty="0">
              <a:latin typeface="Times New Roman" panose="02020603050405020304" pitchFamily="18" charset="0"/>
              <a:cs typeface="Times New Roman" panose="02020603050405020304" pitchFamily="18" charset="0"/>
            </a:endParaRPr>
          </a:p>
        </p:txBody>
      </p:sp>
      <p:pic>
        <p:nvPicPr>
          <p:cNvPr id="104" name="SK-4-img-2" descr="preencoded.png">
            <a:extLst>
              <a:ext uri="{FF2B5EF4-FFF2-40B4-BE49-F238E27FC236}">
                <a16:creationId xmlns:a16="http://schemas.microsoft.com/office/drawing/2014/main" id="{65829AA5-39F7-4AD5-BB51-4095BA6405CB}"/>
              </a:ext>
            </a:extLst>
          </p:cNvPr>
          <p:cNvPicPr>
            <a:picLocks noChangeAspect="1"/>
          </p:cNvPicPr>
          <p:nvPr/>
        </p:nvPicPr>
        <p:blipFill>
          <a:blip r:embed="rId27"/>
          <a:stretch>
            <a:fillRect/>
          </a:stretch>
        </p:blipFill>
        <p:spPr>
          <a:xfrm>
            <a:off x="0" y="0"/>
            <a:ext cx="146298" cy="6858000"/>
          </a:xfrm>
          <a:prstGeom prst="rect">
            <a:avLst/>
          </a:prstGeom>
        </p:spPr>
      </p:pic>
      <p:pic>
        <p:nvPicPr>
          <p:cNvPr id="105" name="SK-2-img-4" descr="preencoded.png">
            <a:extLst>
              <a:ext uri="{FF2B5EF4-FFF2-40B4-BE49-F238E27FC236}">
                <a16:creationId xmlns:a16="http://schemas.microsoft.com/office/drawing/2014/main" id="{67B4D59D-852A-4F40-B99B-77EE9683A2E9}"/>
              </a:ext>
            </a:extLst>
          </p:cNvPr>
          <p:cNvPicPr>
            <a:picLocks noChangeAspect="1"/>
          </p:cNvPicPr>
          <p:nvPr/>
        </p:nvPicPr>
        <p:blipFill>
          <a:blip r:embed="rId28"/>
          <a:stretch>
            <a:fillRect/>
          </a:stretch>
        </p:blipFill>
        <p:spPr>
          <a:xfrm>
            <a:off x="438894" y="1119342"/>
            <a:ext cx="792361" cy="959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K-7-img-1" descr="preencoded.png"/>
          <p:cNvPicPr>
            <a:picLocks noChangeAspect="1"/>
          </p:cNvPicPr>
          <p:nvPr/>
        </p:nvPicPr>
        <p:blipFill>
          <a:blip r:embed="rId3"/>
          <a:stretch>
            <a:fillRect/>
          </a:stretch>
        </p:blipFill>
        <p:spPr>
          <a:xfrm>
            <a:off x="0" y="32938"/>
            <a:ext cx="12192000" cy="6858000"/>
          </a:xfrm>
          <a:prstGeom prst="rect">
            <a:avLst/>
          </a:prstGeom>
        </p:spPr>
      </p:pic>
      <p:pic>
        <p:nvPicPr>
          <p:cNvPr id="4" name="SK-7-img-3" descr="preencoded.png"/>
          <p:cNvPicPr>
            <a:picLocks noChangeAspect="1"/>
          </p:cNvPicPr>
          <p:nvPr/>
        </p:nvPicPr>
        <p:blipFill>
          <a:blip r:embed="rId4"/>
          <a:stretch>
            <a:fillRect/>
          </a:stretch>
        </p:blipFill>
        <p:spPr>
          <a:xfrm>
            <a:off x="10302180" y="102840"/>
            <a:ext cx="1621482" cy="1097161"/>
          </a:xfrm>
          <a:prstGeom prst="rect">
            <a:avLst/>
          </a:prstGeom>
        </p:spPr>
      </p:pic>
      <p:pic>
        <p:nvPicPr>
          <p:cNvPr id="6" name="SK-7-img-5" descr="preencoded.png"/>
          <p:cNvPicPr>
            <a:picLocks noChangeAspect="1"/>
          </p:cNvPicPr>
          <p:nvPr/>
        </p:nvPicPr>
        <p:blipFill>
          <a:blip r:embed="rId5"/>
          <a:stretch>
            <a:fillRect/>
          </a:stretch>
        </p:blipFill>
        <p:spPr>
          <a:xfrm>
            <a:off x="377875" y="1741884"/>
            <a:ext cx="5230267" cy="514350"/>
          </a:xfrm>
          <a:prstGeom prst="rect">
            <a:avLst/>
          </a:prstGeom>
        </p:spPr>
      </p:pic>
      <p:pic>
        <p:nvPicPr>
          <p:cNvPr id="7" name="SK-7-img-6" descr="preencoded.png"/>
          <p:cNvPicPr>
            <a:picLocks noChangeAspect="1"/>
          </p:cNvPicPr>
          <p:nvPr/>
        </p:nvPicPr>
        <p:blipFill>
          <a:blip r:embed="rId6"/>
          <a:stretch>
            <a:fillRect/>
          </a:stretch>
        </p:blipFill>
        <p:spPr>
          <a:xfrm>
            <a:off x="377875" y="1741884"/>
            <a:ext cx="97482" cy="514350"/>
          </a:xfrm>
          <a:prstGeom prst="rect">
            <a:avLst/>
          </a:prstGeom>
        </p:spPr>
      </p:pic>
      <p:pic>
        <p:nvPicPr>
          <p:cNvPr id="8" name="SK-7-img-7" descr="preencoded.png"/>
          <p:cNvPicPr>
            <a:picLocks noChangeAspect="1"/>
          </p:cNvPicPr>
          <p:nvPr/>
        </p:nvPicPr>
        <p:blipFill>
          <a:blip r:embed="rId7"/>
          <a:stretch>
            <a:fillRect/>
          </a:stretch>
        </p:blipFill>
        <p:spPr>
          <a:xfrm>
            <a:off x="377875" y="2359075"/>
            <a:ext cx="5230267" cy="514350"/>
          </a:xfrm>
          <a:prstGeom prst="rect">
            <a:avLst/>
          </a:prstGeom>
        </p:spPr>
      </p:pic>
      <p:pic>
        <p:nvPicPr>
          <p:cNvPr id="9" name="SK-7-img-8" descr="preencoded.png"/>
          <p:cNvPicPr>
            <a:picLocks noChangeAspect="1"/>
          </p:cNvPicPr>
          <p:nvPr/>
        </p:nvPicPr>
        <p:blipFill>
          <a:blip r:embed="rId8"/>
          <a:stretch>
            <a:fillRect/>
          </a:stretch>
        </p:blipFill>
        <p:spPr>
          <a:xfrm>
            <a:off x="377875" y="2359075"/>
            <a:ext cx="97482" cy="514350"/>
          </a:xfrm>
          <a:prstGeom prst="rect">
            <a:avLst/>
          </a:prstGeom>
        </p:spPr>
      </p:pic>
      <p:pic>
        <p:nvPicPr>
          <p:cNvPr id="10" name="SK-7-img-9" descr="preencoded.png"/>
          <p:cNvPicPr>
            <a:picLocks noChangeAspect="1"/>
          </p:cNvPicPr>
          <p:nvPr/>
        </p:nvPicPr>
        <p:blipFill>
          <a:blip r:embed="rId9"/>
          <a:stretch>
            <a:fillRect/>
          </a:stretch>
        </p:blipFill>
        <p:spPr>
          <a:xfrm>
            <a:off x="377875" y="2976265"/>
            <a:ext cx="5230267" cy="514350"/>
          </a:xfrm>
          <a:prstGeom prst="rect">
            <a:avLst/>
          </a:prstGeom>
        </p:spPr>
      </p:pic>
      <p:pic>
        <p:nvPicPr>
          <p:cNvPr id="11" name="SK-7-img-10" descr="preencoded.png"/>
          <p:cNvPicPr>
            <a:picLocks noChangeAspect="1"/>
          </p:cNvPicPr>
          <p:nvPr/>
        </p:nvPicPr>
        <p:blipFill>
          <a:blip r:embed="rId10"/>
          <a:stretch>
            <a:fillRect/>
          </a:stretch>
        </p:blipFill>
        <p:spPr>
          <a:xfrm>
            <a:off x="377875" y="2976265"/>
            <a:ext cx="97482" cy="514350"/>
          </a:xfrm>
          <a:prstGeom prst="rect">
            <a:avLst/>
          </a:prstGeom>
        </p:spPr>
      </p:pic>
      <p:pic>
        <p:nvPicPr>
          <p:cNvPr id="12" name="SK-7-img-11" descr="preencoded.png"/>
          <p:cNvPicPr>
            <a:picLocks noChangeAspect="1"/>
          </p:cNvPicPr>
          <p:nvPr/>
        </p:nvPicPr>
        <p:blipFill>
          <a:blip r:embed="rId9"/>
          <a:stretch>
            <a:fillRect/>
          </a:stretch>
        </p:blipFill>
        <p:spPr>
          <a:xfrm>
            <a:off x="377875" y="3593455"/>
            <a:ext cx="5230267" cy="514350"/>
          </a:xfrm>
          <a:prstGeom prst="rect">
            <a:avLst/>
          </a:prstGeom>
        </p:spPr>
      </p:pic>
      <p:pic>
        <p:nvPicPr>
          <p:cNvPr id="13" name="SK-7-img-12" descr="preencoded.png"/>
          <p:cNvPicPr>
            <a:picLocks noChangeAspect="1"/>
          </p:cNvPicPr>
          <p:nvPr/>
        </p:nvPicPr>
        <p:blipFill>
          <a:blip r:embed="rId11"/>
          <a:stretch>
            <a:fillRect/>
          </a:stretch>
        </p:blipFill>
        <p:spPr>
          <a:xfrm>
            <a:off x="377875" y="3593455"/>
            <a:ext cx="97482" cy="514350"/>
          </a:xfrm>
          <a:prstGeom prst="rect">
            <a:avLst/>
          </a:prstGeom>
        </p:spPr>
      </p:pic>
      <p:pic>
        <p:nvPicPr>
          <p:cNvPr id="14" name="SK-7-img-13" descr="preencoded.png"/>
          <p:cNvPicPr>
            <a:picLocks noChangeAspect="1"/>
          </p:cNvPicPr>
          <p:nvPr/>
        </p:nvPicPr>
        <p:blipFill>
          <a:blip r:embed="rId5"/>
          <a:stretch>
            <a:fillRect/>
          </a:stretch>
        </p:blipFill>
        <p:spPr>
          <a:xfrm>
            <a:off x="377875" y="4210794"/>
            <a:ext cx="5230267" cy="514350"/>
          </a:xfrm>
          <a:prstGeom prst="rect">
            <a:avLst/>
          </a:prstGeom>
        </p:spPr>
      </p:pic>
      <p:pic>
        <p:nvPicPr>
          <p:cNvPr id="15" name="SK-7-img-14" descr="preencoded.png"/>
          <p:cNvPicPr>
            <a:picLocks noChangeAspect="1"/>
          </p:cNvPicPr>
          <p:nvPr/>
        </p:nvPicPr>
        <p:blipFill>
          <a:blip r:embed="rId12"/>
          <a:stretch>
            <a:fillRect/>
          </a:stretch>
        </p:blipFill>
        <p:spPr>
          <a:xfrm>
            <a:off x="377875" y="4210794"/>
            <a:ext cx="97482" cy="514350"/>
          </a:xfrm>
          <a:prstGeom prst="rect">
            <a:avLst/>
          </a:prstGeom>
        </p:spPr>
      </p:pic>
      <p:pic>
        <p:nvPicPr>
          <p:cNvPr id="16" name="SK-7-img-15" descr="preencoded.png"/>
          <p:cNvPicPr>
            <a:picLocks noChangeAspect="1"/>
          </p:cNvPicPr>
          <p:nvPr/>
        </p:nvPicPr>
        <p:blipFill>
          <a:blip r:embed="rId13"/>
          <a:stretch>
            <a:fillRect/>
          </a:stretch>
        </p:blipFill>
        <p:spPr>
          <a:xfrm>
            <a:off x="377875" y="4827984"/>
            <a:ext cx="5230267" cy="514350"/>
          </a:xfrm>
          <a:prstGeom prst="rect">
            <a:avLst/>
          </a:prstGeom>
        </p:spPr>
      </p:pic>
      <p:pic>
        <p:nvPicPr>
          <p:cNvPr id="17" name="SK-7-img-16" descr="preencoded.png"/>
          <p:cNvPicPr>
            <a:picLocks noChangeAspect="1"/>
          </p:cNvPicPr>
          <p:nvPr/>
        </p:nvPicPr>
        <p:blipFill>
          <a:blip r:embed="rId14"/>
          <a:stretch>
            <a:fillRect/>
          </a:stretch>
        </p:blipFill>
        <p:spPr>
          <a:xfrm>
            <a:off x="377875" y="4827984"/>
            <a:ext cx="97482" cy="514350"/>
          </a:xfrm>
          <a:prstGeom prst="rect">
            <a:avLst/>
          </a:prstGeom>
        </p:spPr>
      </p:pic>
      <p:pic>
        <p:nvPicPr>
          <p:cNvPr id="18" name="SK-7-img-17" descr="preencoded.png"/>
          <p:cNvPicPr>
            <a:picLocks noChangeAspect="1"/>
          </p:cNvPicPr>
          <p:nvPr/>
        </p:nvPicPr>
        <p:blipFill>
          <a:blip r:embed="rId15"/>
          <a:stretch>
            <a:fillRect/>
          </a:stretch>
        </p:blipFill>
        <p:spPr>
          <a:xfrm>
            <a:off x="5876479" y="1741884"/>
            <a:ext cx="5998369" cy="3353544"/>
          </a:xfrm>
          <a:prstGeom prst="rect">
            <a:avLst/>
          </a:prstGeom>
        </p:spPr>
      </p:pic>
      <p:pic>
        <p:nvPicPr>
          <p:cNvPr id="19" name="SK-7-img-18" descr="preencoded.png"/>
          <p:cNvPicPr>
            <a:picLocks noChangeAspect="1"/>
          </p:cNvPicPr>
          <p:nvPr/>
        </p:nvPicPr>
        <p:blipFill>
          <a:blip r:embed="rId16"/>
          <a:stretch>
            <a:fillRect/>
          </a:stretch>
        </p:blipFill>
        <p:spPr>
          <a:xfrm>
            <a:off x="5876479" y="5328642"/>
            <a:ext cx="1938486" cy="685800"/>
          </a:xfrm>
          <a:prstGeom prst="rect">
            <a:avLst/>
          </a:prstGeom>
        </p:spPr>
      </p:pic>
      <p:pic>
        <p:nvPicPr>
          <p:cNvPr id="20" name="SK-7-img-19" descr="preencoded.png"/>
          <p:cNvPicPr>
            <a:picLocks noChangeAspect="1"/>
          </p:cNvPicPr>
          <p:nvPr/>
        </p:nvPicPr>
        <p:blipFill>
          <a:blip r:embed="rId17"/>
          <a:stretch>
            <a:fillRect/>
          </a:stretch>
        </p:blipFill>
        <p:spPr>
          <a:xfrm>
            <a:off x="5986165" y="5465713"/>
            <a:ext cx="402282" cy="411361"/>
          </a:xfrm>
          <a:prstGeom prst="rect">
            <a:avLst/>
          </a:prstGeom>
        </p:spPr>
      </p:pic>
      <p:pic>
        <p:nvPicPr>
          <p:cNvPr id="21" name="SK-7-img-20" descr="preencoded.png"/>
          <p:cNvPicPr>
            <a:picLocks noChangeAspect="1"/>
          </p:cNvPicPr>
          <p:nvPr/>
        </p:nvPicPr>
        <p:blipFill>
          <a:blip r:embed="rId18"/>
          <a:stretch>
            <a:fillRect/>
          </a:stretch>
        </p:blipFill>
        <p:spPr>
          <a:xfrm>
            <a:off x="7961263" y="5328642"/>
            <a:ext cx="1901875" cy="685800"/>
          </a:xfrm>
          <a:prstGeom prst="rect">
            <a:avLst/>
          </a:prstGeom>
        </p:spPr>
      </p:pic>
      <p:pic>
        <p:nvPicPr>
          <p:cNvPr id="22" name="SK-7-img-21" descr="preencoded.png"/>
          <p:cNvPicPr>
            <a:picLocks noChangeAspect="1"/>
          </p:cNvPicPr>
          <p:nvPr/>
        </p:nvPicPr>
        <p:blipFill>
          <a:blip r:embed="rId19"/>
          <a:stretch>
            <a:fillRect/>
          </a:stretch>
        </p:blipFill>
        <p:spPr>
          <a:xfrm>
            <a:off x="8058894" y="5465713"/>
            <a:ext cx="402282" cy="411361"/>
          </a:xfrm>
          <a:prstGeom prst="rect">
            <a:avLst/>
          </a:prstGeom>
        </p:spPr>
      </p:pic>
      <p:pic>
        <p:nvPicPr>
          <p:cNvPr id="25" name="SK-7-img-24" descr="preencoded.png"/>
          <p:cNvPicPr>
            <a:picLocks noChangeAspect="1"/>
          </p:cNvPicPr>
          <p:nvPr/>
        </p:nvPicPr>
        <p:blipFill>
          <a:blip r:embed="rId20"/>
          <a:stretch>
            <a:fillRect/>
          </a:stretch>
        </p:blipFill>
        <p:spPr>
          <a:xfrm>
            <a:off x="377875" y="6436965"/>
            <a:ext cx="11496973" cy="19050"/>
          </a:xfrm>
          <a:prstGeom prst="rect">
            <a:avLst/>
          </a:prstGeom>
        </p:spPr>
      </p:pic>
      <p:pic>
        <p:nvPicPr>
          <p:cNvPr id="26" name="SK-7-img-25" descr="preencoded.png"/>
          <p:cNvPicPr>
            <a:picLocks noChangeAspect="1"/>
          </p:cNvPicPr>
          <p:nvPr/>
        </p:nvPicPr>
        <p:blipFill>
          <a:blip r:embed="rId21"/>
          <a:stretch>
            <a:fillRect/>
          </a:stretch>
        </p:blipFill>
        <p:spPr>
          <a:xfrm>
            <a:off x="5913090" y="1769269"/>
            <a:ext cx="5839867" cy="3120330"/>
          </a:xfrm>
          <a:prstGeom prst="rect">
            <a:avLst/>
          </a:prstGeom>
        </p:spPr>
      </p:pic>
      <p:sp>
        <p:nvSpPr>
          <p:cNvPr id="27" name="SK-7-text-26"/>
          <p:cNvSpPr/>
          <p:nvPr/>
        </p:nvSpPr>
        <p:spPr>
          <a:xfrm>
            <a:off x="365671" y="322213"/>
            <a:ext cx="8610600" cy="205680"/>
          </a:xfrm>
          <a:prstGeom prst="rect">
            <a:avLst/>
          </a:prstGeom>
          <a:noFill/>
          <a:ln/>
        </p:spPr>
        <p:txBody>
          <a:bodyPr vert="horz" wrap="none" lIns="0" tIns="0" rIns="0" bIns="0" rtlCol="0" anchor="ctr"/>
          <a:lstStyle/>
          <a:p>
            <a:pPr marL="0" indent="0" algn="l">
              <a:buNone/>
            </a:pPr>
            <a:r>
              <a:rPr lang="en-US" sz="1500" dirty="0">
                <a:solidFill>
                  <a:srgbClr val="888888"/>
                </a:solidFill>
                <a:latin typeface="Times New Roman" panose="02020603050405020304" pitchFamily="18" charset="0"/>
                <a:ea typeface="Roboto" panose="02000000000000000000" pitchFamily="2" charset="0"/>
                <a:cs typeface="Times New Roman" panose="02020603050405020304" pitchFamily="18" charset="0"/>
              </a:rPr>
              <a:t>08 / 11 · Ablation studies </a:t>
            </a:r>
            <a:r>
              <a:rPr lang="en-US" sz="1500" dirty="0" err="1">
                <a:solidFill>
                  <a:srgbClr val="888888"/>
                </a:solidFill>
                <a:latin typeface="Times New Roman" panose="02020603050405020304" pitchFamily="18" charset="0"/>
                <a:ea typeface="Roboto" panose="02000000000000000000" pitchFamily="2" charset="0"/>
                <a:cs typeface="Times New Roman" panose="02020603050405020304" pitchFamily="18" charset="0"/>
              </a:rPr>
              <a:t>și</a:t>
            </a:r>
            <a:r>
              <a:rPr lang="en-US" sz="1500" dirty="0">
                <a:solidFill>
                  <a:srgbClr val="888888"/>
                </a:solidFill>
                <a:latin typeface="Times New Roman" panose="02020603050405020304" pitchFamily="18" charset="0"/>
                <a:ea typeface="Roboto" panose="02000000000000000000" pitchFamily="2" charset="0"/>
                <a:cs typeface="Times New Roman" panose="02020603050405020304" pitchFamily="18" charset="0"/>
              </a:rPr>
              <a:t> </a:t>
            </a:r>
            <a:r>
              <a:rPr lang="en-US" sz="1500" dirty="0" err="1">
                <a:solidFill>
                  <a:srgbClr val="888888"/>
                </a:solidFill>
                <a:latin typeface="Times New Roman" panose="02020603050405020304" pitchFamily="18" charset="0"/>
                <a:ea typeface="Roboto" panose="02000000000000000000" pitchFamily="2" charset="0"/>
                <a:cs typeface="Times New Roman" panose="02020603050405020304" pitchFamily="18" charset="0"/>
              </a:rPr>
              <a:t>hiperparametri</a:t>
            </a:r>
            <a:endParaRPr lang="en-US" sz="1500" dirty="0">
              <a:latin typeface="Times New Roman" panose="02020603050405020304" pitchFamily="18" charset="0"/>
              <a:ea typeface="Roboto" panose="02000000000000000000" pitchFamily="2" charset="0"/>
              <a:cs typeface="Times New Roman" panose="02020603050405020304" pitchFamily="18" charset="0"/>
            </a:endParaRPr>
          </a:p>
        </p:txBody>
      </p:sp>
      <p:sp>
        <p:nvSpPr>
          <p:cNvPr id="28" name="SK-7-text-27"/>
          <p:cNvSpPr/>
          <p:nvPr/>
        </p:nvSpPr>
        <p:spPr>
          <a:xfrm>
            <a:off x="353467" y="658267"/>
            <a:ext cx="11838533" cy="418207"/>
          </a:xfrm>
          <a:prstGeom prst="rect">
            <a:avLst/>
          </a:prstGeom>
          <a:noFill/>
          <a:ln/>
        </p:spPr>
        <p:txBody>
          <a:bodyPr vert="horz" wrap="none" lIns="0" tIns="0" rIns="0" bIns="0" rtlCol="0" anchor="ctr"/>
          <a:lstStyle/>
          <a:p>
            <a:pPr marL="0" indent="0" algn="l">
              <a:buNone/>
            </a:pPr>
            <a:r>
              <a:rPr lang="en-US" sz="3000" b="1" dirty="0">
                <a:solidFill>
                  <a:srgbClr val="002B5B"/>
                </a:solidFill>
                <a:latin typeface="Times New Roman" panose="02020603050405020304" pitchFamily="18" charset="0"/>
                <a:ea typeface="Inter" pitchFamily="34" charset="-122"/>
                <a:cs typeface="Times New Roman" panose="02020603050405020304" pitchFamily="18" charset="0"/>
              </a:rPr>
              <a:t>Ablation studies </a:t>
            </a:r>
            <a:r>
              <a:rPr lang="en-US" sz="3000" b="1" dirty="0" err="1">
                <a:solidFill>
                  <a:srgbClr val="002B5B"/>
                </a:solidFill>
                <a:latin typeface="Times New Roman" panose="02020603050405020304" pitchFamily="18" charset="0"/>
                <a:ea typeface="Inter" pitchFamily="34" charset="-122"/>
                <a:cs typeface="Times New Roman" panose="02020603050405020304" pitchFamily="18" charset="0"/>
              </a:rPr>
              <a:t>și</a:t>
            </a:r>
            <a:r>
              <a:rPr lang="en-US" sz="3000" b="1" dirty="0">
                <a:solidFill>
                  <a:srgbClr val="002B5B"/>
                </a:solidFill>
                <a:latin typeface="Times New Roman" panose="02020603050405020304" pitchFamily="18" charset="0"/>
                <a:ea typeface="Inter" pitchFamily="34" charset="-122"/>
                <a:cs typeface="Times New Roman" panose="02020603050405020304" pitchFamily="18" charset="0"/>
              </a:rPr>
              <a:t> </a:t>
            </a:r>
            <a:r>
              <a:rPr lang="en-US" sz="3000" b="1" dirty="0" err="1">
                <a:solidFill>
                  <a:srgbClr val="002B5B"/>
                </a:solidFill>
                <a:latin typeface="Times New Roman" panose="02020603050405020304" pitchFamily="18" charset="0"/>
                <a:ea typeface="Inter" pitchFamily="34" charset="-122"/>
                <a:cs typeface="Times New Roman" panose="02020603050405020304" pitchFamily="18" charset="0"/>
              </a:rPr>
              <a:t>hiperparametri</a:t>
            </a:r>
            <a:endParaRPr lang="en-US" sz="3000" dirty="0">
              <a:latin typeface="Times New Roman" panose="02020603050405020304" pitchFamily="18" charset="0"/>
              <a:cs typeface="Times New Roman" panose="02020603050405020304" pitchFamily="18" charset="0"/>
            </a:endParaRPr>
          </a:p>
        </p:txBody>
      </p:sp>
      <p:sp>
        <p:nvSpPr>
          <p:cNvPr id="29" name="SK-7-text-28"/>
          <p:cNvSpPr/>
          <p:nvPr/>
        </p:nvSpPr>
        <p:spPr>
          <a:xfrm>
            <a:off x="646063" y="1892796"/>
            <a:ext cx="5429250" cy="226219"/>
          </a:xfrm>
          <a:prstGeom prst="rect">
            <a:avLst/>
          </a:prstGeom>
          <a:noFill/>
          <a:ln/>
        </p:spPr>
        <p:txBody>
          <a:bodyPr vert="horz" wrap="none" lIns="0" tIns="0" rIns="0" bIns="0" rtlCol="0" anchor="ctr"/>
          <a:lstStyle/>
          <a:p>
            <a:pPr marL="0" indent="0" algn="l">
              <a:buNone/>
            </a:pPr>
            <a:r>
              <a:rPr lang="en-US" sz="1500" b="1" dirty="0">
                <a:solidFill>
                  <a:srgbClr val="333333"/>
                </a:solidFill>
                <a:latin typeface="Times New Roman" panose="02020603050405020304" pitchFamily="18" charset="0"/>
                <a:ea typeface="Inter" pitchFamily="34" charset="-122"/>
                <a:cs typeface="Times New Roman" panose="02020603050405020304" pitchFamily="18" charset="0"/>
              </a:rPr>
              <a:t>AE (baseline) 0.9170</a:t>
            </a:r>
            <a:endParaRPr lang="en-US" sz="1500" dirty="0">
              <a:latin typeface="Times New Roman" panose="02020603050405020304" pitchFamily="18" charset="0"/>
              <a:cs typeface="Times New Roman" panose="02020603050405020304" pitchFamily="18" charset="0"/>
            </a:endParaRPr>
          </a:p>
        </p:txBody>
      </p:sp>
      <p:sp>
        <p:nvSpPr>
          <p:cNvPr id="30" name="SK-7-text-29"/>
          <p:cNvSpPr/>
          <p:nvPr/>
        </p:nvSpPr>
        <p:spPr>
          <a:xfrm>
            <a:off x="646063" y="2509986"/>
            <a:ext cx="7258050" cy="212527"/>
          </a:xfrm>
          <a:prstGeom prst="rect">
            <a:avLst/>
          </a:prstGeom>
          <a:noFill/>
          <a:ln/>
        </p:spPr>
        <p:txBody>
          <a:bodyPr vert="horz" wrap="none" lIns="0" tIns="0" rIns="0" bIns="0" rtlCol="0" anchor="ctr"/>
          <a:lstStyle/>
          <a:p>
            <a:pPr marL="0" indent="0" algn="l">
              <a:buNone/>
            </a:pPr>
            <a:r>
              <a:rPr lang="en-US" sz="1500" b="1" dirty="0">
                <a:solidFill>
                  <a:srgbClr val="333333"/>
                </a:solidFill>
                <a:latin typeface="Times New Roman" panose="02020603050405020304" pitchFamily="18" charset="0"/>
                <a:ea typeface="Inter" pitchFamily="34" charset="-122"/>
                <a:cs typeface="Times New Roman" panose="02020603050405020304" pitchFamily="18" charset="0"/>
              </a:rPr>
              <a:t>AE-ℓ₁ (sparse latent) 0.9286</a:t>
            </a:r>
            <a:endParaRPr lang="en-US" sz="1500" dirty="0">
              <a:latin typeface="Times New Roman" panose="02020603050405020304" pitchFamily="18" charset="0"/>
              <a:cs typeface="Times New Roman" panose="02020603050405020304" pitchFamily="18" charset="0"/>
            </a:endParaRPr>
          </a:p>
        </p:txBody>
      </p:sp>
      <p:sp>
        <p:nvSpPr>
          <p:cNvPr id="31" name="SK-7-text-30"/>
          <p:cNvSpPr/>
          <p:nvPr/>
        </p:nvSpPr>
        <p:spPr>
          <a:xfrm>
            <a:off x="646063" y="3127177"/>
            <a:ext cx="5429250" cy="205680"/>
          </a:xfrm>
          <a:prstGeom prst="rect">
            <a:avLst/>
          </a:prstGeom>
          <a:noFill/>
          <a:ln/>
        </p:spPr>
        <p:txBody>
          <a:bodyPr vert="horz" wrap="none" lIns="0" tIns="0" rIns="0" bIns="0" rtlCol="0" anchor="ctr"/>
          <a:lstStyle/>
          <a:p>
            <a:pPr marL="0" indent="0" algn="l">
              <a:buNone/>
            </a:pPr>
            <a:r>
              <a:rPr lang="en-US" sz="1500" b="1" dirty="0">
                <a:solidFill>
                  <a:srgbClr val="333333"/>
                </a:solidFill>
                <a:latin typeface="Times New Roman" panose="02020603050405020304" pitchFamily="18" charset="0"/>
                <a:ea typeface="Inter" pitchFamily="34" charset="-122"/>
                <a:cs typeface="Times New Roman" panose="02020603050405020304" pitchFamily="18" charset="0"/>
              </a:rPr>
              <a:t>MemAE-nonSpar 0.9293</a:t>
            </a:r>
            <a:endParaRPr lang="en-US" sz="1500" dirty="0">
              <a:latin typeface="Times New Roman" panose="02020603050405020304" pitchFamily="18" charset="0"/>
              <a:cs typeface="Times New Roman" panose="02020603050405020304" pitchFamily="18" charset="0"/>
            </a:endParaRPr>
          </a:p>
        </p:txBody>
      </p:sp>
      <p:sp>
        <p:nvSpPr>
          <p:cNvPr id="32" name="SK-7-text-31"/>
          <p:cNvSpPr/>
          <p:nvPr/>
        </p:nvSpPr>
        <p:spPr>
          <a:xfrm>
            <a:off x="646063" y="3737521"/>
            <a:ext cx="7029450" cy="205680"/>
          </a:xfrm>
          <a:prstGeom prst="rect">
            <a:avLst/>
          </a:prstGeom>
          <a:noFill/>
          <a:ln/>
        </p:spPr>
        <p:txBody>
          <a:bodyPr vert="horz" wrap="none" lIns="0" tIns="0" rIns="0" bIns="0" rtlCol="0" anchor="ctr"/>
          <a:lstStyle/>
          <a:p>
            <a:pPr marL="0" indent="0" algn="l">
              <a:buNone/>
            </a:pPr>
            <a:r>
              <a:rPr lang="en-US" sz="1500" b="1" dirty="0">
                <a:solidFill>
                  <a:srgbClr val="333333"/>
                </a:solidFill>
                <a:latin typeface="Times New Roman" panose="02020603050405020304" pitchFamily="18" charset="0"/>
                <a:ea typeface="Inter" pitchFamily="34" charset="-122"/>
                <a:cs typeface="Times New Roman" panose="02020603050405020304" pitchFamily="18" charset="0"/>
              </a:rPr>
              <a:t>MemAE fără Shrinkage 0.9324</a:t>
            </a:r>
            <a:endParaRPr lang="en-US" sz="1500" dirty="0">
              <a:latin typeface="Times New Roman" panose="02020603050405020304" pitchFamily="18" charset="0"/>
              <a:cs typeface="Times New Roman" panose="02020603050405020304" pitchFamily="18" charset="0"/>
            </a:endParaRPr>
          </a:p>
        </p:txBody>
      </p:sp>
      <p:sp>
        <p:nvSpPr>
          <p:cNvPr id="33" name="SK-7-text-32"/>
          <p:cNvSpPr/>
          <p:nvPr/>
        </p:nvSpPr>
        <p:spPr>
          <a:xfrm>
            <a:off x="646063" y="4354711"/>
            <a:ext cx="7715250" cy="198834"/>
          </a:xfrm>
          <a:prstGeom prst="rect">
            <a:avLst/>
          </a:prstGeom>
          <a:noFill/>
          <a:ln/>
        </p:spPr>
        <p:txBody>
          <a:bodyPr vert="horz" wrap="none" lIns="0" tIns="0" rIns="0" bIns="0" rtlCol="0" anchor="ctr"/>
          <a:lstStyle/>
          <a:p>
            <a:pPr marL="0" indent="0" algn="l">
              <a:buNone/>
            </a:pPr>
            <a:r>
              <a:rPr lang="en-US" sz="1500" b="1" dirty="0">
                <a:solidFill>
                  <a:srgbClr val="333333"/>
                </a:solidFill>
                <a:latin typeface="Times New Roman" panose="02020603050405020304" pitchFamily="18" charset="0"/>
                <a:ea typeface="Inter" pitchFamily="34" charset="-122"/>
                <a:cs typeface="Times New Roman" panose="02020603050405020304" pitchFamily="18" charset="0"/>
              </a:rPr>
              <a:t>MemAE fără Entropy Loss 0.9372</a:t>
            </a:r>
            <a:endParaRPr lang="en-US" sz="1500" dirty="0">
              <a:latin typeface="Times New Roman" panose="02020603050405020304" pitchFamily="18" charset="0"/>
              <a:cs typeface="Times New Roman" panose="02020603050405020304" pitchFamily="18" charset="0"/>
            </a:endParaRPr>
          </a:p>
        </p:txBody>
      </p:sp>
      <p:sp>
        <p:nvSpPr>
          <p:cNvPr id="34" name="SK-7-text-33"/>
          <p:cNvSpPr/>
          <p:nvPr/>
        </p:nvSpPr>
        <p:spPr>
          <a:xfrm>
            <a:off x="646063" y="4965055"/>
            <a:ext cx="5074920" cy="212527"/>
          </a:xfrm>
          <a:prstGeom prst="rect">
            <a:avLst/>
          </a:prstGeom>
          <a:noFill/>
          <a:ln/>
        </p:spPr>
        <p:txBody>
          <a:bodyPr vert="horz" wrap="none" lIns="0" tIns="0" rIns="0" bIns="0" rtlCol="0" anchor="ctr"/>
          <a:lstStyle/>
          <a:p>
            <a:pPr marL="0" indent="0" algn="l">
              <a:buNone/>
            </a:pPr>
            <a:r>
              <a:rPr lang="en-US" sz="1200" b="1" dirty="0">
                <a:solidFill>
                  <a:srgbClr val="002B5B"/>
                </a:solidFill>
                <a:latin typeface="Times New Roman" panose="02020603050405020304" pitchFamily="18" charset="0"/>
                <a:ea typeface="Inter" pitchFamily="34" charset="-122"/>
                <a:cs typeface="Times New Roman" panose="02020603050405020304" pitchFamily="18" charset="0"/>
              </a:rPr>
              <a:t>MemAE complet ✓ 0.9410 ★</a:t>
            </a:r>
            <a:endParaRPr lang="en-US" sz="1200" dirty="0">
              <a:latin typeface="Times New Roman" panose="02020603050405020304" pitchFamily="18" charset="0"/>
              <a:cs typeface="Times New Roman" panose="02020603050405020304" pitchFamily="18" charset="0"/>
            </a:endParaRPr>
          </a:p>
        </p:txBody>
      </p:sp>
      <p:sp>
        <p:nvSpPr>
          <p:cNvPr id="35" name="SK-7-text-34"/>
          <p:cNvSpPr/>
          <p:nvPr/>
        </p:nvSpPr>
        <p:spPr>
          <a:xfrm>
            <a:off x="365671" y="5520630"/>
            <a:ext cx="5623560" cy="191988"/>
          </a:xfrm>
          <a:prstGeom prst="rect">
            <a:avLst/>
          </a:prstGeom>
          <a:noFill/>
          <a:ln/>
        </p:spPr>
        <p:txBody>
          <a:bodyPr vert="horz" wrap="none" lIns="0" tIns="0" rIns="0" bIns="0" rtlCol="0" anchor="ctr"/>
          <a:lstStyle/>
          <a:p>
            <a:pPr marL="0" indent="0" algn="l">
              <a:buNone/>
            </a:pPr>
            <a:r>
              <a:rPr lang="en-US" sz="1050" dirty="0">
                <a:solidFill>
                  <a:srgbClr val="888888"/>
                </a:solidFill>
                <a:latin typeface="Times New Roman" panose="02020603050405020304" pitchFamily="18" charset="0"/>
                <a:ea typeface="Inter" pitchFamily="34" charset="-122"/>
                <a:cs typeface="Times New Roman" panose="02020603050405020304" pitchFamily="18" charset="0"/>
              </a:rPr>
              <a:t>Evaluare pe UCSD-Ped2 · AUC metric</a:t>
            </a:r>
            <a:endParaRPr lang="en-US" sz="1050" dirty="0">
              <a:latin typeface="Times New Roman" panose="02020603050405020304" pitchFamily="18" charset="0"/>
              <a:cs typeface="Times New Roman" panose="02020603050405020304" pitchFamily="18" charset="0"/>
            </a:endParaRPr>
          </a:p>
        </p:txBody>
      </p:sp>
      <p:sp>
        <p:nvSpPr>
          <p:cNvPr id="36" name="SK-7-text-35"/>
          <p:cNvSpPr/>
          <p:nvPr/>
        </p:nvSpPr>
        <p:spPr>
          <a:xfrm>
            <a:off x="365671" y="5884069"/>
            <a:ext cx="10317480" cy="185142"/>
          </a:xfrm>
          <a:prstGeom prst="rect">
            <a:avLst/>
          </a:prstGeom>
          <a:noFill/>
          <a:ln/>
        </p:spPr>
        <p:txBody>
          <a:bodyPr vert="horz" wrap="none" lIns="0" tIns="0" rIns="0" bIns="0" rtlCol="0" anchor="ctr"/>
          <a:lstStyle/>
          <a:p>
            <a:pPr marL="0" indent="0" algn="l">
              <a:buNone/>
            </a:pPr>
            <a:r>
              <a:rPr lang="en-US" sz="1050" dirty="0">
                <a:solidFill>
                  <a:srgbClr val="888888"/>
                </a:solidFill>
                <a:latin typeface="Times New Roman" panose="02020603050405020304" pitchFamily="18" charset="0"/>
                <a:ea typeface="Inter" pitchFamily="34" charset="-122"/>
                <a:cs typeface="Times New Roman" panose="02020603050405020304" pitchFamily="18" charset="0"/>
              </a:rPr>
              <a:t>Fiecare componentă contribuie incremental la performanța finală.</a:t>
            </a:r>
            <a:endParaRPr lang="en-US" sz="1050" dirty="0">
              <a:latin typeface="Times New Roman" panose="02020603050405020304" pitchFamily="18" charset="0"/>
              <a:cs typeface="Times New Roman" panose="02020603050405020304" pitchFamily="18" charset="0"/>
            </a:endParaRPr>
          </a:p>
        </p:txBody>
      </p:sp>
      <p:sp>
        <p:nvSpPr>
          <p:cNvPr id="37" name="SK-7-text-36"/>
          <p:cNvSpPr/>
          <p:nvPr/>
        </p:nvSpPr>
        <p:spPr>
          <a:xfrm>
            <a:off x="5827663" y="1405830"/>
            <a:ext cx="6364337" cy="198834"/>
          </a:xfrm>
          <a:prstGeom prst="rect">
            <a:avLst/>
          </a:prstGeom>
          <a:noFill/>
          <a:ln/>
        </p:spPr>
        <p:txBody>
          <a:bodyPr vert="horz" wrap="none" lIns="0" tIns="0" rIns="0" bIns="0" rtlCol="0" anchor="ctr"/>
          <a:lstStyle/>
          <a:p>
            <a:pPr marL="0" indent="0" algn="l">
              <a:buNone/>
            </a:pPr>
            <a:r>
              <a:rPr lang="en-US" sz="1200" b="1" dirty="0">
                <a:solidFill>
                  <a:srgbClr val="007A78"/>
                </a:solidFill>
                <a:latin typeface="Times New Roman" panose="02020603050405020304" pitchFamily="18" charset="0"/>
                <a:ea typeface="Inter" pitchFamily="34" charset="-122"/>
                <a:cs typeface="Times New Roman" panose="02020603050405020304" pitchFamily="18" charset="0"/>
              </a:rPr>
              <a:t>Sensibilitate la Dimensiunea Memoriei N</a:t>
            </a:r>
            <a:endParaRPr lang="en-US" sz="1200" dirty="0">
              <a:latin typeface="Times New Roman" panose="02020603050405020304" pitchFamily="18" charset="0"/>
              <a:cs typeface="Times New Roman" panose="02020603050405020304" pitchFamily="18" charset="0"/>
            </a:endParaRPr>
          </a:p>
        </p:txBody>
      </p:sp>
      <p:sp>
        <p:nvSpPr>
          <p:cNvPr id="38" name="SK-7-text-37"/>
          <p:cNvSpPr/>
          <p:nvPr/>
        </p:nvSpPr>
        <p:spPr>
          <a:xfrm>
            <a:off x="6010573" y="5582394"/>
            <a:ext cx="295573" cy="164455"/>
          </a:xfrm>
          <a:prstGeom prst="rect">
            <a:avLst/>
          </a:prstGeom>
          <a:noFill/>
          <a:ln/>
        </p:spPr>
        <p:txBody>
          <a:bodyPr vert="horz" wrap="none" lIns="0" tIns="0" rIns="0" bIns="0" rtlCol="0" anchor="ctr"/>
          <a:lstStyle/>
          <a:p>
            <a:pPr marL="0" indent="0" algn="l">
              <a:buNone/>
            </a:pPr>
            <a:r>
              <a:rPr lang="en-US" sz="1200" b="1" dirty="0">
                <a:solidFill>
                  <a:srgbClr val="FFFFFF"/>
                </a:solidFill>
                <a:latin typeface="Times New Roman" panose="02020603050405020304" pitchFamily="18" charset="0"/>
                <a:ea typeface="Inter" pitchFamily="34" charset="-122"/>
                <a:cs typeface="Times New Roman" panose="02020603050405020304" pitchFamily="18" charset="0"/>
              </a:rPr>
              <a:t>λ</a:t>
            </a:r>
            <a:endParaRPr lang="en-US" sz="1200" dirty="0">
              <a:latin typeface="Times New Roman" panose="02020603050405020304" pitchFamily="18" charset="0"/>
              <a:cs typeface="Times New Roman" panose="02020603050405020304" pitchFamily="18" charset="0"/>
            </a:endParaRPr>
          </a:p>
        </p:txBody>
      </p:sp>
      <p:sp>
        <p:nvSpPr>
          <p:cNvPr id="39" name="SK-7-text-38"/>
          <p:cNvSpPr/>
          <p:nvPr/>
        </p:nvSpPr>
        <p:spPr>
          <a:xfrm>
            <a:off x="6449467" y="5486400"/>
            <a:ext cx="3219450" cy="191988"/>
          </a:xfrm>
          <a:prstGeom prst="rect">
            <a:avLst/>
          </a:prstGeom>
          <a:noFill/>
          <a:ln/>
        </p:spPr>
        <p:txBody>
          <a:bodyPr vert="horz" wrap="none" lIns="0" tIns="0" rIns="0" bIns="0" rtlCol="0" anchor="ctr"/>
          <a:lstStyle/>
          <a:p>
            <a:pPr marL="0" indent="0" algn="l">
              <a:buNone/>
            </a:pPr>
            <a:r>
              <a:rPr lang="en-US" sz="1125" b="1" dirty="0">
                <a:solidFill>
                  <a:srgbClr val="002B5B"/>
                </a:solidFill>
                <a:latin typeface="Times New Roman" panose="02020603050405020304" pitchFamily="18" charset="0"/>
                <a:ea typeface="Inter" pitchFamily="34" charset="-122"/>
                <a:cs typeface="Times New Roman" panose="02020603050405020304" pitchFamily="18" charset="0"/>
              </a:rPr>
              <a:t>Optim: [1/N, 3/N]</a:t>
            </a:r>
            <a:endParaRPr lang="en-US" sz="1125" dirty="0">
              <a:latin typeface="Times New Roman" panose="02020603050405020304" pitchFamily="18" charset="0"/>
              <a:cs typeface="Times New Roman" panose="02020603050405020304" pitchFamily="18" charset="0"/>
            </a:endParaRPr>
          </a:p>
        </p:txBody>
      </p:sp>
      <p:sp>
        <p:nvSpPr>
          <p:cNvPr id="40" name="SK-7-text-39"/>
          <p:cNvSpPr/>
          <p:nvPr/>
        </p:nvSpPr>
        <p:spPr>
          <a:xfrm>
            <a:off x="6461671" y="5746998"/>
            <a:ext cx="3764280" cy="143917"/>
          </a:xfrm>
          <a:prstGeom prst="rect">
            <a:avLst/>
          </a:prstGeom>
          <a:noFill/>
          <a:ln/>
        </p:spPr>
        <p:txBody>
          <a:bodyPr vert="horz" wrap="none" lIns="0" tIns="0" rIns="0" bIns="0" rtlCol="0" anchor="ctr"/>
          <a:lstStyle/>
          <a:p>
            <a:pPr marL="0" indent="0" algn="l">
              <a:buNone/>
            </a:pPr>
            <a:r>
              <a:rPr lang="en-US" sz="825" dirty="0">
                <a:solidFill>
                  <a:srgbClr val="888888"/>
                </a:solidFill>
                <a:latin typeface="Times New Roman" panose="02020603050405020304" pitchFamily="18" charset="0"/>
                <a:ea typeface="Inter" pitchFamily="34" charset="-122"/>
                <a:cs typeface="Times New Roman" panose="02020603050405020304" pitchFamily="18" charset="0"/>
              </a:rPr>
              <a:t>λ=0.001 recomandat pe Ped2</a:t>
            </a:r>
            <a:endParaRPr lang="en-US" sz="825" dirty="0">
              <a:latin typeface="Times New Roman" panose="02020603050405020304" pitchFamily="18" charset="0"/>
              <a:cs typeface="Times New Roman" panose="02020603050405020304" pitchFamily="18" charset="0"/>
            </a:endParaRPr>
          </a:p>
        </p:txBody>
      </p:sp>
      <p:sp>
        <p:nvSpPr>
          <p:cNvPr id="41" name="SK-7-text-40"/>
          <p:cNvSpPr/>
          <p:nvPr/>
        </p:nvSpPr>
        <p:spPr>
          <a:xfrm>
            <a:off x="8119765" y="5616625"/>
            <a:ext cx="271165" cy="137071"/>
          </a:xfrm>
          <a:prstGeom prst="rect">
            <a:avLst/>
          </a:prstGeom>
          <a:noFill/>
          <a:ln/>
        </p:spPr>
        <p:txBody>
          <a:bodyPr vert="horz" wrap="none" lIns="0" tIns="0" rIns="0" bIns="0" rtlCol="0" anchor="ctr"/>
          <a:lstStyle/>
          <a:p>
            <a:pPr marL="0" indent="0" algn="l">
              <a:buNone/>
            </a:pPr>
            <a:r>
              <a:rPr lang="en-US" sz="1200" b="1" dirty="0">
                <a:solidFill>
                  <a:srgbClr val="FFFFFF"/>
                </a:solidFill>
                <a:latin typeface="Times New Roman" panose="02020603050405020304" pitchFamily="18" charset="0"/>
                <a:ea typeface="Inter" pitchFamily="34" charset="-122"/>
                <a:cs typeface="Times New Roman" panose="02020603050405020304" pitchFamily="18" charset="0"/>
              </a:rPr>
              <a:t>α</a:t>
            </a:r>
            <a:endParaRPr lang="en-US" sz="1200" dirty="0">
              <a:latin typeface="Times New Roman" panose="02020603050405020304" pitchFamily="18" charset="0"/>
              <a:cs typeface="Times New Roman" panose="02020603050405020304" pitchFamily="18" charset="0"/>
            </a:endParaRPr>
          </a:p>
        </p:txBody>
      </p:sp>
      <p:sp>
        <p:nvSpPr>
          <p:cNvPr id="42" name="SK-7-text-41"/>
          <p:cNvSpPr/>
          <p:nvPr/>
        </p:nvSpPr>
        <p:spPr>
          <a:xfrm>
            <a:off x="8522196" y="5486400"/>
            <a:ext cx="2876550" cy="191988"/>
          </a:xfrm>
          <a:prstGeom prst="rect">
            <a:avLst/>
          </a:prstGeom>
          <a:noFill/>
          <a:ln/>
        </p:spPr>
        <p:txBody>
          <a:bodyPr vert="horz" wrap="none" lIns="0" tIns="0" rIns="0" bIns="0" rtlCol="0" anchor="ctr"/>
          <a:lstStyle/>
          <a:p>
            <a:pPr marL="0" indent="0" algn="l">
              <a:buNone/>
            </a:pPr>
            <a:r>
              <a:rPr lang="en-US" sz="1125" b="1" dirty="0">
                <a:solidFill>
                  <a:srgbClr val="002B5B"/>
                </a:solidFill>
                <a:latin typeface="Times New Roman" panose="02020603050405020304" pitchFamily="18" charset="0"/>
                <a:ea typeface="Inter" pitchFamily="34" charset="-122"/>
                <a:cs typeface="Times New Roman" panose="02020603050405020304" pitchFamily="18" charset="0"/>
              </a:rPr>
              <a:t>Optim: 0.0002</a:t>
            </a:r>
            <a:endParaRPr lang="en-US" sz="1125" dirty="0">
              <a:latin typeface="Times New Roman" panose="02020603050405020304" pitchFamily="18" charset="0"/>
              <a:cs typeface="Times New Roman" panose="02020603050405020304" pitchFamily="18" charset="0"/>
            </a:endParaRPr>
          </a:p>
        </p:txBody>
      </p:sp>
      <p:sp>
        <p:nvSpPr>
          <p:cNvPr id="43" name="SK-7-text-42"/>
          <p:cNvSpPr/>
          <p:nvPr/>
        </p:nvSpPr>
        <p:spPr>
          <a:xfrm>
            <a:off x="8522196" y="5746998"/>
            <a:ext cx="3093720" cy="143917"/>
          </a:xfrm>
          <a:prstGeom prst="rect">
            <a:avLst/>
          </a:prstGeom>
          <a:noFill/>
          <a:ln/>
        </p:spPr>
        <p:txBody>
          <a:bodyPr vert="horz" wrap="none" lIns="0" tIns="0" rIns="0" bIns="0" rtlCol="0" anchor="ctr"/>
          <a:lstStyle/>
          <a:p>
            <a:pPr marL="0" indent="0" algn="l">
              <a:buNone/>
            </a:pPr>
            <a:r>
              <a:rPr lang="en-US" sz="825" dirty="0">
                <a:solidFill>
                  <a:srgbClr val="888888"/>
                </a:solidFill>
                <a:latin typeface="Times New Roman" panose="02020603050405020304" pitchFamily="18" charset="0"/>
                <a:ea typeface="Inter" pitchFamily="34" charset="-122"/>
                <a:cs typeface="Times New Roman" panose="02020603050405020304" pitchFamily="18" charset="0"/>
              </a:rPr>
              <a:t>Stabil pe toate seturile</a:t>
            </a:r>
            <a:endParaRPr lang="en-US" sz="825" dirty="0">
              <a:latin typeface="Times New Roman" panose="02020603050405020304" pitchFamily="18" charset="0"/>
              <a:cs typeface="Times New Roman" panose="02020603050405020304" pitchFamily="18" charset="0"/>
            </a:endParaRPr>
          </a:p>
        </p:txBody>
      </p:sp>
      <p:sp>
        <p:nvSpPr>
          <p:cNvPr id="44" name="SK-7-text-43"/>
          <p:cNvSpPr/>
          <p:nvPr/>
        </p:nvSpPr>
        <p:spPr>
          <a:xfrm>
            <a:off x="10168086" y="5609779"/>
            <a:ext cx="441960" cy="137071"/>
          </a:xfrm>
          <a:prstGeom prst="rect">
            <a:avLst/>
          </a:prstGeom>
          <a:noFill/>
          <a:ln/>
        </p:spPr>
        <p:txBody>
          <a:bodyPr vert="horz" wrap="none" lIns="0" tIns="0" rIns="0" bIns="0" rtlCol="0" anchor="ctr"/>
          <a:lstStyle/>
          <a:p>
            <a:pPr marL="0" indent="0" algn="l">
              <a:buNone/>
            </a:pPr>
            <a:r>
              <a:rPr lang="en-US" sz="1200" b="1" dirty="0">
                <a:solidFill>
                  <a:srgbClr val="FFFFFF"/>
                </a:solidFill>
                <a:latin typeface="Times New Roman" panose="02020603050405020304" pitchFamily="18" charset="0"/>
                <a:ea typeface="Inter" pitchFamily="34" charset="-122"/>
                <a:cs typeface="Times New Roman" panose="02020603050405020304" pitchFamily="18" charset="0"/>
              </a:rPr>
              <a:t>lr</a:t>
            </a:r>
            <a:endParaRPr lang="en-US" sz="1200" dirty="0">
              <a:latin typeface="Times New Roman" panose="02020603050405020304" pitchFamily="18" charset="0"/>
              <a:cs typeface="Times New Roman" panose="02020603050405020304" pitchFamily="18" charset="0"/>
            </a:endParaRPr>
          </a:p>
        </p:txBody>
      </p:sp>
      <p:sp>
        <p:nvSpPr>
          <p:cNvPr id="47" name="SK-7-text-46"/>
          <p:cNvSpPr/>
          <p:nvPr/>
        </p:nvSpPr>
        <p:spPr>
          <a:xfrm>
            <a:off x="2523679" y="6542484"/>
            <a:ext cx="9668321" cy="178296"/>
          </a:xfrm>
          <a:prstGeom prst="rect">
            <a:avLst/>
          </a:prstGeom>
          <a:noFill/>
          <a:ln/>
        </p:spPr>
        <p:txBody>
          <a:bodyPr vert="horz" wrap="none" lIns="0" tIns="0" rIns="0" bIns="0" rtlCol="0" anchor="ctr"/>
          <a:lstStyle/>
          <a:p>
            <a:pPr marL="0" indent="0" algn="l">
              <a:buNone/>
            </a:pPr>
            <a:r>
              <a:rPr lang="en-US" sz="1050" dirty="0">
                <a:solidFill>
                  <a:srgbClr val="888888"/>
                </a:solidFill>
                <a:latin typeface="Times New Roman" panose="02020603050405020304" pitchFamily="18" charset="0"/>
                <a:ea typeface="Inter" pitchFamily="34" charset="-122"/>
                <a:cs typeface="Times New Roman" panose="02020603050405020304" pitchFamily="18" charset="0"/>
              </a:rPr>
              <a:t>Modelul este robust la N dacă N este suficient de mare · Hard Shrinkage + Entropy Loss se completează reciproc</a:t>
            </a:r>
            <a:endParaRPr lang="en-US" sz="1050" dirty="0">
              <a:latin typeface="Times New Roman" panose="02020603050405020304" pitchFamily="18" charset="0"/>
              <a:cs typeface="Times New Roman" panose="02020603050405020304" pitchFamily="18" charset="0"/>
            </a:endParaRPr>
          </a:p>
        </p:txBody>
      </p:sp>
      <p:pic>
        <p:nvPicPr>
          <p:cNvPr id="48" name="SK-4-img-2" descr="preencoded.png">
            <a:extLst>
              <a:ext uri="{FF2B5EF4-FFF2-40B4-BE49-F238E27FC236}">
                <a16:creationId xmlns:a16="http://schemas.microsoft.com/office/drawing/2014/main" id="{C8A20A40-C998-45AE-85C9-77D17BA5FB53}"/>
              </a:ext>
            </a:extLst>
          </p:cNvPr>
          <p:cNvPicPr>
            <a:picLocks noChangeAspect="1"/>
          </p:cNvPicPr>
          <p:nvPr/>
        </p:nvPicPr>
        <p:blipFill>
          <a:blip r:embed="rId22"/>
          <a:stretch>
            <a:fillRect/>
          </a:stretch>
        </p:blipFill>
        <p:spPr>
          <a:xfrm>
            <a:off x="0" y="0"/>
            <a:ext cx="146298" cy="6858000"/>
          </a:xfrm>
          <a:prstGeom prst="rect">
            <a:avLst/>
          </a:prstGeom>
        </p:spPr>
      </p:pic>
      <p:pic>
        <p:nvPicPr>
          <p:cNvPr id="49" name="SK-2-img-4" descr="preencoded.png">
            <a:extLst>
              <a:ext uri="{FF2B5EF4-FFF2-40B4-BE49-F238E27FC236}">
                <a16:creationId xmlns:a16="http://schemas.microsoft.com/office/drawing/2014/main" id="{E37DB018-34F0-4CF6-895B-BB9F34694696}"/>
              </a:ext>
            </a:extLst>
          </p:cNvPr>
          <p:cNvPicPr>
            <a:picLocks noChangeAspect="1"/>
          </p:cNvPicPr>
          <p:nvPr/>
        </p:nvPicPr>
        <p:blipFill>
          <a:blip r:embed="rId23"/>
          <a:stretch>
            <a:fillRect/>
          </a:stretch>
        </p:blipFill>
        <p:spPr>
          <a:xfrm>
            <a:off x="353467" y="1131317"/>
            <a:ext cx="792361" cy="959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K-8-img-1" descr="preencoded.png"/>
          <p:cNvPicPr>
            <a:picLocks noChangeAspect="1"/>
          </p:cNvPicPr>
          <p:nvPr/>
        </p:nvPicPr>
        <p:blipFill>
          <a:blip r:embed="rId3"/>
          <a:stretch>
            <a:fillRect/>
          </a:stretch>
        </p:blipFill>
        <p:spPr>
          <a:xfrm>
            <a:off x="0" y="0"/>
            <a:ext cx="12192000" cy="6858000"/>
          </a:xfrm>
          <a:prstGeom prst="rect">
            <a:avLst/>
          </a:prstGeom>
        </p:spPr>
      </p:pic>
      <p:pic>
        <p:nvPicPr>
          <p:cNvPr id="5" name="SK-8-img-4" descr="preencoded.png"/>
          <p:cNvPicPr>
            <a:picLocks noChangeAspect="1"/>
          </p:cNvPicPr>
          <p:nvPr/>
        </p:nvPicPr>
        <p:blipFill>
          <a:blip r:embed="rId4"/>
          <a:stretch>
            <a:fillRect/>
          </a:stretch>
        </p:blipFill>
        <p:spPr>
          <a:xfrm>
            <a:off x="609600" y="1261765"/>
            <a:ext cx="5071765" cy="5047357"/>
          </a:xfrm>
          <a:prstGeom prst="rect">
            <a:avLst/>
          </a:prstGeom>
        </p:spPr>
      </p:pic>
      <p:pic>
        <p:nvPicPr>
          <p:cNvPr id="6" name="SK-8-img-5" descr="preencoded.png"/>
          <p:cNvPicPr>
            <a:picLocks noChangeAspect="1"/>
          </p:cNvPicPr>
          <p:nvPr/>
        </p:nvPicPr>
        <p:blipFill>
          <a:blip r:embed="rId5"/>
          <a:stretch>
            <a:fillRect/>
          </a:stretch>
        </p:blipFill>
        <p:spPr>
          <a:xfrm>
            <a:off x="1889671" y="1752898"/>
            <a:ext cx="1414165" cy="19050"/>
          </a:xfrm>
          <a:prstGeom prst="rect">
            <a:avLst/>
          </a:prstGeom>
        </p:spPr>
      </p:pic>
      <p:pic>
        <p:nvPicPr>
          <p:cNvPr id="7" name="SK-8-img-6" descr="preencoded.png"/>
          <p:cNvPicPr>
            <a:picLocks noChangeAspect="1"/>
          </p:cNvPicPr>
          <p:nvPr/>
        </p:nvPicPr>
        <p:blipFill>
          <a:blip r:embed="rId6"/>
          <a:stretch>
            <a:fillRect/>
          </a:stretch>
        </p:blipFill>
        <p:spPr>
          <a:xfrm>
            <a:off x="926455" y="2023021"/>
            <a:ext cx="4437757" cy="637729"/>
          </a:xfrm>
          <a:prstGeom prst="rect">
            <a:avLst/>
          </a:prstGeom>
        </p:spPr>
      </p:pic>
      <p:pic>
        <p:nvPicPr>
          <p:cNvPr id="8" name="SK-8-img-7" descr="preencoded.png"/>
          <p:cNvPicPr>
            <a:picLocks noChangeAspect="1"/>
          </p:cNvPicPr>
          <p:nvPr/>
        </p:nvPicPr>
        <p:blipFill>
          <a:blip r:embed="rId7"/>
          <a:stretch>
            <a:fillRect/>
          </a:stretch>
        </p:blipFill>
        <p:spPr>
          <a:xfrm>
            <a:off x="926455" y="2729359"/>
            <a:ext cx="4437757" cy="637729"/>
          </a:xfrm>
          <a:prstGeom prst="rect">
            <a:avLst/>
          </a:prstGeom>
        </p:spPr>
      </p:pic>
      <p:pic>
        <p:nvPicPr>
          <p:cNvPr id="9" name="SK-8-img-8" descr="preencoded.png"/>
          <p:cNvPicPr>
            <a:picLocks noChangeAspect="1"/>
          </p:cNvPicPr>
          <p:nvPr/>
        </p:nvPicPr>
        <p:blipFill>
          <a:blip r:embed="rId7"/>
          <a:stretch>
            <a:fillRect/>
          </a:stretch>
        </p:blipFill>
        <p:spPr>
          <a:xfrm>
            <a:off x="926455" y="3435846"/>
            <a:ext cx="4437757" cy="637729"/>
          </a:xfrm>
          <a:prstGeom prst="rect">
            <a:avLst/>
          </a:prstGeom>
        </p:spPr>
      </p:pic>
      <p:pic>
        <p:nvPicPr>
          <p:cNvPr id="10" name="SK-8-img-9" descr="preencoded.png"/>
          <p:cNvPicPr>
            <a:picLocks noChangeAspect="1"/>
          </p:cNvPicPr>
          <p:nvPr/>
        </p:nvPicPr>
        <p:blipFill>
          <a:blip r:embed="rId8"/>
          <a:stretch>
            <a:fillRect/>
          </a:stretch>
        </p:blipFill>
        <p:spPr>
          <a:xfrm>
            <a:off x="926455" y="4142184"/>
            <a:ext cx="4437757" cy="637729"/>
          </a:xfrm>
          <a:prstGeom prst="rect">
            <a:avLst/>
          </a:prstGeom>
        </p:spPr>
      </p:pic>
      <p:pic>
        <p:nvPicPr>
          <p:cNvPr id="11" name="SK-8-img-10" descr="preencoded.png"/>
          <p:cNvPicPr>
            <a:picLocks noChangeAspect="1"/>
          </p:cNvPicPr>
          <p:nvPr/>
        </p:nvPicPr>
        <p:blipFill>
          <a:blip r:embed="rId8"/>
          <a:stretch>
            <a:fillRect/>
          </a:stretch>
        </p:blipFill>
        <p:spPr>
          <a:xfrm>
            <a:off x="926455" y="4848523"/>
            <a:ext cx="4437757" cy="637729"/>
          </a:xfrm>
          <a:prstGeom prst="rect">
            <a:avLst/>
          </a:prstGeom>
        </p:spPr>
      </p:pic>
      <p:pic>
        <p:nvPicPr>
          <p:cNvPr id="12" name="SK-8-img-11" descr="preencoded.png"/>
          <p:cNvPicPr>
            <a:picLocks noChangeAspect="1"/>
          </p:cNvPicPr>
          <p:nvPr/>
        </p:nvPicPr>
        <p:blipFill>
          <a:blip r:embed="rId8"/>
          <a:stretch>
            <a:fillRect/>
          </a:stretch>
        </p:blipFill>
        <p:spPr>
          <a:xfrm>
            <a:off x="926455" y="5554861"/>
            <a:ext cx="4437757" cy="637729"/>
          </a:xfrm>
          <a:prstGeom prst="rect">
            <a:avLst/>
          </a:prstGeom>
        </p:spPr>
      </p:pic>
      <p:pic>
        <p:nvPicPr>
          <p:cNvPr id="13" name="SK-8-img-12" descr="preencoded.png"/>
          <p:cNvPicPr>
            <a:picLocks noChangeAspect="1"/>
          </p:cNvPicPr>
          <p:nvPr/>
        </p:nvPicPr>
        <p:blipFill>
          <a:blip r:embed="rId9"/>
          <a:stretch>
            <a:fillRect/>
          </a:stretch>
        </p:blipFill>
        <p:spPr>
          <a:xfrm>
            <a:off x="6030218" y="1261765"/>
            <a:ext cx="9525" cy="4978896"/>
          </a:xfrm>
          <a:prstGeom prst="rect">
            <a:avLst/>
          </a:prstGeom>
        </p:spPr>
      </p:pic>
      <p:pic>
        <p:nvPicPr>
          <p:cNvPr id="14" name="SK-8-img-13" descr="preencoded.png"/>
          <p:cNvPicPr>
            <a:picLocks noChangeAspect="1"/>
          </p:cNvPicPr>
          <p:nvPr/>
        </p:nvPicPr>
        <p:blipFill>
          <a:blip r:embed="rId10"/>
          <a:stretch>
            <a:fillRect/>
          </a:stretch>
        </p:blipFill>
        <p:spPr>
          <a:xfrm>
            <a:off x="6388596" y="1261765"/>
            <a:ext cx="5071765" cy="5047357"/>
          </a:xfrm>
          <a:prstGeom prst="rect">
            <a:avLst/>
          </a:prstGeom>
        </p:spPr>
      </p:pic>
      <p:pic>
        <p:nvPicPr>
          <p:cNvPr id="15" name="SK-8-img-14" descr="preencoded.png"/>
          <p:cNvPicPr>
            <a:picLocks noChangeAspect="1"/>
          </p:cNvPicPr>
          <p:nvPr/>
        </p:nvPicPr>
        <p:blipFill>
          <a:blip r:embed="rId11"/>
          <a:stretch>
            <a:fillRect/>
          </a:stretch>
        </p:blipFill>
        <p:spPr>
          <a:xfrm>
            <a:off x="7668667" y="1752898"/>
            <a:ext cx="1414165" cy="19050"/>
          </a:xfrm>
          <a:prstGeom prst="rect">
            <a:avLst/>
          </a:prstGeom>
        </p:spPr>
      </p:pic>
      <p:pic>
        <p:nvPicPr>
          <p:cNvPr id="16" name="SK-8-img-15" descr="preencoded.png"/>
          <p:cNvPicPr>
            <a:picLocks noChangeAspect="1"/>
          </p:cNvPicPr>
          <p:nvPr/>
        </p:nvPicPr>
        <p:blipFill>
          <a:blip r:embed="rId12"/>
          <a:stretch>
            <a:fillRect/>
          </a:stretch>
        </p:blipFill>
        <p:spPr>
          <a:xfrm>
            <a:off x="6705600" y="2023021"/>
            <a:ext cx="4437757" cy="637729"/>
          </a:xfrm>
          <a:prstGeom prst="rect">
            <a:avLst/>
          </a:prstGeom>
        </p:spPr>
      </p:pic>
      <p:pic>
        <p:nvPicPr>
          <p:cNvPr id="17" name="SK-8-img-16" descr="preencoded.png"/>
          <p:cNvPicPr>
            <a:picLocks noChangeAspect="1"/>
          </p:cNvPicPr>
          <p:nvPr/>
        </p:nvPicPr>
        <p:blipFill>
          <a:blip r:embed="rId13"/>
          <a:stretch>
            <a:fillRect/>
          </a:stretch>
        </p:blipFill>
        <p:spPr>
          <a:xfrm>
            <a:off x="6705600" y="2729359"/>
            <a:ext cx="4437757" cy="637729"/>
          </a:xfrm>
          <a:prstGeom prst="rect">
            <a:avLst/>
          </a:prstGeom>
        </p:spPr>
      </p:pic>
      <p:pic>
        <p:nvPicPr>
          <p:cNvPr id="18" name="SK-8-img-17" descr="preencoded.png"/>
          <p:cNvPicPr>
            <a:picLocks noChangeAspect="1"/>
          </p:cNvPicPr>
          <p:nvPr/>
        </p:nvPicPr>
        <p:blipFill>
          <a:blip r:embed="rId13"/>
          <a:stretch>
            <a:fillRect/>
          </a:stretch>
        </p:blipFill>
        <p:spPr>
          <a:xfrm>
            <a:off x="6705600" y="3435846"/>
            <a:ext cx="4437757" cy="637729"/>
          </a:xfrm>
          <a:prstGeom prst="rect">
            <a:avLst/>
          </a:prstGeom>
        </p:spPr>
      </p:pic>
      <p:pic>
        <p:nvPicPr>
          <p:cNvPr id="19" name="SK-8-img-18" descr="preencoded.png"/>
          <p:cNvPicPr>
            <a:picLocks noChangeAspect="1"/>
          </p:cNvPicPr>
          <p:nvPr/>
        </p:nvPicPr>
        <p:blipFill>
          <a:blip r:embed="rId14"/>
          <a:stretch>
            <a:fillRect/>
          </a:stretch>
        </p:blipFill>
        <p:spPr>
          <a:xfrm>
            <a:off x="6705600" y="4142184"/>
            <a:ext cx="4437757" cy="637729"/>
          </a:xfrm>
          <a:prstGeom prst="rect">
            <a:avLst/>
          </a:prstGeom>
        </p:spPr>
      </p:pic>
      <p:pic>
        <p:nvPicPr>
          <p:cNvPr id="20" name="SK-8-img-19" descr="preencoded.png"/>
          <p:cNvPicPr>
            <a:picLocks noChangeAspect="1"/>
          </p:cNvPicPr>
          <p:nvPr/>
        </p:nvPicPr>
        <p:blipFill>
          <a:blip r:embed="rId14"/>
          <a:stretch>
            <a:fillRect/>
          </a:stretch>
        </p:blipFill>
        <p:spPr>
          <a:xfrm>
            <a:off x="6705600" y="4848523"/>
            <a:ext cx="4437757" cy="637729"/>
          </a:xfrm>
          <a:prstGeom prst="rect">
            <a:avLst/>
          </a:prstGeom>
        </p:spPr>
      </p:pic>
      <p:pic>
        <p:nvPicPr>
          <p:cNvPr id="21" name="SK-8-img-20" descr="preencoded.png"/>
          <p:cNvPicPr>
            <a:picLocks noChangeAspect="1"/>
          </p:cNvPicPr>
          <p:nvPr/>
        </p:nvPicPr>
        <p:blipFill>
          <a:blip r:embed="rId14"/>
          <a:stretch>
            <a:fillRect/>
          </a:stretch>
        </p:blipFill>
        <p:spPr>
          <a:xfrm>
            <a:off x="6705600" y="5554861"/>
            <a:ext cx="4437757" cy="637729"/>
          </a:xfrm>
          <a:prstGeom prst="rect">
            <a:avLst/>
          </a:prstGeom>
        </p:spPr>
      </p:pic>
      <p:pic>
        <p:nvPicPr>
          <p:cNvPr id="22" name="SK-8-img-21" descr="preencoded.png"/>
          <p:cNvPicPr>
            <a:picLocks noChangeAspect="1"/>
          </p:cNvPicPr>
          <p:nvPr/>
        </p:nvPicPr>
        <p:blipFill>
          <a:blip r:embed="rId15"/>
          <a:stretch>
            <a:fillRect/>
          </a:stretch>
        </p:blipFill>
        <p:spPr>
          <a:xfrm>
            <a:off x="341263" y="6450657"/>
            <a:ext cx="11850588" cy="19050"/>
          </a:xfrm>
          <a:prstGeom prst="rect">
            <a:avLst/>
          </a:prstGeom>
        </p:spPr>
      </p:pic>
      <p:pic>
        <p:nvPicPr>
          <p:cNvPr id="23" name="SK-8-img-22" descr="preencoded.png"/>
          <p:cNvPicPr>
            <a:picLocks noChangeAspect="1"/>
          </p:cNvPicPr>
          <p:nvPr/>
        </p:nvPicPr>
        <p:blipFill>
          <a:blip r:embed="rId16"/>
          <a:stretch>
            <a:fillRect/>
          </a:stretch>
        </p:blipFill>
        <p:spPr>
          <a:xfrm>
            <a:off x="10424071" y="0"/>
            <a:ext cx="1767780" cy="1028700"/>
          </a:xfrm>
          <a:prstGeom prst="rect">
            <a:avLst/>
          </a:prstGeom>
        </p:spPr>
      </p:pic>
      <p:pic>
        <p:nvPicPr>
          <p:cNvPr id="24" name="SK-8-img-23" descr="preencoded.png"/>
          <p:cNvPicPr>
            <a:picLocks noChangeAspect="1"/>
          </p:cNvPicPr>
          <p:nvPr/>
        </p:nvPicPr>
        <p:blipFill>
          <a:blip r:embed="rId17"/>
          <a:stretch>
            <a:fillRect/>
          </a:stretch>
        </p:blipFill>
        <p:spPr>
          <a:xfrm>
            <a:off x="11460361" y="5692080"/>
            <a:ext cx="731490" cy="767953"/>
          </a:xfrm>
          <a:prstGeom prst="rect">
            <a:avLst/>
          </a:prstGeom>
        </p:spPr>
      </p:pic>
      <p:pic>
        <p:nvPicPr>
          <p:cNvPr id="25" name="SK-8-img-24" descr="preencoded.png"/>
          <p:cNvPicPr>
            <a:picLocks noChangeAspect="1"/>
          </p:cNvPicPr>
          <p:nvPr/>
        </p:nvPicPr>
        <p:blipFill>
          <a:blip r:embed="rId18"/>
          <a:stretch>
            <a:fillRect/>
          </a:stretch>
        </p:blipFill>
        <p:spPr>
          <a:xfrm>
            <a:off x="6815286" y="5678388"/>
            <a:ext cx="255984" cy="260598"/>
          </a:xfrm>
          <a:prstGeom prst="rect">
            <a:avLst/>
          </a:prstGeom>
        </p:spPr>
      </p:pic>
      <p:pic>
        <p:nvPicPr>
          <p:cNvPr id="26" name="SK-8-img-25" descr="preencoded.png"/>
          <p:cNvPicPr>
            <a:picLocks noChangeAspect="1"/>
          </p:cNvPicPr>
          <p:nvPr/>
        </p:nvPicPr>
        <p:blipFill>
          <a:blip r:embed="rId19"/>
          <a:stretch>
            <a:fillRect/>
          </a:stretch>
        </p:blipFill>
        <p:spPr>
          <a:xfrm>
            <a:off x="6815286" y="4944517"/>
            <a:ext cx="255984" cy="274290"/>
          </a:xfrm>
          <a:prstGeom prst="rect">
            <a:avLst/>
          </a:prstGeom>
        </p:spPr>
      </p:pic>
      <p:pic>
        <p:nvPicPr>
          <p:cNvPr id="27" name="SK-8-img-26" descr="preencoded.png"/>
          <p:cNvPicPr>
            <a:picLocks noChangeAspect="1"/>
          </p:cNvPicPr>
          <p:nvPr/>
        </p:nvPicPr>
        <p:blipFill>
          <a:blip r:embed="rId20"/>
          <a:stretch>
            <a:fillRect/>
          </a:stretch>
        </p:blipFill>
        <p:spPr>
          <a:xfrm>
            <a:off x="6815286" y="4224486"/>
            <a:ext cx="255984" cy="274290"/>
          </a:xfrm>
          <a:prstGeom prst="rect">
            <a:avLst/>
          </a:prstGeom>
        </p:spPr>
      </p:pic>
      <p:pic>
        <p:nvPicPr>
          <p:cNvPr id="28" name="SK-8-img-27" descr="preencoded.png"/>
          <p:cNvPicPr>
            <a:picLocks noChangeAspect="1"/>
          </p:cNvPicPr>
          <p:nvPr/>
        </p:nvPicPr>
        <p:blipFill>
          <a:blip r:embed="rId21"/>
          <a:stretch>
            <a:fillRect/>
          </a:stretch>
        </p:blipFill>
        <p:spPr>
          <a:xfrm>
            <a:off x="6815286" y="3518148"/>
            <a:ext cx="255984" cy="267444"/>
          </a:xfrm>
          <a:prstGeom prst="rect">
            <a:avLst/>
          </a:prstGeom>
        </p:spPr>
      </p:pic>
      <p:pic>
        <p:nvPicPr>
          <p:cNvPr id="29" name="SK-8-img-28" descr="preencoded.png"/>
          <p:cNvPicPr>
            <a:picLocks noChangeAspect="1"/>
          </p:cNvPicPr>
          <p:nvPr/>
        </p:nvPicPr>
        <p:blipFill>
          <a:blip r:embed="rId22"/>
          <a:stretch>
            <a:fillRect/>
          </a:stretch>
        </p:blipFill>
        <p:spPr>
          <a:xfrm>
            <a:off x="6815286" y="2818507"/>
            <a:ext cx="255984" cy="253603"/>
          </a:xfrm>
          <a:prstGeom prst="rect">
            <a:avLst/>
          </a:prstGeom>
        </p:spPr>
      </p:pic>
      <p:pic>
        <p:nvPicPr>
          <p:cNvPr id="30" name="SK-8-img-29" descr="preencoded.png"/>
          <p:cNvPicPr>
            <a:picLocks noChangeAspect="1"/>
          </p:cNvPicPr>
          <p:nvPr/>
        </p:nvPicPr>
        <p:blipFill>
          <a:blip r:embed="rId23"/>
          <a:stretch>
            <a:fillRect/>
          </a:stretch>
        </p:blipFill>
        <p:spPr>
          <a:xfrm>
            <a:off x="6815286" y="2153394"/>
            <a:ext cx="255984" cy="226219"/>
          </a:xfrm>
          <a:prstGeom prst="rect">
            <a:avLst/>
          </a:prstGeom>
        </p:spPr>
      </p:pic>
      <p:pic>
        <p:nvPicPr>
          <p:cNvPr id="31" name="SK-8-img-30" descr="preencoded.png"/>
          <p:cNvPicPr>
            <a:picLocks noChangeAspect="1"/>
          </p:cNvPicPr>
          <p:nvPr/>
        </p:nvPicPr>
        <p:blipFill>
          <a:blip r:embed="rId24"/>
          <a:stretch>
            <a:fillRect/>
          </a:stretch>
        </p:blipFill>
        <p:spPr>
          <a:xfrm>
            <a:off x="6815286" y="1385292"/>
            <a:ext cx="304800" cy="274290"/>
          </a:xfrm>
          <a:prstGeom prst="rect">
            <a:avLst/>
          </a:prstGeom>
        </p:spPr>
      </p:pic>
      <p:pic>
        <p:nvPicPr>
          <p:cNvPr id="32" name="SK-8-img-31" descr="preencoded.png"/>
          <p:cNvPicPr>
            <a:picLocks noChangeAspect="1"/>
          </p:cNvPicPr>
          <p:nvPr/>
        </p:nvPicPr>
        <p:blipFill>
          <a:blip r:embed="rId25"/>
          <a:stretch>
            <a:fillRect/>
          </a:stretch>
        </p:blipFill>
        <p:spPr>
          <a:xfrm>
            <a:off x="5803255" y="3346698"/>
            <a:ext cx="426690" cy="397669"/>
          </a:xfrm>
          <a:prstGeom prst="rect">
            <a:avLst/>
          </a:prstGeom>
        </p:spPr>
      </p:pic>
      <p:pic>
        <p:nvPicPr>
          <p:cNvPr id="33" name="SK-8-img-32" descr="preencoded.png"/>
          <p:cNvPicPr>
            <a:picLocks noChangeAspect="1"/>
          </p:cNvPicPr>
          <p:nvPr/>
        </p:nvPicPr>
        <p:blipFill>
          <a:blip r:embed="rId26"/>
          <a:stretch>
            <a:fillRect/>
          </a:stretch>
        </p:blipFill>
        <p:spPr>
          <a:xfrm>
            <a:off x="1024086" y="5664696"/>
            <a:ext cx="255984" cy="274290"/>
          </a:xfrm>
          <a:prstGeom prst="rect">
            <a:avLst/>
          </a:prstGeom>
        </p:spPr>
      </p:pic>
      <p:pic>
        <p:nvPicPr>
          <p:cNvPr id="34" name="SK-8-img-33" descr="preencoded.png"/>
          <p:cNvPicPr>
            <a:picLocks noChangeAspect="1"/>
          </p:cNvPicPr>
          <p:nvPr/>
        </p:nvPicPr>
        <p:blipFill>
          <a:blip r:embed="rId27"/>
          <a:stretch>
            <a:fillRect/>
          </a:stretch>
        </p:blipFill>
        <p:spPr>
          <a:xfrm>
            <a:off x="1024086" y="4958209"/>
            <a:ext cx="255984" cy="267444"/>
          </a:xfrm>
          <a:prstGeom prst="rect">
            <a:avLst/>
          </a:prstGeom>
        </p:spPr>
      </p:pic>
      <p:pic>
        <p:nvPicPr>
          <p:cNvPr id="35" name="SK-8-img-34" descr="preencoded.png"/>
          <p:cNvPicPr>
            <a:picLocks noChangeAspect="1"/>
          </p:cNvPicPr>
          <p:nvPr/>
        </p:nvPicPr>
        <p:blipFill>
          <a:blip r:embed="rId28"/>
          <a:stretch>
            <a:fillRect/>
          </a:stretch>
        </p:blipFill>
        <p:spPr>
          <a:xfrm>
            <a:off x="1024086" y="4224486"/>
            <a:ext cx="255984" cy="274290"/>
          </a:xfrm>
          <a:prstGeom prst="rect">
            <a:avLst/>
          </a:prstGeom>
        </p:spPr>
      </p:pic>
      <p:pic>
        <p:nvPicPr>
          <p:cNvPr id="36" name="SK-8-img-35" descr="preencoded.png"/>
          <p:cNvPicPr>
            <a:picLocks noChangeAspect="1"/>
          </p:cNvPicPr>
          <p:nvPr/>
        </p:nvPicPr>
        <p:blipFill>
          <a:blip r:embed="rId29"/>
          <a:stretch>
            <a:fillRect/>
          </a:stretch>
        </p:blipFill>
        <p:spPr>
          <a:xfrm>
            <a:off x="1024086" y="3518148"/>
            <a:ext cx="255984" cy="267444"/>
          </a:xfrm>
          <a:prstGeom prst="rect">
            <a:avLst/>
          </a:prstGeom>
        </p:spPr>
      </p:pic>
      <p:pic>
        <p:nvPicPr>
          <p:cNvPr id="37" name="SK-8-img-36" descr="preencoded.png"/>
          <p:cNvPicPr>
            <a:picLocks noChangeAspect="1"/>
          </p:cNvPicPr>
          <p:nvPr/>
        </p:nvPicPr>
        <p:blipFill>
          <a:blip r:embed="rId30"/>
          <a:stretch>
            <a:fillRect/>
          </a:stretch>
        </p:blipFill>
        <p:spPr>
          <a:xfrm>
            <a:off x="1024086" y="2784277"/>
            <a:ext cx="255984" cy="287982"/>
          </a:xfrm>
          <a:prstGeom prst="rect">
            <a:avLst/>
          </a:prstGeom>
        </p:spPr>
      </p:pic>
      <p:pic>
        <p:nvPicPr>
          <p:cNvPr id="38" name="SK-8-img-37" descr="preencoded.png"/>
          <p:cNvPicPr>
            <a:picLocks noChangeAspect="1"/>
          </p:cNvPicPr>
          <p:nvPr/>
        </p:nvPicPr>
        <p:blipFill>
          <a:blip r:embed="rId31"/>
          <a:stretch>
            <a:fillRect/>
          </a:stretch>
        </p:blipFill>
        <p:spPr>
          <a:xfrm>
            <a:off x="1024086" y="2153394"/>
            <a:ext cx="268188" cy="226219"/>
          </a:xfrm>
          <a:prstGeom prst="rect">
            <a:avLst/>
          </a:prstGeom>
        </p:spPr>
      </p:pic>
      <p:pic>
        <p:nvPicPr>
          <p:cNvPr id="39" name="SK-8-img-38" descr="preencoded.png"/>
          <p:cNvPicPr>
            <a:picLocks noChangeAspect="1"/>
          </p:cNvPicPr>
          <p:nvPr/>
        </p:nvPicPr>
        <p:blipFill>
          <a:blip r:embed="rId32"/>
          <a:stretch>
            <a:fillRect/>
          </a:stretch>
        </p:blipFill>
        <p:spPr>
          <a:xfrm>
            <a:off x="1414165" y="1385292"/>
            <a:ext cx="304800" cy="281136"/>
          </a:xfrm>
          <a:prstGeom prst="rect">
            <a:avLst/>
          </a:prstGeom>
        </p:spPr>
      </p:pic>
      <p:sp>
        <p:nvSpPr>
          <p:cNvPr id="40" name="SK-8-text-39"/>
          <p:cNvSpPr/>
          <p:nvPr/>
        </p:nvSpPr>
        <p:spPr>
          <a:xfrm>
            <a:off x="597396" y="205680"/>
            <a:ext cx="6740843" cy="212527"/>
          </a:xfrm>
          <a:prstGeom prst="rect">
            <a:avLst/>
          </a:prstGeom>
          <a:noFill/>
          <a:ln/>
        </p:spPr>
        <p:txBody>
          <a:bodyPr vert="horz" wrap="none" lIns="0" tIns="0" rIns="0" bIns="0" rtlCol="0" anchor="ctr"/>
          <a:lstStyle/>
          <a:p>
            <a:pPr marL="0" indent="0" algn="l">
              <a:buNone/>
            </a:pP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09 / 11 • </a:t>
            </a:r>
            <a:r>
              <a:rPr lang="en-US" sz="1500" dirty="0" err="1">
                <a:solidFill>
                  <a:srgbClr val="666666"/>
                </a:solidFill>
                <a:latin typeface="Times New Roman" panose="02020603050405020304" pitchFamily="18" charset="0"/>
                <a:ea typeface="Roboto" pitchFamily="34" charset="-122"/>
                <a:cs typeface="Times New Roman" panose="02020603050405020304" pitchFamily="18" charset="0"/>
              </a:rPr>
              <a:t>Analiză</a:t>
            </a:r>
            <a:r>
              <a:rPr lang="en-US" sz="1500" dirty="0">
                <a:solidFill>
                  <a:srgbClr val="666666"/>
                </a:solidFill>
                <a:latin typeface="Times New Roman" panose="02020603050405020304" pitchFamily="18" charset="0"/>
                <a:ea typeface="Roboto" pitchFamily="34" charset="-122"/>
                <a:cs typeface="Times New Roman" panose="02020603050405020304" pitchFamily="18" charset="0"/>
              </a:rPr>
              <a:t> </a:t>
            </a:r>
            <a:r>
              <a:rPr lang="en-US" sz="1500" dirty="0" err="1">
                <a:solidFill>
                  <a:srgbClr val="666666"/>
                </a:solidFill>
                <a:latin typeface="Times New Roman" panose="02020603050405020304" pitchFamily="18" charset="0"/>
                <a:ea typeface="Roboto" pitchFamily="34" charset="-122"/>
                <a:cs typeface="Times New Roman" panose="02020603050405020304" pitchFamily="18" charset="0"/>
              </a:rPr>
              <a:t>critică</a:t>
            </a:r>
            <a:endParaRPr lang="en-US" sz="1500" dirty="0">
              <a:latin typeface="Times New Roman" panose="02020603050405020304" pitchFamily="18" charset="0"/>
              <a:cs typeface="Times New Roman" panose="02020603050405020304" pitchFamily="18" charset="0"/>
            </a:endParaRPr>
          </a:p>
        </p:txBody>
      </p:sp>
      <p:sp>
        <p:nvSpPr>
          <p:cNvPr id="41" name="SK-8-text-40"/>
          <p:cNvSpPr/>
          <p:nvPr/>
        </p:nvSpPr>
        <p:spPr>
          <a:xfrm>
            <a:off x="572988" y="500509"/>
            <a:ext cx="11619012" cy="473125"/>
          </a:xfrm>
          <a:prstGeom prst="rect">
            <a:avLst/>
          </a:prstGeom>
          <a:noFill/>
          <a:ln/>
        </p:spPr>
        <p:txBody>
          <a:bodyPr vert="horz" wrap="none" lIns="0" tIns="0" rIns="0" bIns="0" rtlCol="0" anchor="ctr"/>
          <a:lstStyle/>
          <a:p>
            <a:pPr marL="0" indent="0" algn="l">
              <a:buNone/>
            </a:pPr>
            <a:r>
              <a:rPr lang="en-US" sz="3000" b="1" dirty="0">
                <a:solidFill>
                  <a:srgbClr val="001529"/>
                </a:solidFill>
                <a:latin typeface="Times New Roman" panose="02020603050405020304" pitchFamily="18" charset="0"/>
                <a:ea typeface="Roboto" pitchFamily="34" charset="-122"/>
                <a:cs typeface="Times New Roman" panose="02020603050405020304" pitchFamily="18" charset="0"/>
              </a:rPr>
              <a:t>Analiza </a:t>
            </a:r>
            <a:r>
              <a:rPr lang="en-US" sz="3000" b="1" dirty="0" err="1">
                <a:solidFill>
                  <a:srgbClr val="001529"/>
                </a:solidFill>
                <a:latin typeface="Times New Roman" panose="02020603050405020304" pitchFamily="18" charset="0"/>
                <a:ea typeface="Roboto" pitchFamily="34" charset="-122"/>
                <a:cs typeface="Times New Roman" panose="02020603050405020304" pitchFamily="18" charset="0"/>
              </a:rPr>
              <a:t>critică</a:t>
            </a:r>
            <a:r>
              <a:rPr lang="en-US" sz="3000" b="1" dirty="0">
                <a:solidFill>
                  <a:srgbClr val="001529"/>
                </a:solidFill>
                <a:latin typeface="Times New Roman" panose="02020603050405020304" pitchFamily="18" charset="0"/>
                <a:ea typeface="Roboto" pitchFamily="34" charset="-122"/>
                <a:cs typeface="Times New Roman" panose="02020603050405020304" pitchFamily="18" charset="0"/>
              </a:rPr>
              <a:t> — </a:t>
            </a:r>
            <a:r>
              <a:rPr lang="en-US" sz="3000" b="1" dirty="0" err="1">
                <a:solidFill>
                  <a:srgbClr val="001529"/>
                </a:solidFill>
                <a:latin typeface="Times New Roman" panose="02020603050405020304" pitchFamily="18" charset="0"/>
                <a:ea typeface="Roboto" pitchFamily="34" charset="-122"/>
                <a:cs typeface="Times New Roman" panose="02020603050405020304" pitchFamily="18" charset="0"/>
              </a:rPr>
              <a:t>Puncte</a:t>
            </a:r>
            <a:r>
              <a:rPr lang="en-US" sz="3000" b="1" dirty="0">
                <a:solidFill>
                  <a:srgbClr val="001529"/>
                </a:solidFill>
                <a:latin typeface="Times New Roman" panose="02020603050405020304" pitchFamily="18" charset="0"/>
                <a:ea typeface="Roboto" pitchFamily="34" charset="-122"/>
                <a:cs typeface="Times New Roman" panose="02020603050405020304" pitchFamily="18" charset="0"/>
              </a:rPr>
              <a:t> tari </a:t>
            </a:r>
            <a:r>
              <a:rPr lang="en-US" sz="3000" b="1" dirty="0" err="1">
                <a:solidFill>
                  <a:srgbClr val="001529"/>
                </a:solidFill>
                <a:latin typeface="Times New Roman" panose="02020603050405020304" pitchFamily="18" charset="0"/>
                <a:ea typeface="Roboto" pitchFamily="34" charset="-122"/>
                <a:cs typeface="Times New Roman" panose="02020603050405020304" pitchFamily="18" charset="0"/>
              </a:rPr>
              <a:t>și</a:t>
            </a:r>
            <a:r>
              <a:rPr lang="en-US" sz="3000" b="1" dirty="0">
                <a:solidFill>
                  <a:srgbClr val="001529"/>
                </a:solidFill>
                <a:latin typeface="Times New Roman" panose="02020603050405020304" pitchFamily="18" charset="0"/>
                <a:ea typeface="Roboto" pitchFamily="34" charset="-122"/>
                <a:cs typeface="Times New Roman" panose="02020603050405020304" pitchFamily="18" charset="0"/>
              </a:rPr>
              <a:t> </a:t>
            </a:r>
            <a:r>
              <a:rPr lang="en-US" sz="3000" b="1" dirty="0" err="1">
                <a:solidFill>
                  <a:srgbClr val="001529"/>
                </a:solidFill>
                <a:latin typeface="Times New Roman" panose="02020603050405020304" pitchFamily="18" charset="0"/>
                <a:ea typeface="Roboto" pitchFamily="34" charset="-122"/>
                <a:cs typeface="Times New Roman" panose="02020603050405020304" pitchFamily="18" charset="0"/>
              </a:rPr>
              <a:t>slabe</a:t>
            </a:r>
            <a:endParaRPr lang="en-US" sz="3000" dirty="0">
              <a:latin typeface="Times New Roman" panose="02020603050405020304" pitchFamily="18" charset="0"/>
              <a:cs typeface="Times New Roman" panose="02020603050405020304" pitchFamily="18" charset="0"/>
            </a:endParaRPr>
          </a:p>
        </p:txBody>
      </p:sp>
      <p:sp>
        <p:nvSpPr>
          <p:cNvPr id="42" name="SK-8-text-41"/>
          <p:cNvSpPr/>
          <p:nvPr/>
        </p:nvSpPr>
        <p:spPr>
          <a:xfrm>
            <a:off x="1792188" y="1405830"/>
            <a:ext cx="2740342" cy="219373"/>
          </a:xfrm>
          <a:prstGeom prst="rect">
            <a:avLst/>
          </a:prstGeom>
          <a:noFill/>
          <a:ln/>
        </p:spPr>
        <p:txBody>
          <a:bodyPr vert="horz" wrap="none" lIns="0" tIns="0" rIns="0" bIns="0" rtlCol="0" anchor="ctr"/>
          <a:lstStyle/>
          <a:p>
            <a:pPr marL="0" indent="0" algn="l">
              <a:buNone/>
            </a:pPr>
            <a:r>
              <a:rPr lang="en-US" sz="1575" b="1" dirty="0">
                <a:solidFill>
                  <a:srgbClr val="006D75"/>
                </a:solidFill>
                <a:latin typeface="Times New Roman" panose="02020603050405020304" pitchFamily="18" charset="0"/>
                <a:ea typeface="Roboto" pitchFamily="34" charset="-122"/>
                <a:cs typeface="Times New Roman" panose="02020603050405020304" pitchFamily="18" charset="0"/>
              </a:rPr>
              <a:t>PUNCTE TARI</a:t>
            </a:r>
            <a:endParaRPr lang="en-US" sz="1575" dirty="0">
              <a:latin typeface="Times New Roman" panose="02020603050405020304" pitchFamily="18" charset="0"/>
              <a:cs typeface="Times New Roman" panose="02020603050405020304" pitchFamily="18" charset="0"/>
            </a:endParaRPr>
          </a:p>
        </p:txBody>
      </p:sp>
      <p:sp>
        <p:nvSpPr>
          <p:cNvPr id="43" name="SK-8-text-42"/>
          <p:cNvSpPr/>
          <p:nvPr/>
        </p:nvSpPr>
        <p:spPr>
          <a:xfrm>
            <a:off x="1426369" y="2050405"/>
            <a:ext cx="2554605" cy="157609"/>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Generalitate</a:t>
            </a:r>
            <a:endParaRPr lang="en-US" sz="1350" dirty="0">
              <a:latin typeface="Times New Roman" panose="02020603050405020304" pitchFamily="18" charset="0"/>
              <a:cs typeface="Times New Roman" panose="02020603050405020304" pitchFamily="18" charset="0"/>
            </a:endParaRPr>
          </a:p>
        </p:txBody>
      </p:sp>
      <p:sp>
        <p:nvSpPr>
          <p:cNvPr id="44" name="SK-8-text-43"/>
          <p:cNvSpPr/>
          <p:nvPr/>
        </p:nvSpPr>
        <p:spPr>
          <a:xfrm>
            <a:off x="1414165" y="2242542"/>
            <a:ext cx="3352800" cy="356592"/>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Funcționează pe imagini, video și date tabulare —</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fără ipoteze privind tipul datelor</a:t>
            </a:r>
            <a:endParaRPr lang="en-US" sz="1200" dirty="0">
              <a:latin typeface="Times New Roman" panose="02020603050405020304" pitchFamily="18" charset="0"/>
              <a:cs typeface="Times New Roman" panose="02020603050405020304" pitchFamily="18" charset="0"/>
            </a:endParaRPr>
          </a:p>
        </p:txBody>
      </p:sp>
      <p:sp>
        <p:nvSpPr>
          <p:cNvPr id="45" name="SK-8-text-44"/>
          <p:cNvSpPr/>
          <p:nvPr/>
        </p:nvSpPr>
        <p:spPr>
          <a:xfrm>
            <a:off x="1426369" y="2770584"/>
            <a:ext cx="3583305" cy="191988"/>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Mecanism explicit</a:t>
            </a:r>
            <a:endParaRPr lang="en-US" sz="1350" dirty="0">
              <a:latin typeface="Times New Roman" panose="02020603050405020304" pitchFamily="18" charset="0"/>
              <a:cs typeface="Times New Roman" panose="02020603050405020304" pitchFamily="18" charset="0"/>
            </a:endParaRPr>
          </a:p>
        </p:txBody>
      </p:sp>
      <p:sp>
        <p:nvSpPr>
          <p:cNvPr id="46" name="SK-8-text-45"/>
          <p:cNvSpPr/>
          <p:nvPr/>
        </p:nvSpPr>
        <p:spPr>
          <a:xfrm>
            <a:off x="1414165" y="2976265"/>
            <a:ext cx="2596753" cy="342900"/>
          </a:xfrm>
          <a:prstGeom prst="rect">
            <a:avLst/>
          </a:prstGeom>
          <a:noFill/>
          <a:ln/>
        </p:spPr>
        <p:txBody>
          <a:bodyPr vert="horz" wrap="none" lIns="0" tIns="0" rIns="0" bIns="0" rtlCol="0" anchor="ctr"/>
          <a:lstStyle/>
          <a:p>
            <a:pPr marL="0" indent="0" algn="l">
              <a:lnSpc>
                <a:spcPts val="1440"/>
              </a:lnSpc>
              <a:buNone/>
            </a:pP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Amplifică</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eroarea</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pe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multe</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anomalii prin</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dicționarul de normalitate înghețat</a:t>
            </a:r>
            <a:endParaRPr lang="en-US" sz="1200" dirty="0">
              <a:latin typeface="Times New Roman" panose="02020603050405020304" pitchFamily="18" charset="0"/>
              <a:cs typeface="Times New Roman" panose="02020603050405020304" pitchFamily="18" charset="0"/>
            </a:endParaRPr>
          </a:p>
        </p:txBody>
      </p:sp>
      <p:sp>
        <p:nvSpPr>
          <p:cNvPr id="47" name="SK-8-text-46"/>
          <p:cNvSpPr/>
          <p:nvPr/>
        </p:nvSpPr>
        <p:spPr>
          <a:xfrm>
            <a:off x="1426369" y="3483769"/>
            <a:ext cx="3789045" cy="191988"/>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Eficiență ridicată</a:t>
            </a:r>
            <a:endParaRPr lang="en-US" sz="1350" dirty="0">
              <a:latin typeface="Times New Roman" panose="02020603050405020304" pitchFamily="18" charset="0"/>
              <a:cs typeface="Times New Roman" panose="02020603050405020304" pitchFamily="18" charset="0"/>
            </a:endParaRPr>
          </a:p>
        </p:txBody>
      </p:sp>
      <p:sp>
        <p:nvSpPr>
          <p:cNvPr id="48" name="SK-8-text-47"/>
          <p:cNvSpPr/>
          <p:nvPr/>
        </p:nvSpPr>
        <p:spPr>
          <a:xfrm>
            <a:off x="1414165" y="3689598"/>
            <a:ext cx="3182094" cy="349746"/>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Overhead memorie neglijabil — 4×10⁻⁴s/frame,</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inferență la 38 fps</a:t>
            </a:r>
            <a:endParaRPr lang="en-US" sz="1200" dirty="0">
              <a:latin typeface="Times New Roman" panose="02020603050405020304" pitchFamily="18" charset="0"/>
              <a:cs typeface="Times New Roman" panose="02020603050405020304" pitchFamily="18" charset="0"/>
            </a:endParaRPr>
          </a:p>
        </p:txBody>
      </p:sp>
      <p:sp>
        <p:nvSpPr>
          <p:cNvPr id="49" name="SK-8-text-48"/>
          <p:cNvSpPr/>
          <p:nvPr/>
        </p:nvSpPr>
        <p:spPr>
          <a:xfrm>
            <a:off x="1426369" y="4203948"/>
            <a:ext cx="2966085" cy="191988"/>
          </a:xfrm>
          <a:prstGeom prst="rect">
            <a:avLst/>
          </a:prstGeom>
          <a:noFill/>
          <a:ln/>
        </p:spPr>
        <p:txBody>
          <a:bodyPr vert="horz" wrap="none" lIns="0" tIns="0" rIns="0" bIns="0" rtlCol="0" anchor="ctr"/>
          <a:lstStyle/>
          <a:p>
            <a:pPr marL="0" indent="0" algn="l">
              <a:buNone/>
            </a:pPr>
            <a:r>
              <a:rPr lang="it-IT" sz="1350" b="1" dirty="0">
                <a:solidFill>
                  <a:srgbClr val="000000"/>
                </a:solidFill>
                <a:latin typeface="Times New Roman" panose="02020603050405020304" pitchFamily="18" charset="0"/>
                <a:ea typeface="Roboto" pitchFamily="34" charset="-122"/>
                <a:cs typeface="Times New Roman" panose="02020603050405020304" pitchFamily="18" charset="0"/>
              </a:rPr>
              <a:t>Robustețe după un prag al memoriei</a:t>
            </a:r>
            <a:endParaRPr lang="en-US" sz="1350" dirty="0">
              <a:latin typeface="Times New Roman" panose="02020603050405020304" pitchFamily="18" charset="0"/>
              <a:cs typeface="Times New Roman" panose="02020603050405020304" pitchFamily="18" charset="0"/>
            </a:endParaRPr>
          </a:p>
        </p:txBody>
      </p:sp>
      <p:sp>
        <p:nvSpPr>
          <p:cNvPr id="50" name="SK-8-text-49"/>
          <p:cNvSpPr/>
          <p:nvPr/>
        </p:nvSpPr>
        <p:spPr>
          <a:xfrm>
            <a:off x="1414165" y="4409629"/>
            <a:ext cx="2925961" cy="322213"/>
          </a:xfrm>
          <a:prstGeom prst="rect">
            <a:avLst/>
          </a:prstGeom>
          <a:noFill/>
          <a:ln/>
        </p:spPr>
        <p:txBody>
          <a:bodyPr vert="horz" wrap="none" lIns="0" tIns="0" rIns="0" bIns="0" rtlCol="0" anchor="ctr"/>
          <a:lstStyle/>
          <a:p>
            <a:pPr marL="0" indent="0" algn="l">
              <a:lnSpc>
                <a:spcPts val="1440"/>
              </a:lnSpc>
              <a:buNone/>
            </a:pPr>
            <a:r>
              <a:rPr lang="pt-BR" sz="1200" dirty="0">
                <a:solidFill>
                  <a:srgbClr val="333333"/>
                </a:solidFill>
                <a:latin typeface="Times New Roman" panose="02020603050405020304" pitchFamily="18" charset="0"/>
                <a:ea typeface="Roboto" pitchFamily="34" charset="-122"/>
                <a:cs typeface="Times New Roman" panose="02020603050405020304" pitchFamily="18" charset="0"/>
              </a:rPr>
              <a:t>Performanța devine stabilă când N este suficient de mare.</a:t>
            </a:r>
            <a:endParaRPr lang="en-US" sz="1200" dirty="0">
              <a:latin typeface="Times New Roman" panose="02020603050405020304" pitchFamily="18" charset="0"/>
              <a:cs typeface="Times New Roman" panose="02020603050405020304" pitchFamily="18" charset="0"/>
            </a:endParaRPr>
          </a:p>
        </p:txBody>
      </p:sp>
      <p:sp>
        <p:nvSpPr>
          <p:cNvPr id="51" name="SK-8-text-50"/>
          <p:cNvSpPr/>
          <p:nvPr/>
        </p:nvSpPr>
        <p:spPr>
          <a:xfrm>
            <a:off x="1426369" y="4930825"/>
            <a:ext cx="4200525" cy="164455"/>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Antrenare end-to-end</a:t>
            </a:r>
            <a:endParaRPr lang="en-US" sz="1350" dirty="0">
              <a:latin typeface="Times New Roman" panose="02020603050405020304" pitchFamily="18" charset="0"/>
              <a:cs typeface="Times New Roman" panose="02020603050405020304" pitchFamily="18" charset="0"/>
            </a:endParaRPr>
          </a:p>
        </p:txBody>
      </p:sp>
      <p:sp>
        <p:nvSpPr>
          <p:cNvPr id="52" name="SK-8-text-51"/>
          <p:cNvSpPr/>
          <p:nvPr/>
        </p:nvSpPr>
        <p:spPr>
          <a:xfrm>
            <a:off x="1414165" y="5122813"/>
            <a:ext cx="2840682" cy="356592"/>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Encoder + decoder + memorie optimizate</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simultan, fără etape separate</a:t>
            </a:r>
            <a:endParaRPr lang="en-US" sz="1200" dirty="0">
              <a:latin typeface="Times New Roman" panose="02020603050405020304" pitchFamily="18" charset="0"/>
              <a:cs typeface="Times New Roman" panose="02020603050405020304" pitchFamily="18" charset="0"/>
            </a:endParaRPr>
          </a:p>
        </p:txBody>
      </p:sp>
      <p:sp>
        <p:nvSpPr>
          <p:cNvPr id="53" name="SK-8-text-52"/>
          <p:cNvSpPr/>
          <p:nvPr/>
        </p:nvSpPr>
        <p:spPr>
          <a:xfrm>
            <a:off x="1426369" y="5650855"/>
            <a:ext cx="3377565" cy="185142"/>
          </a:xfrm>
          <a:prstGeom prst="rect">
            <a:avLst/>
          </a:prstGeom>
          <a:noFill/>
          <a:ln/>
        </p:spPr>
        <p:txBody>
          <a:bodyPr vert="horz" wrap="none" lIns="0" tIns="0" rIns="0" bIns="0" rtlCol="0" anchor="ctr"/>
          <a:lstStyle/>
          <a:p>
            <a:pPr marL="0" indent="0" algn="l">
              <a:buNone/>
            </a:pPr>
            <a:r>
              <a:rPr lang="en-US" sz="1350" b="1" dirty="0" err="1">
                <a:solidFill>
                  <a:srgbClr val="000000"/>
                </a:solidFill>
                <a:latin typeface="Times New Roman" panose="02020603050405020304" pitchFamily="18" charset="0"/>
                <a:ea typeface="Roboto" pitchFamily="34" charset="-122"/>
                <a:cs typeface="Times New Roman" panose="02020603050405020304" pitchFamily="18" charset="0"/>
              </a:rPr>
              <a:t>Antrenare</a:t>
            </a: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 </a:t>
            </a:r>
            <a:r>
              <a:rPr lang="en-US" sz="1350" b="1" dirty="0" err="1">
                <a:solidFill>
                  <a:srgbClr val="000000"/>
                </a:solidFill>
                <a:latin typeface="Times New Roman" panose="02020603050405020304" pitchFamily="18" charset="0"/>
                <a:ea typeface="Roboto" pitchFamily="34" charset="-122"/>
                <a:cs typeface="Times New Roman" panose="02020603050405020304" pitchFamily="18" charset="0"/>
              </a:rPr>
              <a:t>doar</a:t>
            </a: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 pe date </a:t>
            </a:r>
            <a:r>
              <a:rPr lang="en-US" sz="1350" b="1" dirty="0" err="1">
                <a:solidFill>
                  <a:srgbClr val="000000"/>
                </a:solidFill>
                <a:latin typeface="Times New Roman" panose="02020603050405020304" pitchFamily="18" charset="0"/>
                <a:ea typeface="Roboto" pitchFamily="34" charset="-122"/>
                <a:cs typeface="Times New Roman" panose="02020603050405020304" pitchFamily="18" charset="0"/>
              </a:rPr>
              <a:t>normale</a:t>
            </a:r>
            <a:endParaRPr lang="en-US" sz="1350" dirty="0">
              <a:latin typeface="Times New Roman" panose="02020603050405020304" pitchFamily="18" charset="0"/>
              <a:cs typeface="Times New Roman" panose="02020603050405020304" pitchFamily="18" charset="0"/>
            </a:endParaRPr>
          </a:p>
        </p:txBody>
      </p:sp>
      <p:sp>
        <p:nvSpPr>
          <p:cNvPr id="54" name="SK-8-text-53"/>
          <p:cNvSpPr/>
          <p:nvPr/>
        </p:nvSpPr>
        <p:spPr>
          <a:xfrm>
            <a:off x="1414165" y="5849838"/>
            <a:ext cx="2865090" cy="342900"/>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Nu necesită date anormale la antrenare —</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aplicabil în scenarii reale</a:t>
            </a:r>
            <a:endParaRPr lang="en-US" sz="1200" dirty="0">
              <a:latin typeface="Times New Roman" panose="02020603050405020304" pitchFamily="18" charset="0"/>
              <a:cs typeface="Times New Roman" panose="02020603050405020304" pitchFamily="18" charset="0"/>
            </a:endParaRPr>
          </a:p>
        </p:txBody>
      </p:sp>
      <p:sp>
        <p:nvSpPr>
          <p:cNvPr id="55" name="SK-8-text-54"/>
          <p:cNvSpPr/>
          <p:nvPr/>
        </p:nvSpPr>
        <p:spPr>
          <a:xfrm>
            <a:off x="7193161" y="1405830"/>
            <a:ext cx="2980372" cy="219373"/>
          </a:xfrm>
          <a:prstGeom prst="rect">
            <a:avLst/>
          </a:prstGeom>
          <a:noFill/>
          <a:ln/>
        </p:spPr>
        <p:txBody>
          <a:bodyPr vert="horz" wrap="none" lIns="0" tIns="0" rIns="0" bIns="0" rtlCol="0" anchor="ctr"/>
          <a:lstStyle/>
          <a:p>
            <a:pPr marL="0" indent="0" algn="l">
              <a:buNone/>
            </a:pPr>
            <a:r>
              <a:rPr lang="en-US" sz="1575" b="1" dirty="0">
                <a:solidFill>
                  <a:srgbClr val="D46B08"/>
                </a:solidFill>
                <a:latin typeface="Times New Roman" panose="02020603050405020304" pitchFamily="18" charset="0"/>
                <a:ea typeface="Roboto" pitchFamily="34" charset="-122"/>
                <a:cs typeface="Times New Roman" panose="02020603050405020304" pitchFamily="18" charset="0"/>
              </a:rPr>
              <a:t>PUNCTE SLABE</a:t>
            </a:r>
            <a:endParaRPr lang="en-US" sz="1575" dirty="0">
              <a:latin typeface="Times New Roman" panose="02020603050405020304" pitchFamily="18" charset="0"/>
              <a:cs typeface="Times New Roman" panose="02020603050405020304" pitchFamily="18" charset="0"/>
            </a:endParaRPr>
          </a:p>
        </p:txBody>
      </p:sp>
      <p:sp>
        <p:nvSpPr>
          <p:cNvPr id="56" name="SK-8-text-55"/>
          <p:cNvSpPr/>
          <p:nvPr/>
        </p:nvSpPr>
        <p:spPr>
          <a:xfrm>
            <a:off x="7266384" y="2043559"/>
            <a:ext cx="4817745" cy="191988"/>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Sub Frame-Pred pe video</a:t>
            </a:r>
            <a:endParaRPr lang="en-US" sz="1350" dirty="0">
              <a:latin typeface="Times New Roman" panose="02020603050405020304" pitchFamily="18" charset="0"/>
              <a:cs typeface="Times New Roman" panose="02020603050405020304" pitchFamily="18" charset="0"/>
            </a:endParaRPr>
          </a:p>
        </p:txBody>
      </p:sp>
      <p:sp>
        <p:nvSpPr>
          <p:cNvPr id="57" name="SK-8-text-56"/>
          <p:cNvSpPr/>
          <p:nvPr/>
        </p:nvSpPr>
        <p:spPr>
          <a:xfrm>
            <a:off x="7254180" y="2242542"/>
            <a:ext cx="2999184" cy="349746"/>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AUC 0.941 vs. 0.954 pe Ped2 — metodele</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specializate cu optical flow rămân superioare</a:t>
            </a:r>
            <a:endParaRPr lang="en-US" sz="1200" dirty="0">
              <a:latin typeface="Times New Roman" panose="02020603050405020304" pitchFamily="18" charset="0"/>
              <a:cs typeface="Times New Roman" panose="02020603050405020304" pitchFamily="18" charset="0"/>
            </a:endParaRPr>
          </a:p>
        </p:txBody>
      </p:sp>
      <p:sp>
        <p:nvSpPr>
          <p:cNvPr id="58" name="SK-8-text-57"/>
          <p:cNvSpPr/>
          <p:nvPr/>
        </p:nvSpPr>
        <p:spPr>
          <a:xfrm>
            <a:off x="7266384" y="2770584"/>
            <a:ext cx="4200525" cy="171450"/>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Memorie fixă la test</a:t>
            </a:r>
            <a:endParaRPr lang="en-US" sz="1350" dirty="0">
              <a:latin typeface="Times New Roman" panose="02020603050405020304" pitchFamily="18" charset="0"/>
              <a:cs typeface="Times New Roman" panose="02020603050405020304" pitchFamily="18" charset="0"/>
            </a:endParaRPr>
          </a:p>
        </p:txBody>
      </p:sp>
      <p:sp>
        <p:nvSpPr>
          <p:cNvPr id="59" name="SK-8-text-58"/>
          <p:cNvSpPr/>
          <p:nvPr/>
        </p:nvSpPr>
        <p:spPr>
          <a:xfrm>
            <a:off x="7254180" y="2969419"/>
            <a:ext cx="3291780" cy="349746"/>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Nu se adaptează la drift-uri de distribuție — dacă</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normalul se schimbă, memoria devine depășită</a:t>
            </a:r>
            <a:endParaRPr lang="en-US" sz="1200" dirty="0">
              <a:latin typeface="Times New Roman" panose="02020603050405020304" pitchFamily="18" charset="0"/>
              <a:cs typeface="Times New Roman" panose="02020603050405020304" pitchFamily="18" charset="0"/>
            </a:endParaRPr>
          </a:p>
        </p:txBody>
      </p:sp>
      <p:sp>
        <p:nvSpPr>
          <p:cNvPr id="60" name="SK-8-text-59"/>
          <p:cNvSpPr/>
          <p:nvPr/>
        </p:nvSpPr>
        <p:spPr>
          <a:xfrm>
            <a:off x="7266384" y="3483769"/>
            <a:ext cx="4925616" cy="191988"/>
          </a:xfrm>
          <a:prstGeom prst="rect">
            <a:avLst/>
          </a:prstGeom>
          <a:noFill/>
          <a:ln/>
        </p:spPr>
        <p:txBody>
          <a:bodyPr vert="horz" wrap="none" lIns="0" tIns="0" rIns="0" bIns="0" rtlCol="0" anchor="ctr"/>
          <a:lstStyle/>
          <a:p>
            <a:pPr marL="0" indent="0" algn="l">
              <a:buNone/>
            </a:pPr>
            <a:r>
              <a:rPr lang="pt-BR" sz="1350" b="1" dirty="0">
                <a:solidFill>
                  <a:srgbClr val="000000"/>
                </a:solidFill>
                <a:latin typeface="Times New Roman" panose="02020603050405020304" pitchFamily="18" charset="0"/>
                <a:ea typeface="Roboto" pitchFamily="34" charset="-122"/>
                <a:cs typeface="Times New Roman" panose="02020603050405020304" pitchFamily="18" charset="0"/>
              </a:rPr>
              <a:t>Alegerea lui N rămâne empirică</a:t>
            </a:r>
            <a:endParaRPr lang="en-US" sz="1350" dirty="0">
              <a:latin typeface="Times New Roman" panose="02020603050405020304" pitchFamily="18" charset="0"/>
              <a:cs typeface="Times New Roman" panose="02020603050405020304" pitchFamily="18" charset="0"/>
            </a:endParaRPr>
          </a:p>
        </p:txBody>
      </p:sp>
      <p:sp>
        <p:nvSpPr>
          <p:cNvPr id="61" name="SK-8-text-60"/>
          <p:cNvSpPr/>
          <p:nvPr/>
        </p:nvSpPr>
        <p:spPr>
          <a:xfrm>
            <a:off x="7254180" y="3689598"/>
            <a:ext cx="6281346" cy="349746"/>
          </a:xfrm>
          <a:prstGeom prst="rect">
            <a:avLst/>
          </a:prstGeom>
          <a:noFill/>
          <a:ln/>
        </p:spPr>
        <p:txBody>
          <a:bodyPr vert="horz" wrap="none" lIns="0" tIns="0" rIns="0" bIns="0" rtlCol="0" anchor="ctr"/>
          <a:lstStyle/>
          <a:p>
            <a:pPr marL="0" indent="0" algn="l">
              <a:lnSpc>
                <a:spcPts val="1440"/>
              </a:lnSpc>
              <a:buNone/>
            </a:pPr>
            <a:r>
              <a:rPr lang="pt-BR" sz="1200" dirty="0">
                <a:solidFill>
                  <a:srgbClr val="333333"/>
                </a:solidFill>
                <a:latin typeface="Times New Roman" panose="02020603050405020304" pitchFamily="18" charset="0"/>
                <a:ea typeface="Roboto" pitchFamily="34" charset="-122"/>
                <a:cs typeface="Times New Roman" panose="02020603050405020304" pitchFamily="18" charset="0"/>
              </a:rPr>
              <a:t>Nu există o regulă teoretică clară pentru alegerea dimensiunii </a:t>
            </a:r>
          </a:p>
          <a:p>
            <a:pPr marL="0" indent="0" algn="l">
              <a:lnSpc>
                <a:spcPts val="1440"/>
              </a:lnSpc>
              <a:buNone/>
            </a:pPr>
            <a:r>
              <a:rPr lang="pt-BR" sz="1200" dirty="0">
                <a:solidFill>
                  <a:srgbClr val="333333"/>
                </a:solidFill>
                <a:latin typeface="Times New Roman" panose="02020603050405020304" pitchFamily="18" charset="0"/>
                <a:ea typeface="Roboto" pitchFamily="34" charset="-122"/>
                <a:cs typeface="Times New Roman" panose="02020603050405020304" pitchFamily="18" charset="0"/>
              </a:rPr>
              <a:t>memoriei; se testează experimental.</a:t>
            </a:r>
            <a:endParaRPr lang="en-US" sz="1200" dirty="0">
              <a:latin typeface="Times New Roman" panose="02020603050405020304" pitchFamily="18" charset="0"/>
              <a:cs typeface="Times New Roman" panose="02020603050405020304" pitchFamily="18" charset="0"/>
            </a:endParaRPr>
          </a:p>
        </p:txBody>
      </p:sp>
      <p:sp>
        <p:nvSpPr>
          <p:cNvPr id="62" name="SK-8-text-61"/>
          <p:cNvSpPr/>
          <p:nvPr/>
        </p:nvSpPr>
        <p:spPr>
          <a:xfrm>
            <a:off x="7266384" y="4203948"/>
            <a:ext cx="4925616" cy="191988"/>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Eșec la suprapunere semantică</a:t>
            </a:r>
            <a:endParaRPr lang="en-US" sz="1350" dirty="0">
              <a:latin typeface="Times New Roman" panose="02020603050405020304" pitchFamily="18" charset="0"/>
              <a:cs typeface="Times New Roman" panose="02020603050405020304" pitchFamily="18" charset="0"/>
            </a:endParaRPr>
          </a:p>
        </p:txBody>
      </p:sp>
      <p:sp>
        <p:nvSpPr>
          <p:cNvPr id="63" name="SK-8-text-62"/>
          <p:cNvSpPr/>
          <p:nvPr/>
        </p:nvSpPr>
        <p:spPr>
          <a:xfrm>
            <a:off x="7254180" y="4409629"/>
            <a:ext cx="3060055" cy="329059"/>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Anomalii cu textură similară normalului pot fi</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reconstruite fidel → FN</a:t>
            </a:r>
            <a:endParaRPr lang="en-US" sz="1200" dirty="0">
              <a:latin typeface="Times New Roman" panose="02020603050405020304" pitchFamily="18" charset="0"/>
              <a:cs typeface="Times New Roman" panose="02020603050405020304" pitchFamily="18" charset="0"/>
            </a:endParaRPr>
          </a:p>
        </p:txBody>
      </p:sp>
      <p:sp>
        <p:nvSpPr>
          <p:cNvPr id="64" name="SK-8-text-63"/>
          <p:cNvSpPr/>
          <p:nvPr/>
        </p:nvSpPr>
        <p:spPr>
          <a:xfrm>
            <a:off x="7266384" y="4923979"/>
            <a:ext cx="4925616" cy="191988"/>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Performanță modestă pe CIFAR-10</a:t>
            </a:r>
            <a:endParaRPr lang="en-US" sz="1350" dirty="0">
              <a:latin typeface="Times New Roman" panose="02020603050405020304" pitchFamily="18" charset="0"/>
              <a:cs typeface="Times New Roman" panose="02020603050405020304" pitchFamily="18" charset="0"/>
            </a:endParaRPr>
          </a:p>
        </p:txBody>
      </p:sp>
      <p:sp>
        <p:nvSpPr>
          <p:cNvPr id="65" name="SK-8-text-64"/>
          <p:cNvSpPr/>
          <p:nvPr/>
        </p:nvSpPr>
        <p:spPr>
          <a:xfrm>
            <a:off x="7254180" y="5129659"/>
            <a:ext cx="3389263" cy="356592"/>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AUC 0.6088 — variabilitatea intra-clasă mare face</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profilul normalului greu de capturat</a:t>
            </a:r>
            <a:endParaRPr lang="en-US" sz="1200" dirty="0">
              <a:latin typeface="Times New Roman" panose="02020603050405020304" pitchFamily="18" charset="0"/>
              <a:cs typeface="Times New Roman" panose="02020603050405020304" pitchFamily="18" charset="0"/>
            </a:endParaRPr>
          </a:p>
        </p:txBody>
      </p:sp>
      <p:sp>
        <p:nvSpPr>
          <p:cNvPr id="66" name="SK-8-text-65"/>
          <p:cNvSpPr/>
          <p:nvPr/>
        </p:nvSpPr>
        <p:spPr>
          <a:xfrm>
            <a:off x="7266384" y="5644009"/>
            <a:ext cx="4925616" cy="191988"/>
          </a:xfrm>
          <a:prstGeom prst="rect">
            <a:avLst/>
          </a:prstGeom>
          <a:noFill/>
          <a:ln/>
        </p:spPr>
        <p:txBody>
          <a:bodyPr vert="horz" wrap="none" lIns="0" tIns="0" rIns="0" bIns="0" rtlCol="0" anchor="ctr"/>
          <a:lstStyle/>
          <a:p>
            <a:pPr marL="0" indent="0" algn="l">
              <a:buNone/>
            </a:pPr>
            <a:r>
              <a:rPr lang="en-US" sz="1350" b="1" dirty="0">
                <a:solidFill>
                  <a:srgbClr val="000000"/>
                </a:solidFill>
                <a:latin typeface="Times New Roman" panose="02020603050405020304" pitchFamily="18" charset="0"/>
                <a:ea typeface="Roboto" pitchFamily="34" charset="-122"/>
                <a:cs typeface="Times New Roman" panose="02020603050405020304" pitchFamily="18" charset="0"/>
              </a:rPr>
              <a:t>Interpretabilitate limitată</a:t>
            </a:r>
            <a:endParaRPr lang="en-US" sz="1350" dirty="0">
              <a:latin typeface="Times New Roman" panose="02020603050405020304" pitchFamily="18" charset="0"/>
              <a:cs typeface="Times New Roman" panose="02020603050405020304" pitchFamily="18" charset="0"/>
            </a:endParaRPr>
          </a:p>
        </p:txBody>
      </p:sp>
      <p:sp>
        <p:nvSpPr>
          <p:cNvPr id="67" name="SK-8-text-66"/>
          <p:cNvSpPr/>
          <p:nvPr/>
        </p:nvSpPr>
        <p:spPr>
          <a:xfrm>
            <a:off x="7254180" y="5849838"/>
            <a:ext cx="3169890" cy="342900"/>
          </a:xfrm>
          <a:prstGeom prst="rect">
            <a:avLst/>
          </a:prstGeom>
          <a:noFill/>
          <a:ln/>
        </p:spPr>
        <p:txBody>
          <a:bodyPr vert="horz" wrap="none" lIns="0" tIns="0" rIns="0" bIns="0" rtlCol="0" anchor="ctr"/>
          <a:lstStyle/>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Slot-urile de memorie pot fi vizualizate, dar nu</a:t>
            </a:r>
            <a:endParaRPr lang="en-US" sz="1200" dirty="0">
              <a:latin typeface="Times New Roman" panose="02020603050405020304" pitchFamily="18" charset="0"/>
              <a:cs typeface="Times New Roman" panose="02020603050405020304" pitchFamily="18" charset="0"/>
            </a:endParaRPr>
          </a:p>
          <a:p>
            <a:pPr marL="0" indent="0" algn="l">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există explicabilitate pentru decizii individuale</a:t>
            </a:r>
            <a:endParaRPr lang="en-US" sz="1200" dirty="0">
              <a:latin typeface="Times New Roman" panose="02020603050405020304" pitchFamily="18" charset="0"/>
              <a:cs typeface="Times New Roman" panose="02020603050405020304" pitchFamily="18" charset="0"/>
            </a:endParaRPr>
          </a:p>
        </p:txBody>
      </p:sp>
      <p:pic>
        <p:nvPicPr>
          <p:cNvPr id="68" name="SK-4-img-2" descr="preencoded.png">
            <a:extLst>
              <a:ext uri="{FF2B5EF4-FFF2-40B4-BE49-F238E27FC236}">
                <a16:creationId xmlns:a16="http://schemas.microsoft.com/office/drawing/2014/main" id="{94DC774A-9ABE-4306-8060-32925695C674}"/>
              </a:ext>
            </a:extLst>
          </p:cNvPr>
          <p:cNvPicPr>
            <a:picLocks noChangeAspect="1"/>
          </p:cNvPicPr>
          <p:nvPr/>
        </p:nvPicPr>
        <p:blipFill>
          <a:blip r:embed="rId33"/>
          <a:stretch>
            <a:fillRect/>
          </a:stretch>
        </p:blipFill>
        <p:spPr>
          <a:xfrm>
            <a:off x="0" y="0"/>
            <a:ext cx="146298" cy="6858000"/>
          </a:xfrm>
          <a:prstGeom prst="rect">
            <a:avLst/>
          </a:prstGeom>
        </p:spPr>
      </p:pic>
      <p:pic>
        <p:nvPicPr>
          <p:cNvPr id="69" name="SK-2-img-4" descr="preencoded.png">
            <a:extLst>
              <a:ext uri="{FF2B5EF4-FFF2-40B4-BE49-F238E27FC236}">
                <a16:creationId xmlns:a16="http://schemas.microsoft.com/office/drawing/2014/main" id="{C6050B11-2572-416E-88B6-964681D441FC}"/>
              </a:ext>
            </a:extLst>
          </p:cNvPr>
          <p:cNvPicPr>
            <a:picLocks noChangeAspect="1"/>
          </p:cNvPicPr>
          <p:nvPr/>
        </p:nvPicPr>
        <p:blipFill>
          <a:blip r:embed="rId34"/>
          <a:stretch>
            <a:fillRect/>
          </a:stretch>
        </p:blipFill>
        <p:spPr>
          <a:xfrm>
            <a:off x="572988" y="1035323"/>
            <a:ext cx="792361" cy="959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K-9-img-1" descr="preencoded.png"/>
          <p:cNvPicPr>
            <a:picLocks noChangeAspect="1"/>
          </p:cNvPicPr>
          <p:nvPr/>
        </p:nvPicPr>
        <p:blipFill>
          <a:blip r:embed="rId3"/>
          <a:stretch>
            <a:fillRect/>
          </a:stretch>
        </p:blipFill>
        <p:spPr>
          <a:xfrm>
            <a:off x="0" y="0"/>
            <a:ext cx="12192000" cy="6858000"/>
          </a:xfrm>
          <a:prstGeom prst="rect">
            <a:avLst/>
          </a:prstGeom>
        </p:spPr>
      </p:pic>
      <p:pic>
        <p:nvPicPr>
          <p:cNvPr id="5" name="SK-9-img-4" descr="preencoded.png"/>
          <p:cNvPicPr>
            <a:picLocks noChangeAspect="1"/>
          </p:cNvPicPr>
          <p:nvPr/>
        </p:nvPicPr>
        <p:blipFill>
          <a:blip r:embed="rId4"/>
          <a:stretch>
            <a:fillRect/>
          </a:stretch>
        </p:blipFill>
        <p:spPr>
          <a:xfrm>
            <a:off x="426690" y="1316682"/>
            <a:ext cx="3779490" cy="329059"/>
          </a:xfrm>
          <a:prstGeom prst="rect">
            <a:avLst/>
          </a:prstGeom>
        </p:spPr>
      </p:pic>
      <p:pic>
        <p:nvPicPr>
          <p:cNvPr id="6" name="SK-9-img-5" descr="preencoded.png"/>
          <p:cNvPicPr>
            <a:picLocks noChangeAspect="1"/>
          </p:cNvPicPr>
          <p:nvPr/>
        </p:nvPicPr>
        <p:blipFill>
          <a:blip r:embed="rId5"/>
          <a:stretch>
            <a:fillRect/>
          </a:stretch>
        </p:blipFill>
        <p:spPr>
          <a:xfrm>
            <a:off x="4486573" y="1316682"/>
            <a:ext cx="3425875" cy="329059"/>
          </a:xfrm>
          <a:prstGeom prst="rect">
            <a:avLst/>
          </a:prstGeom>
        </p:spPr>
      </p:pic>
      <p:pic>
        <p:nvPicPr>
          <p:cNvPr id="7" name="SK-9-img-6" descr="preencoded.png"/>
          <p:cNvPicPr>
            <a:picLocks noChangeAspect="1"/>
          </p:cNvPicPr>
          <p:nvPr/>
        </p:nvPicPr>
        <p:blipFill>
          <a:blip r:embed="rId6"/>
          <a:stretch>
            <a:fillRect/>
          </a:stretch>
        </p:blipFill>
        <p:spPr>
          <a:xfrm>
            <a:off x="8192988" y="1316682"/>
            <a:ext cx="3438079" cy="329059"/>
          </a:xfrm>
          <a:prstGeom prst="rect">
            <a:avLst/>
          </a:prstGeom>
        </p:spPr>
      </p:pic>
      <p:pic>
        <p:nvPicPr>
          <p:cNvPr id="8" name="SK-9-img-7" descr="preencoded.png"/>
          <p:cNvPicPr>
            <a:picLocks noChangeAspect="1"/>
          </p:cNvPicPr>
          <p:nvPr/>
        </p:nvPicPr>
        <p:blipFill>
          <a:blip r:embed="rId7"/>
          <a:stretch>
            <a:fillRect/>
          </a:stretch>
        </p:blipFill>
        <p:spPr>
          <a:xfrm>
            <a:off x="4486573" y="1837879"/>
            <a:ext cx="3425875" cy="1028700"/>
          </a:xfrm>
          <a:prstGeom prst="rect">
            <a:avLst/>
          </a:prstGeom>
        </p:spPr>
      </p:pic>
      <p:pic>
        <p:nvPicPr>
          <p:cNvPr id="9" name="SK-9-img-8" descr="preencoded.png"/>
          <p:cNvPicPr>
            <a:picLocks noChangeAspect="1"/>
          </p:cNvPicPr>
          <p:nvPr/>
        </p:nvPicPr>
        <p:blipFill>
          <a:blip r:embed="rId8"/>
          <a:stretch>
            <a:fillRect/>
          </a:stretch>
        </p:blipFill>
        <p:spPr>
          <a:xfrm>
            <a:off x="5379244" y="2043559"/>
            <a:ext cx="19050" cy="617190"/>
          </a:xfrm>
          <a:prstGeom prst="rect">
            <a:avLst/>
          </a:prstGeom>
        </p:spPr>
      </p:pic>
      <p:pic>
        <p:nvPicPr>
          <p:cNvPr id="10" name="SK-9-img-9" descr="preencoded.png"/>
          <p:cNvPicPr>
            <a:picLocks noChangeAspect="1"/>
          </p:cNvPicPr>
          <p:nvPr/>
        </p:nvPicPr>
        <p:blipFill>
          <a:blip r:embed="rId7"/>
          <a:stretch>
            <a:fillRect/>
          </a:stretch>
        </p:blipFill>
        <p:spPr>
          <a:xfrm>
            <a:off x="4486573" y="3017490"/>
            <a:ext cx="3425875" cy="1028700"/>
          </a:xfrm>
          <a:prstGeom prst="rect">
            <a:avLst/>
          </a:prstGeom>
        </p:spPr>
      </p:pic>
      <p:pic>
        <p:nvPicPr>
          <p:cNvPr id="11" name="SK-9-img-10" descr="preencoded.png"/>
          <p:cNvPicPr>
            <a:picLocks noChangeAspect="1"/>
          </p:cNvPicPr>
          <p:nvPr/>
        </p:nvPicPr>
        <p:blipFill>
          <a:blip r:embed="rId9"/>
          <a:stretch>
            <a:fillRect/>
          </a:stretch>
        </p:blipFill>
        <p:spPr>
          <a:xfrm>
            <a:off x="5379244" y="3223171"/>
            <a:ext cx="19050" cy="617190"/>
          </a:xfrm>
          <a:prstGeom prst="rect">
            <a:avLst/>
          </a:prstGeom>
        </p:spPr>
      </p:pic>
      <p:pic>
        <p:nvPicPr>
          <p:cNvPr id="12" name="SK-9-img-11" descr="preencoded.png"/>
          <p:cNvPicPr>
            <a:picLocks noChangeAspect="1"/>
          </p:cNvPicPr>
          <p:nvPr/>
        </p:nvPicPr>
        <p:blipFill>
          <a:blip r:embed="rId10"/>
          <a:stretch>
            <a:fillRect/>
          </a:stretch>
        </p:blipFill>
        <p:spPr>
          <a:xfrm>
            <a:off x="4486573" y="4203948"/>
            <a:ext cx="3425875" cy="1028700"/>
          </a:xfrm>
          <a:prstGeom prst="rect">
            <a:avLst/>
          </a:prstGeom>
        </p:spPr>
      </p:pic>
      <p:pic>
        <p:nvPicPr>
          <p:cNvPr id="13" name="SK-9-img-12" descr="preencoded.png"/>
          <p:cNvPicPr>
            <a:picLocks noChangeAspect="1"/>
          </p:cNvPicPr>
          <p:nvPr/>
        </p:nvPicPr>
        <p:blipFill>
          <a:blip r:embed="rId9"/>
          <a:stretch>
            <a:fillRect/>
          </a:stretch>
        </p:blipFill>
        <p:spPr>
          <a:xfrm>
            <a:off x="5379244" y="4409629"/>
            <a:ext cx="19050" cy="617190"/>
          </a:xfrm>
          <a:prstGeom prst="rect">
            <a:avLst/>
          </a:prstGeom>
        </p:spPr>
      </p:pic>
      <p:pic>
        <p:nvPicPr>
          <p:cNvPr id="14" name="SK-9-img-13" descr="preencoded.png"/>
          <p:cNvPicPr>
            <a:picLocks noChangeAspect="1"/>
          </p:cNvPicPr>
          <p:nvPr/>
        </p:nvPicPr>
        <p:blipFill>
          <a:blip r:embed="rId11"/>
          <a:stretch>
            <a:fillRect/>
          </a:stretch>
        </p:blipFill>
        <p:spPr>
          <a:xfrm>
            <a:off x="8192988" y="1837879"/>
            <a:ext cx="3438079" cy="1028700"/>
          </a:xfrm>
          <a:prstGeom prst="rect">
            <a:avLst/>
          </a:prstGeom>
        </p:spPr>
      </p:pic>
      <p:pic>
        <p:nvPicPr>
          <p:cNvPr id="15" name="SK-9-img-14" descr="preencoded.png"/>
          <p:cNvPicPr>
            <a:picLocks noChangeAspect="1"/>
          </p:cNvPicPr>
          <p:nvPr/>
        </p:nvPicPr>
        <p:blipFill>
          <a:blip r:embed="rId12"/>
          <a:stretch>
            <a:fillRect/>
          </a:stretch>
        </p:blipFill>
        <p:spPr>
          <a:xfrm>
            <a:off x="9097863" y="2043559"/>
            <a:ext cx="19050" cy="617190"/>
          </a:xfrm>
          <a:prstGeom prst="rect">
            <a:avLst/>
          </a:prstGeom>
        </p:spPr>
      </p:pic>
      <p:pic>
        <p:nvPicPr>
          <p:cNvPr id="16" name="SK-9-img-15" descr="preencoded.png"/>
          <p:cNvPicPr>
            <a:picLocks noChangeAspect="1"/>
          </p:cNvPicPr>
          <p:nvPr/>
        </p:nvPicPr>
        <p:blipFill>
          <a:blip r:embed="rId11"/>
          <a:stretch>
            <a:fillRect/>
          </a:stretch>
        </p:blipFill>
        <p:spPr>
          <a:xfrm>
            <a:off x="8192988" y="3017490"/>
            <a:ext cx="3438079" cy="1028700"/>
          </a:xfrm>
          <a:prstGeom prst="rect">
            <a:avLst/>
          </a:prstGeom>
        </p:spPr>
      </p:pic>
      <p:pic>
        <p:nvPicPr>
          <p:cNvPr id="17" name="SK-9-img-16" descr="preencoded.png"/>
          <p:cNvPicPr>
            <a:picLocks noChangeAspect="1"/>
          </p:cNvPicPr>
          <p:nvPr/>
        </p:nvPicPr>
        <p:blipFill>
          <a:blip r:embed="rId13"/>
          <a:stretch>
            <a:fillRect/>
          </a:stretch>
        </p:blipFill>
        <p:spPr>
          <a:xfrm>
            <a:off x="9097863" y="3223171"/>
            <a:ext cx="19050" cy="617190"/>
          </a:xfrm>
          <a:prstGeom prst="rect">
            <a:avLst/>
          </a:prstGeom>
        </p:spPr>
      </p:pic>
      <p:pic>
        <p:nvPicPr>
          <p:cNvPr id="18" name="SK-9-img-17" descr="preencoded.png"/>
          <p:cNvPicPr>
            <a:picLocks noChangeAspect="1"/>
          </p:cNvPicPr>
          <p:nvPr/>
        </p:nvPicPr>
        <p:blipFill>
          <a:blip r:embed="rId14"/>
          <a:stretch>
            <a:fillRect/>
          </a:stretch>
        </p:blipFill>
        <p:spPr>
          <a:xfrm>
            <a:off x="8192988" y="4203948"/>
            <a:ext cx="3438079" cy="1028700"/>
          </a:xfrm>
          <a:prstGeom prst="rect">
            <a:avLst/>
          </a:prstGeom>
        </p:spPr>
      </p:pic>
      <p:pic>
        <p:nvPicPr>
          <p:cNvPr id="19" name="SK-9-img-18" descr="preencoded.png"/>
          <p:cNvPicPr>
            <a:picLocks noChangeAspect="1"/>
          </p:cNvPicPr>
          <p:nvPr/>
        </p:nvPicPr>
        <p:blipFill>
          <a:blip r:embed="rId13"/>
          <a:stretch>
            <a:fillRect/>
          </a:stretch>
        </p:blipFill>
        <p:spPr>
          <a:xfrm>
            <a:off x="9097863" y="4409629"/>
            <a:ext cx="19050" cy="617190"/>
          </a:xfrm>
          <a:prstGeom prst="rect">
            <a:avLst/>
          </a:prstGeom>
        </p:spPr>
      </p:pic>
      <p:pic>
        <p:nvPicPr>
          <p:cNvPr id="20" name="SK-9-img-19" descr="preencoded.png"/>
          <p:cNvPicPr>
            <a:picLocks noChangeAspect="1"/>
          </p:cNvPicPr>
          <p:nvPr/>
        </p:nvPicPr>
        <p:blipFill>
          <a:blip r:embed="rId15"/>
          <a:stretch>
            <a:fillRect/>
          </a:stretch>
        </p:blipFill>
        <p:spPr>
          <a:xfrm>
            <a:off x="426690" y="6172200"/>
            <a:ext cx="11399490" cy="479971"/>
          </a:xfrm>
          <a:prstGeom prst="rect">
            <a:avLst/>
          </a:prstGeom>
        </p:spPr>
      </p:pic>
      <p:pic>
        <p:nvPicPr>
          <p:cNvPr id="21" name="SK-9-img-20" descr="preencoded.png"/>
          <p:cNvPicPr>
            <a:picLocks noChangeAspect="1"/>
          </p:cNvPicPr>
          <p:nvPr/>
        </p:nvPicPr>
        <p:blipFill>
          <a:blip r:embed="rId16"/>
          <a:stretch>
            <a:fillRect/>
          </a:stretch>
        </p:blipFill>
        <p:spPr>
          <a:xfrm>
            <a:off x="10850761" y="68461"/>
            <a:ext cx="1097161" cy="617190"/>
          </a:xfrm>
          <a:prstGeom prst="rect">
            <a:avLst/>
          </a:prstGeom>
        </p:spPr>
      </p:pic>
      <p:pic>
        <p:nvPicPr>
          <p:cNvPr id="22" name="SK-9-img-21" descr="preencoded.png"/>
          <p:cNvPicPr>
            <a:picLocks noChangeAspect="1"/>
          </p:cNvPicPr>
          <p:nvPr/>
        </p:nvPicPr>
        <p:blipFill>
          <a:blip r:embed="rId17"/>
          <a:stretch>
            <a:fillRect/>
          </a:stretch>
        </p:blipFill>
        <p:spPr>
          <a:xfrm>
            <a:off x="11338471" y="205680"/>
            <a:ext cx="853529" cy="617190"/>
          </a:xfrm>
          <a:prstGeom prst="rect">
            <a:avLst/>
          </a:prstGeom>
        </p:spPr>
      </p:pic>
      <p:pic>
        <p:nvPicPr>
          <p:cNvPr id="23" name="SK-9-img-22" descr="preencoded.png"/>
          <p:cNvPicPr>
            <a:picLocks noChangeAspect="1"/>
          </p:cNvPicPr>
          <p:nvPr/>
        </p:nvPicPr>
        <p:blipFill>
          <a:blip r:embed="rId18"/>
          <a:stretch>
            <a:fillRect/>
          </a:stretch>
        </p:blipFill>
        <p:spPr>
          <a:xfrm>
            <a:off x="414486" y="2016175"/>
            <a:ext cx="3803904" cy="1338850"/>
          </a:xfrm>
          <a:prstGeom prst="rect">
            <a:avLst/>
          </a:prstGeom>
        </p:spPr>
      </p:pic>
      <p:pic>
        <p:nvPicPr>
          <p:cNvPr id="24" name="SK-9-img-23" descr="preencoded.png"/>
          <p:cNvPicPr>
            <a:picLocks noChangeAspect="1"/>
          </p:cNvPicPr>
          <p:nvPr/>
        </p:nvPicPr>
        <p:blipFill>
          <a:blip r:embed="rId19"/>
          <a:stretch>
            <a:fillRect/>
          </a:stretch>
        </p:blipFill>
        <p:spPr>
          <a:xfrm>
            <a:off x="414486" y="2016175"/>
            <a:ext cx="1668664" cy="333050"/>
          </a:xfrm>
          <a:prstGeom prst="rect">
            <a:avLst/>
          </a:prstGeom>
        </p:spPr>
      </p:pic>
      <p:pic>
        <p:nvPicPr>
          <p:cNvPr id="25" name="SK-9-img-24" descr="preencoded.png"/>
          <p:cNvPicPr>
            <a:picLocks noChangeAspect="1"/>
          </p:cNvPicPr>
          <p:nvPr/>
        </p:nvPicPr>
        <p:blipFill>
          <a:blip r:embed="rId20"/>
          <a:stretch>
            <a:fillRect/>
          </a:stretch>
        </p:blipFill>
        <p:spPr>
          <a:xfrm>
            <a:off x="2083150" y="2016175"/>
            <a:ext cx="968873" cy="333050"/>
          </a:xfrm>
          <a:prstGeom prst="rect">
            <a:avLst/>
          </a:prstGeom>
        </p:spPr>
      </p:pic>
      <p:pic>
        <p:nvPicPr>
          <p:cNvPr id="26" name="SK-9-img-25" descr="preencoded.png"/>
          <p:cNvPicPr>
            <a:picLocks noChangeAspect="1"/>
          </p:cNvPicPr>
          <p:nvPr/>
        </p:nvPicPr>
        <p:blipFill>
          <a:blip r:embed="rId21"/>
          <a:stretch>
            <a:fillRect/>
          </a:stretch>
        </p:blipFill>
        <p:spPr>
          <a:xfrm>
            <a:off x="3052022" y="2016175"/>
            <a:ext cx="1166368" cy="333050"/>
          </a:xfrm>
          <a:prstGeom prst="rect">
            <a:avLst/>
          </a:prstGeom>
        </p:spPr>
      </p:pic>
      <p:pic>
        <p:nvPicPr>
          <p:cNvPr id="27" name="SK-9-img-26" descr="preencoded.png"/>
          <p:cNvPicPr>
            <a:picLocks noChangeAspect="1"/>
          </p:cNvPicPr>
          <p:nvPr/>
        </p:nvPicPr>
        <p:blipFill>
          <a:blip r:embed="rId22"/>
          <a:stretch>
            <a:fillRect/>
          </a:stretch>
        </p:blipFill>
        <p:spPr>
          <a:xfrm>
            <a:off x="414486" y="2349225"/>
            <a:ext cx="3803904" cy="335218"/>
          </a:xfrm>
          <a:prstGeom prst="rect">
            <a:avLst/>
          </a:prstGeom>
        </p:spPr>
      </p:pic>
      <p:pic>
        <p:nvPicPr>
          <p:cNvPr id="28" name="SK-9-img-27" descr="preencoded.png"/>
          <p:cNvPicPr>
            <a:picLocks noChangeAspect="1"/>
          </p:cNvPicPr>
          <p:nvPr/>
        </p:nvPicPr>
        <p:blipFill>
          <a:blip r:embed="rId23"/>
          <a:stretch>
            <a:fillRect/>
          </a:stretch>
        </p:blipFill>
        <p:spPr>
          <a:xfrm>
            <a:off x="414486" y="2349225"/>
            <a:ext cx="1668664" cy="335218"/>
          </a:xfrm>
          <a:prstGeom prst="rect">
            <a:avLst/>
          </a:prstGeom>
        </p:spPr>
      </p:pic>
      <p:pic>
        <p:nvPicPr>
          <p:cNvPr id="29" name="SK-9-img-28" descr="preencoded.png"/>
          <p:cNvPicPr>
            <a:picLocks noChangeAspect="1"/>
          </p:cNvPicPr>
          <p:nvPr/>
        </p:nvPicPr>
        <p:blipFill>
          <a:blip r:embed="rId24"/>
          <a:stretch>
            <a:fillRect/>
          </a:stretch>
        </p:blipFill>
        <p:spPr>
          <a:xfrm>
            <a:off x="2083150" y="2349225"/>
            <a:ext cx="968873" cy="335218"/>
          </a:xfrm>
          <a:prstGeom prst="rect">
            <a:avLst/>
          </a:prstGeom>
        </p:spPr>
      </p:pic>
      <p:pic>
        <p:nvPicPr>
          <p:cNvPr id="30" name="SK-9-img-29" descr="preencoded.png"/>
          <p:cNvPicPr>
            <a:picLocks noChangeAspect="1"/>
          </p:cNvPicPr>
          <p:nvPr/>
        </p:nvPicPr>
        <p:blipFill>
          <a:blip r:embed="rId25"/>
          <a:stretch>
            <a:fillRect/>
          </a:stretch>
        </p:blipFill>
        <p:spPr>
          <a:xfrm>
            <a:off x="3052022" y="2349225"/>
            <a:ext cx="1166368" cy="335218"/>
          </a:xfrm>
          <a:prstGeom prst="rect">
            <a:avLst/>
          </a:prstGeom>
        </p:spPr>
      </p:pic>
      <p:pic>
        <p:nvPicPr>
          <p:cNvPr id="31" name="SK-9-img-30" descr="preencoded.png"/>
          <p:cNvPicPr>
            <a:picLocks noChangeAspect="1"/>
          </p:cNvPicPr>
          <p:nvPr/>
        </p:nvPicPr>
        <p:blipFill>
          <a:blip r:embed="rId26"/>
          <a:stretch>
            <a:fillRect/>
          </a:stretch>
        </p:blipFill>
        <p:spPr>
          <a:xfrm>
            <a:off x="414486" y="2684443"/>
            <a:ext cx="3803904" cy="335218"/>
          </a:xfrm>
          <a:prstGeom prst="rect">
            <a:avLst/>
          </a:prstGeom>
        </p:spPr>
      </p:pic>
      <p:pic>
        <p:nvPicPr>
          <p:cNvPr id="32" name="SK-9-img-31" descr="preencoded.png"/>
          <p:cNvPicPr>
            <a:picLocks noChangeAspect="1"/>
          </p:cNvPicPr>
          <p:nvPr/>
        </p:nvPicPr>
        <p:blipFill>
          <a:blip r:embed="rId27"/>
          <a:stretch>
            <a:fillRect/>
          </a:stretch>
        </p:blipFill>
        <p:spPr>
          <a:xfrm>
            <a:off x="414486" y="2684443"/>
            <a:ext cx="1668664" cy="335218"/>
          </a:xfrm>
          <a:prstGeom prst="rect">
            <a:avLst/>
          </a:prstGeom>
        </p:spPr>
      </p:pic>
      <p:pic>
        <p:nvPicPr>
          <p:cNvPr id="33" name="SK-9-img-32" descr="preencoded.png"/>
          <p:cNvPicPr>
            <a:picLocks noChangeAspect="1"/>
          </p:cNvPicPr>
          <p:nvPr/>
        </p:nvPicPr>
        <p:blipFill>
          <a:blip r:embed="rId28"/>
          <a:stretch>
            <a:fillRect/>
          </a:stretch>
        </p:blipFill>
        <p:spPr>
          <a:xfrm>
            <a:off x="2083150" y="2684443"/>
            <a:ext cx="968873" cy="335218"/>
          </a:xfrm>
          <a:prstGeom prst="rect">
            <a:avLst/>
          </a:prstGeom>
        </p:spPr>
      </p:pic>
      <p:pic>
        <p:nvPicPr>
          <p:cNvPr id="34" name="SK-9-img-33" descr="preencoded.png"/>
          <p:cNvPicPr>
            <a:picLocks noChangeAspect="1"/>
          </p:cNvPicPr>
          <p:nvPr/>
        </p:nvPicPr>
        <p:blipFill>
          <a:blip r:embed="rId29"/>
          <a:stretch>
            <a:fillRect/>
          </a:stretch>
        </p:blipFill>
        <p:spPr>
          <a:xfrm>
            <a:off x="3052022" y="2684443"/>
            <a:ext cx="1166368" cy="335218"/>
          </a:xfrm>
          <a:prstGeom prst="rect">
            <a:avLst/>
          </a:prstGeom>
        </p:spPr>
      </p:pic>
      <p:pic>
        <p:nvPicPr>
          <p:cNvPr id="35" name="SK-9-img-34" descr="preencoded.png"/>
          <p:cNvPicPr>
            <a:picLocks noChangeAspect="1"/>
          </p:cNvPicPr>
          <p:nvPr/>
        </p:nvPicPr>
        <p:blipFill>
          <a:blip r:embed="rId30"/>
          <a:stretch>
            <a:fillRect/>
          </a:stretch>
        </p:blipFill>
        <p:spPr>
          <a:xfrm>
            <a:off x="414486" y="3019662"/>
            <a:ext cx="3803904" cy="335363"/>
          </a:xfrm>
          <a:prstGeom prst="rect">
            <a:avLst/>
          </a:prstGeom>
        </p:spPr>
      </p:pic>
      <p:pic>
        <p:nvPicPr>
          <p:cNvPr id="36" name="SK-9-img-35" descr="preencoded.png"/>
          <p:cNvPicPr>
            <a:picLocks noChangeAspect="1"/>
          </p:cNvPicPr>
          <p:nvPr/>
        </p:nvPicPr>
        <p:blipFill>
          <a:blip r:embed="rId31"/>
          <a:stretch>
            <a:fillRect/>
          </a:stretch>
        </p:blipFill>
        <p:spPr>
          <a:xfrm>
            <a:off x="414486" y="3019662"/>
            <a:ext cx="1668664" cy="335363"/>
          </a:xfrm>
          <a:prstGeom prst="rect">
            <a:avLst/>
          </a:prstGeom>
        </p:spPr>
      </p:pic>
      <p:pic>
        <p:nvPicPr>
          <p:cNvPr id="37" name="SK-9-img-36" descr="preencoded.png"/>
          <p:cNvPicPr>
            <a:picLocks noChangeAspect="1"/>
          </p:cNvPicPr>
          <p:nvPr/>
        </p:nvPicPr>
        <p:blipFill>
          <a:blip r:embed="rId32"/>
          <a:stretch>
            <a:fillRect/>
          </a:stretch>
        </p:blipFill>
        <p:spPr>
          <a:xfrm>
            <a:off x="2083150" y="3019662"/>
            <a:ext cx="968873" cy="335363"/>
          </a:xfrm>
          <a:prstGeom prst="rect">
            <a:avLst/>
          </a:prstGeom>
        </p:spPr>
      </p:pic>
      <p:pic>
        <p:nvPicPr>
          <p:cNvPr id="38" name="SK-9-img-37" descr="preencoded.png"/>
          <p:cNvPicPr>
            <a:picLocks noChangeAspect="1"/>
          </p:cNvPicPr>
          <p:nvPr/>
        </p:nvPicPr>
        <p:blipFill>
          <a:blip r:embed="rId33"/>
          <a:stretch>
            <a:fillRect/>
          </a:stretch>
        </p:blipFill>
        <p:spPr>
          <a:xfrm>
            <a:off x="3052022" y="3019662"/>
            <a:ext cx="1166368" cy="335363"/>
          </a:xfrm>
          <a:prstGeom prst="rect">
            <a:avLst/>
          </a:prstGeom>
        </p:spPr>
      </p:pic>
      <p:pic>
        <p:nvPicPr>
          <p:cNvPr id="39" name="SK-9-img-38" descr="preencoded.png"/>
          <p:cNvPicPr>
            <a:picLocks noChangeAspect="1"/>
          </p:cNvPicPr>
          <p:nvPr/>
        </p:nvPicPr>
        <p:blipFill>
          <a:blip r:embed="rId34"/>
          <a:stretch>
            <a:fillRect/>
          </a:stretch>
        </p:blipFill>
        <p:spPr>
          <a:xfrm>
            <a:off x="694879" y="6220123"/>
            <a:ext cx="402282" cy="432048"/>
          </a:xfrm>
          <a:prstGeom prst="rect">
            <a:avLst/>
          </a:prstGeom>
        </p:spPr>
      </p:pic>
      <p:pic>
        <p:nvPicPr>
          <p:cNvPr id="40" name="SK-9-img-39" descr="preencoded.png"/>
          <p:cNvPicPr>
            <a:picLocks noChangeAspect="1"/>
          </p:cNvPicPr>
          <p:nvPr/>
        </p:nvPicPr>
        <p:blipFill>
          <a:blip r:embed="rId35"/>
          <a:stretch>
            <a:fillRect/>
          </a:stretch>
        </p:blipFill>
        <p:spPr>
          <a:xfrm>
            <a:off x="8375898" y="4430167"/>
            <a:ext cx="572988" cy="603498"/>
          </a:xfrm>
          <a:prstGeom prst="rect">
            <a:avLst/>
          </a:prstGeom>
        </p:spPr>
      </p:pic>
      <p:pic>
        <p:nvPicPr>
          <p:cNvPr id="41" name="SK-9-img-40" descr="preencoded.png"/>
          <p:cNvPicPr>
            <a:picLocks noChangeAspect="1"/>
          </p:cNvPicPr>
          <p:nvPr/>
        </p:nvPicPr>
        <p:blipFill>
          <a:blip r:embed="rId36"/>
          <a:stretch>
            <a:fillRect/>
          </a:stretch>
        </p:blipFill>
        <p:spPr>
          <a:xfrm>
            <a:off x="8375898" y="3271242"/>
            <a:ext cx="536377" cy="548580"/>
          </a:xfrm>
          <a:prstGeom prst="rect">
            <a:avLst/>
          </a:prstGeom>
        </p:spPr>
      </p:pic>
      <p:pic>
        <p:nvPicPr>
          <p:cNvPr id="42" name="SK-9-img-41" descr="preencoded.png"/>
          <p:cNvPicPr>
            <a:picLocks noChangeAspect="1"/>
          </p:cNvPicPr>
          <p:nvPr/>
        </p:nvPicPr>
        <p:blipFill>
          <a:blip r:embed="rId37"/>
          <a:stretch>
            <a:fillRect/>
          </a:stretch>
        </p:blipFill>
        <p:spPr>
          <a:xfrm>
            <a:off x="8363694" y="2071092"/>
            <a:ext cx="609600" cy="582811"/>
          </a:xfrm>
          <a:prstGeom prst="rect">
            <a:avLst/>
          </a:prstGeom>
        </p:spPr>
      </p:pic>
      <p:pic>
        <p:nvPicPr>
          <p:cNvPr id="43" name="SK-9-img-42" descr="preencoded.png"/>
          <p:cNvPicPr>
            <a:picLocks noChangeAspect="1"/>
          </p:cNvPicPr>
          <p:nvPr/>
        </p:nvPicPr>
        <p:blipFill>
          <a:blip r:embed="rId38"/>
          <a:stretch>
            <a:fillRect/>
          </a:stretch>
        </p:blipFill>
        <p:spPr>
          <a:xfrm>
            <a:off x="4681686" y="4423321"/>
            <a:ext cx="572988" cy="589657"/>
          </a:xfrm>
          <a:prstGeom prst="rect">
            <a:avLst/>
          </a:prstGeom>
        </p:spPr>
      </p:pic>
      <p:pic>
        <p:nvPicPr>
          <p:cNvPr id="44" name="SK-9-img-43" descr="preencoded.png"/>
          <p:cNvPicPr>
            <a:picLocks noChangeAspect="1"/>
          </p:cNvPicPr>
          <p:nvPr/>
        </p:nvPicPr>
        <p:blipFill>
          <a:blip r:embed="rId39"/>
          <a:stretch>
            <a:fillRect/>
          </a:stretch>
        </p:blipFill>
        <p:spPr>
          <a:xfrm>
            <a:off x="4657279" y="3236863"/>
            <a:ext cx="633859" cy="617190"/>
          </a:xfrm>
          <a:prstGeom prst="rect">
            <a:avLst/>
          </a:prstGeom>
        </p:spPr>
      </p:pic>
      <p:pic>
        <p:nvPicPr>
          <p:cNvPr id="45" name="SK-9-img-44" descr="preencoded.png"/>
          <p:cNvPicPr>
            <a:picLocks noChangeAspect="1"/>
          </p:cNvPicPr>
          <p:nvPr/>
        </p:nvPicPr>
        <p:blipFill>
          <a:blip r:embed="rId40"/>
          <a:stretch>
            <a:fillRect/>
          </a:stretch>
        </p:blipFill>
        <p:spPr>
          <a:xfrm>
            <a:off x="4669482" y="2132707"/>
            <a:ext cx="609600" cy="459432"/>
          </a:xfrm>
          <a:prstGeom prst="rect">
            <a:avLst/>
          </a:prstGeom>
        </p:spPr>
      </p:pic>
      <p:pic>
        <p:nvPicPr>
          <p:cNvPr id="46" name="SK-9-img-45" descr="preencoded.png"/>
          <p:cNvPicPr>
            <a:picLocks noChangeAspect="1"/>
          </p:cNvPicPr>
          <p:nvPr/>
        </p:nvPicPr>
        <p:blipFill>
          <a:blip r:embed="rId41"/>
          <a:stretch>
            <a:fillRect/>
          </a:stretch>
        </p:blipFill>
        <p:spPr>
          <a:xfrm>
            <a:off x="609600" y="4203948"/>
            <a:ext cx="3425875" cy="1584127"/>
          </a:xfrm>
          <a:prstGeom prst="rect">
            <a:avLst/>
          </a:prstGeom>
        </p:spPr>
      </p:pic>
      <p:sp>
        <p:nvSpPr>
          <p:cNvPr id="47" name="SK-9-text-46"/>
          <p:cNvSpPr/>
          <p:nvPr/>
        </p:nvSpPr>
        <p:spPr>
          <a:xfrm>
            <a:off x="376386" y="2016175"/>
            <a:ext cx="1744864" cy="333050"/>
          </a:xfrm>
          <a:prstGeom prst="rect">
            <a:avLst/>
          </a:prstGeom>
          <a:noFill/>
          <a:ln/>
        </p:spPr>
        <p:txBody>
          <a:bodyPr vert="horz" wrap="square" lIns="0" tIns="0" rIns="0" bIns="0" rtlCol="0" anchor="ctr"/>
          <a:lstStyle/>
          <a:p>
            <a:pPr marL="0" indent="0" algn="ctr">
              <a:buNone/>
            </a:pPr>
            <a:r>
              <a:rPr lang="en-US" sz="1163" b="1" dirty="0">
                <a:solidFill>
                  <a:srgbClr val="1A4D44"/>
                </a:solidFill>
                <a:latin typeface="Times New Roman" panose="02020603050405020304" pitchFamily="18" charset="0"/>
                <a:cs typeface="Times New Roman" panose="02020603050405020304" pitchFamily="18" charset="0"/>
              </a:rPr>
              <a:t>Metrică</a:t>
            </a:r>
            <a:endParaRPr lang="en-US" sz="1163" dirty="0">
              <a:latin typeface="Times New Roman" panose="02020603050405020304" pitchFamily="18" charset="0"/>
              <a:cs typeface="Times New Roman" panose="02020603050405020304" pitchFamily="18" charset="0"/>
            </a:endParaRPr>
          </a:p>
        </p:txBody>
      </p:sp>
      <p:sp>
        <p:nvSpPr>
          <p:cNvPr id="48" name="SK-9-text-47"/>
          <p:cNvSpPr/>
          <p:nvPr/>
        </p:nvSpPr>
        <p:spPr>
          <a:xfrm>
            <a:off x="2045050" y="2016175"/>
            <a:ext cx="1045073" cy="333050"/>
          </a:xfrm>
          <a:prstGeom prst="rect">
            <a:avLst/>
          </a:prstGeom>
          <a:noFill/>
          <a:ln/>
        </p:spPr>
        <p:txBody>
          <a:bodyPr vert="horz" wrap="square" lIns="0" tIns="0" rIns="0" bIns="0" rtlCol="0" anchor="ctr"/>
          <a:lstStyle/>
          <a:p>
            <a:pPr marL="0" indent="0" algn="ctr">
              <a:buNone/>
            </a:pPr>
            <a:r>
              <a:rPr lang="en-US" sz="1163" b="1" dirty="0">
                <a:solidFill>
                  <a:srgbClr val="1A4D44"/>
                </a:solidFill>
                <a:latin typeface="Times New Roman" panose="02020603050405020304" pitchFamily="18" charset="0"/>
                <a:cs typeface="Times New Roman" panose="02020603050405020304" pitchFamily="18" charset="0"/>
              </a:rPr>
              <a:t>Original</a:t>
            </a:r>
            <a:endParaRPr lang="en-US" sz="1163" dirty="0">
              <a:latin typeface="Times New Roman" panose="02020603050405020304" pitchFamily="18" charset="0"/>
              <a:cs typeface="Times New Roman" panose="02020603050405020304" pitchFamily="18" charset="0"/>
            </a:endParaRPr>
          </a:p>
        </p:txBody>
      </p:sp>
      <p:sp>
        <p:nvSpPr>
          <p:cNvPr id="49" name="SK-9-text-48"/>
          <p:cNvSpPr/>
          <p:nvPr/>
        </p:nvSpPr>
        <p:spPr>
          <a:xfrm>
            <a:off x="3013922" y="2016175"/>
            <a:ext cx="1242568" cy="333050"/>
          </a:xfrm>
          <a:prstGeom prst="rect">
            <a:avLst/>
          </a:prstGeom>
          <a:noFill/>
          <a:ln/>
        </p:spPr>
        <p:txBody>
          <a:bodyPr vert="horz" wrap="square" lIns="0" tIns="0" rIns="0" bIns="0" rtlCol="0" anchor="ctr"/>
          <a:lstStyle/>
          <a:p>
            <a:pPr marL="0" indent="0" algn="ctr">
              <a:buNone/>
            </a:pPr>
            <a:r>
              <a:rPr lang="en-US" sz="1163" b="1" dirty="0">
                <a:solidFill>
                  <a:srgbClr val="1A4D44"/>
                </a:solidFill>
                <a:latin typeface="Times New Roman" panose="02020603050405020304" pitchFamily="18" charset="0"/>
                <a:cs typeface="Times New Roman" panose="02020603050405020304" pitchFamily="18" charset="0"/>
              </a:rPr>
              <a:t>Replicare</a:t>
            </a:r>
            <a:endParaRPr lang="en-US" sz="1163" dirty="0">
              <a:latin typeface="Times New Roman" panose="02020603050405020304" pitchFamily="18" charset="0"/>
              <a:cs typeface="Times New Roman" panose="02020603050405020304" pitchFamily="18" charset="0"/>
            </a:endParaRPr>
          </a:p>
        </p:txBody>
      </p:sp>
      <p:sp>
        <p:nvSpPr>
          <p:cNvPr id="50" name="SK-9-text-49"/>
          <p:cNvSpPr/>
          <p:nvPr/>
        </p:nvSpPr>
        <p:spPr>
          <a:xfrm>
            <a:off x="376386" y="2349225"/>
            <a:ext cx="1744864" cy="335218"/>
          </a:xfrm>
          <a:prstGeom prst="rect">
            <a:avLst/>
          </a:prstGeom>
          <a:noFill/>
          <a:ln/>
        </p:spPr>
        <p:txBody>
          <a:bodyPr vert="horz" wrap="square" lIns="0" tIns="0" rIns="0" bIns="0" rtlCol="0" anchor="ctr"/>
          <a:lstStyle/>
          <a:p>
            <a:pPr marL="0" indent="0" algn="ctr">
              <a:buNone/>
            </a:pPr>
            <a:r>
              <a:rPr lang="en-US" sz="1163" b="1" dirty="0">
                <a:solidFill>
                  <a:srgbClr val="0B1D31"/>
                </a:solidFill>
                <a:latin typeface="Times New Roman" panose="02020603050405020304" pitchFamily="18" charset="0"/>
                <a:cs typeface="Times New Roman" panose="02020603050405020304" pitchFamily="18" charset="0"/>
              </a:rPr>
              <a:t>AUC Ped2</a:t>
            </a:r>
            <a:endParaRPr lang="en-US" sz="1163" dirty="0">
              <a:latin typeface="Times New Roman" panose="02020603050405020304" pitchFamily="18" charset="0"/>
              <a:cs typeface="Times New Roman" panose="02020603050405020304" pitchFamily="18" charset="0"/>
            </a:endParaRPr>
          </a:p>
        </p:txBody>
      </p:sp>
      <p:sp>
        <p:nvSpPr>
          <p:cNvPr id="51" name="SK-9-text-50"/>
          <p:cNvSpPr/>
          <p:nvPr/>
        </p:nvSpPr>
        <p:spPr>
          <a:xfrm>
            <a:off x="2045050" y="2349225"/>
            <a:ext cx="1045073" cy="335218"/>
          </a:xfrm>
          <a:prstGeom prst="rect">
            <a:avLst/>
          </a:prstGeom>
          <a:noFill/>
          <a:ln/>
        </p:spPr>
        <p:txBody>
          <a:bodyPr vert="horz" wrap="square" lIns="0" tIns="0" rIns="0" bIns="0" rtlCol="0" anchor="ctr"/>
          <a:lstStyle/>
          <a:p>
            <a:pPr marL="0" indent="0" algn="ctr">
              <a:buNone/>
            </a:pPr>
            <a:r>
              <a:rPr lang="en-US" sz="1163" b="1" dirty="0">
                <a:solidFill>
                  <a:srgbClr val="0B1D31"/>
                </a:solidFill>
                <a:latin typeface="Times New Roman" panose="02020603050405020304" pitchFamily="18" charset="0"/>
                <a:cs typeface="Times New Roman" panose="02020603050405020304" pitchFamily="18" charset="0"/>
              </a:rPr>
              <a:t>0.9410</a:t>
            </a:r>
            <a:endParaRPr lang="en-US" sz="1163" dirty="0">
              <a:latin typeface="Times New Roman" panose="02020603050405020304" pitchFamily="18" charset="0"/>
              <a:cs typeface="Times New Roman" panose="02020603050405020304" pitchFamily="18" charset="0"/>
            </a:endParaRPr>
          </a:p>
        </p:txBody>
      </p:sp>
      <p:sp>
        <p:nvSpPr>
          <p:cNvPr id="52" name="SK-9-text-51"/>
          <p:cNvSpPr/>
          <p:nvPr/>
        </p:nvSpPr>
        <p:spPr>
          <a:xfrm>
            <a:off x="3013922" y="2349225"/>
            <a:ext cx="1242568" cy="335218"/>
          </a:xfrm>
          <a:prstGeom prst="rect">
            <a:avLst/>
          </a:prstGeom>
          <a:noFill/>
          <a:ln/>
        </p:spPr>
        <p:txBody>
          <a:bodyPr vert="horz" wrap="square" lIns="0" tIns="0" rIns="0" bIns="0" rtlCol="0" anchor="ctr"/>
          <a:lstStyle/>
          <a:p>
            <a:pPr marL="0" indent="0" algn="ctr">
              <a:buNone/>
            </a:pPr>
            <a:r>
              <a:rPr lang="en-US" sz="1163" b="1" dirty="0">
                <a:solidFill>
                  <a:srgbClr val="0B1D31"/>
                </a:solidFill>
                <a:latin typeface="Times New Roman" panose="02020603050405020304" pitchFamily="18" charset="0"/>
                <a:cs typeface="Times New Roman" panose="02020603050405020304" pitchFamily="18" charset="0"/>
              </a:rPr>
              <a:t>~0.935</a:t>
            </a:r>
            <a:endParaRPr lang="en-US" sz="1163" dirty="0">
              <a:latin typeface="Times New Roman" panose="02020603050405020304" pitchFamily="18" charset="0"/>
              <a:cs typeface="Times New Roman" panose="02020603050405020304" pitchFamily="18" charset="0"/>
            </a:endParaRPr>
          </a:p>
        </p:txBody>
      </p:sp>
      <p:sp>
        <p:nvSpPr>
          <p:cNvPr id="53" name="SK-9-text-52"/>
          <p:cNvSpPr/>
          <p:nvPr/>
        </p:nvSpPr>
        <p:spPr>
          <a:xfrm>
            <a:off x="376386" y="2684443"/>
            <a:ext cx="1744864" cy="335218"/>
          </a:xfrm>
          <a:prstGeom prst="rect">
            <a:avLst/>
          </a:prstGeom>
          <a:noFill/>
          <a:ln/>
        </p:spPr>
        <p:txBody>
          <a:bodyPr vert="horz" wrap="square" lIns="0" tIns="0" rIns="0" bIns="0" rtlCol="0" anchor="ctr"/>
          <a:lstStyle/>
          <a:p>
            <a:pPr marL="0" indent="0" algn="ctr">
              <a:buNone/>
            </a:pPr>
            <a:r>
              <a:rPr lang="en-US" sz="1163" b="1" dirty="0">
                <a:solidFill>
                  <a:srgbClr val="0B1D31"/>
                </a:solidFill>
                <a:latin typeface="Times New Roman" panose="02020603050405020304" pitchFamily="18" charset="0"/>
                <a:cs typeface="Times New Roman" panose="02020603050405020304" pitchFamily="18" charset="0"/>
              </a:rPr>
              <a:t>FPS inferență</a:t>
            </a:r>
            <a:endParaRPr lang="en-US" sz="1163" dirty="0">
              <a:latin typeface="Times New Roman" panose="02020603050405020304" pitchFamily="18" charset="0"/>
              <a:cs typeface="Times New Roman" panose="02020603050405020304" pitchFamily="18" charset="0"/>
            </a:endParaRPr>
          </a:p>
        </p:txBody>
      </p:sp>
      <p:sp>
        <p:nvSpPr>
          <p:cNvPr id="54" name="SK-9-text-53"/>
          <p:cNvSpPr/>
          <p:nvPr/>
        </p:nvSpPr>
        <p:spPr>
          <a:xfrm>
            <a:off x="2045050" y="2684443"/>
            <a:ext cx="1045073" cy="335218"/>
          </a:xfrm>
          <a:prstGeom prst="rect">
            <a:avLst/>
          </a:prstGeom>
          <a:noFill/>
          <a:ln/>
        </p:spPr>
        <p:txBody>
          <a:bodyPr vert="horz" wrap="square" lIns="0" tIns="0" rIns="0" bIns="0" rtlCol="0" anchor="ctr"/>
          <a:lstStyle/>
          <a:p>
            <a:pPr marL="0" indent="0" algn="ctr">
              <a:buNone/>
            </a:pPr>
            <a:r>
              <a:rPr lang="en-US" sz="1163" b="1" dirty="0">
                <a:solidFill>
                  <a:srgbClr val="0B1D31"/>
                </a:solidFill>
                <a:latin typeface="Times New Roman" panose="02020603050405020304" pitchFamily="18" charset="0"/>
                <a:cs typeface="Times New Roman" panose="02020603050405020304" pitchFamily="18" charset="0"/>
              </a:rPr>
              <a:t>38</a:t>
            </a:r>
            <a:endParaRPr lang="en-US" sz="1163" dirty="0">
              <a:latin typeface="Times New Roman" panose="02020603050405020304" pitchFamily="18" charset="0"/>
              <a:cs typeface="Times New Roman" panose="02020603050405020304" pitchFamily="18" charset="0"/>
            </a:endParaRPr>
          </a:p>
        </p:txBody>
      </p:sp>
      <p:sp>
        <p:nvSpPr>
          <p:cNvPr id="55" name="SK-9-text-54"/>
          <p:cNvSpPr/>
          <p:nvPr/>
        </p:nvSpPr>
        <p:spPr>
          <a:xfrm>
            <a:off x="3013922" y="2684443"/>
            <a:ext cx="1242568" cy="335218"/>
          </a:xfrm>
          <a:prstGeom prst="rect">
            <a:avLst/>
          </a:prstGeom>
          <a:noFill/>
          <a:ln/>
        </p:spPr>
        <p:txBody>
          <a:bodyPr vert="horz" wrap="square" lIns="0" tIns="0" rIns="0" bIns="0" rtlCol="0" anchor="ctr"/>
          <a:lstStyle/>
          <a:p>
            <a:pPr marL="0" indent="0" algn="ctr">
              <a:buNone/>
            </a:pPr>
            <a:r>
              <a:rPr lang="en-US" sz="1163" b="1" dirty="0">
                <a:solidFill>
                  <a:srgbClr val="0B1D31"/>
                </a:solidFill>
                <a:latin typeface="Times New Roman" panose="02020603050405020304" pitchFamily="18" charset="0"/>
                <a:cs typeface="Times New Roman" panose="02020603050405020304" pitchFamily="18" charset="0"/>
              </a:rPr>
              <a:t>35–40</a:t>
            </a:r>
            <a:endParaRPr lang="en-US" sz="1163" dirty="0">
              <a:latin typeface="Times New Roman" panose="02020603050405020304" pitchFamily="18" charset="0"/>
              <a:cs typeface="Times New Roman" panose="02020603050405020304" pitchFamily="18" charset="0"/>
            </a:endParaRPr>
          </a:p>
        </p:txBody>
      </p:sp>
      <p:sp>
        <p:nvSpPr>
          <p:cNvPr id="56" name="SK-9-text-55"/>
          <p:cNvSpPr/>
          <p:nvPr/>
        </p:nvSpPr>
        <p:spPr>
          <a:xfrm>
            <a:off x="376386" y="3019662"/>
            <a:ext cx="1744864" cy="335363"/>
          </a:xfrm>
          <a:prstGeom prst="rect">
            <a:avLst/>
          </a:prstGeom>
          <a:noFill/>
          <a:ln/>
        </p:spPr>
        <p:txBody>
          <a:bodyPr vert="horz" wrap="square" lIns="0" tIns="0" rIns="0" bIns="0" rtlCol="0" anchor="ctr"/>
          <a:lstStyle/>
          <a:p>
            <a:pPr marL="0" indent="0" algn="ctr">
              <a:buNone/>
            </a:pPr>
            <a:r>
              <a:rPr lang="en-US" sz="1163" b="1" dirty="0">
                <a:solidFill>
                  <a:srgbClr val="0B1D31"/>
                </a:solidFill>
                <a:latin typeface="Times New Roman" panose="02020603050405020304" pitchFamily="18" charset="0"/>
                <a:cs typeface="Times New Roman" panose="02020603050405020304" pitchFamily="18" charset="0"/>
              </a:rPr>
              <a:t>AUC Avenue</a:t>
            </a:r>
            <a:endParaRPr lang="en-US" sz="1163" dirty="0">
              <a:latin typeface="Times New Roman" panose="02020603050405020304" pitchFamily="18" charset="0"/>
              <a:cs typeface="Times New Roman" panose="02020603050405020304" pitchFamily="18" charset="0"/>
            </a:endParaRPr>
          </a:p>
        </p:txBody>
      </p:sp>
      <p:sp>
        <p:nvSpPr>
          <p:cNvPr id="57" name="SK-9-text-56"/>
          <p:cNvSpPr/>
          <p:nvPr/>
        </p:nvSpPr>
        <p:spPr>
          <a:xfrm>
            <a:off x="2045050" y="3019662"/>
            <a:ext cx="1045073" cy="335363"/>
          </a:xfrm>
          <a:prstGeom prst="rect">
            <a:avLst/>
          </a:prstGeom>
          <a:noFill/>
          <a:ln/>
        </p:spPr>
        <p:txBody>
          <a:bodyPr vert="horz" wrap="square" lIns="0" tIns="0" rIns="0" bIns="0" rtlCol="0" anchor="ctr"/>
          <a:lstStyle/>
          <a:p>
            <a:pPr marL="0" indent="0" algn="ctr">
              <a:buNone/>
            </a:pPr>
            <a:r>
              <a:rPr lang="en-US" sz="1163" b="1" dirty="0">
                <a:solidFill>
                  <a:srgbClr val="1A4D44"/>
                </a:solidFill>
                <a:latin typeface="Times New Roman" panose="02020603050405020304" pitchFamily="18" charset="0"/>
                <a:cs typeface="Times New Roman" panose="02020603050405020304" pitchFamily="18" charset="0"/>
              </a:rPr>
              <a:t>0.833</a:t>
            </a:r>
            <a:endParaRPr lang="en-US" sz="1163" dirty="0">
              <a:latin typeface="Times New Roman" panose="02020603050405020304" pitchFamily="18" charset="0"/>
              <a:cs typeface="Times New Roman" panose="02020603050405020304" pitchFamily="18" charset="0"/>
            </a:endParaRPr>
          </a:p>
        </p:txBody>
      </p:sp>
      <p:sp>
        <p:nvSpPr>
          <p:cNvPr id="58" name="SK-9-text-57"/>
          <p:cNvSpPr/>
          <p:nvPr/>
        </p:nvSpPr>
        <p:spPr>
          <a:xfrm>
            <a:off x="3013922" y="3019662"/>
            <a:ext cx="1242568" cy="335363"/>
          </a:xfrm>
          <a:prstGeom prst="rect">
            <a:avLst/>
          </a:prstGeom>
          <a:noFill/>
          <a:ln/>
        </p:spPr>
        <p:txBody>
          <a:bodyPr vert="horz" wrap="square" lIns="0" tIns="0" rIns="0" bIns="0" rtlCol="0" anchor="ctr"/>
          <a:lstStyle/>
          <a:p>
            <a:pPr marL="0" indent="0" algn="ctr">
              <a:buNone/>
            </a:pPr>
            <a:r>
              <a:rPr lang="en-US" sz="1163" b="1" dirty="0">
                <a:solidFill>
                  <a:srgbClr val="0B1D31"/>
                </a:solidFill>
                <a:latin typeface="Times New Roman" panose="02020603050405020304" pitchFamily="18" charset="0"/>
                <a:cs typeface="Times New Roman" panose="02020603050405020304" pitchFamily="18" charset="0"/>
              </a:rPr>
              <a:t>~0.825</a:t>
            </a:r>
            <a:endParaRPr lang="en-US" sz="1163" dirty="0">
              <a:latin typeface="Times New Roman" panose="02020603050405020304" pitchFamily="18" charset="0"/>
              <a:cs typeface="Times New Roman" panose="02020603050405020304" pitchFamily="18" charset="0"/>
            </a:endParaRPr>
          </a:p>
        </p:txBody>
      </p:sp>
      <p:sp>
        <p:nvSpPr>
          <p:cNvPr id="59" name="SK-9-text-58"/>
          <p:cNvSpPr/>
          <p:nvPr/>
        </p:nvSpPr>
        <p:spPr>
          <a:xfrm>
            <a:off x="402282" y="267444"/>
            <a:ext cx="2305050" cy="171450"/>
          </a:xfrm>
          <a:prstGeom prst="rect">
            <a:avLst/>
          </a:prstGeom>
          <a:noFill/>
          <a:ln/>
        </p:spPr>
        <p:txBody>
          <a:bodyPr vert="horz" wrap="none" lIns="0" tIns="0" rIns="0" bIns="0" rtlCol="0" anchor="ctr"/>
          <a:lstStyle/>
          <a:p>
            <a:pPr marL="0" indent="0" algn="l">
              <a:buNone/>
            </a:pPr>
            <a:r>
              <a:rPr lang="en-US" sz="1500" dirty="0">
                <a:solidFill>
                  <a:srgbClr val="999999"/>
                </a:solidFill>
                <a:latin typeface="Times New Roman" panose="02020603050405020304" pitchFamily="18" charset="0"/>
                <a:ea typeface="Roboto" pitchFamily="34" charset="-122"/>
                <a:cs typeface="Times New Roman" panose="02020603050405020304" pitchFamily="18" charset="0"/>
              </a:rPr>
              <a:t>10 / 11</a:t>
            </a:r>
            <a:endParaRPr lang="en-US" sz="1500" dirty="0">
              <a:latin typeface="Times New Roman" panose="02020603050405020304" pitchFamily="18" charset="0"/>
              <a:cs typeface="Times New Roman" panose="02020603050405020304" pitchFamily="18" charset="0"/>
            </a:endParaRPr>
          </a:p>
        </p:txBody>
      </p:sp>
      <p:sp>
        <p:nvSpPr>
          <p:cNvPr id="60" name="SK-9-text-59"/>
          <p:cNvSpPr/>
          <p:nvPr/>
        </p:nvSpPr>
        <p:spPr>
          <a:xfrm>
            <a:off x="390079" y="569119"/>
            <a:ext cx="11801921" cy="349746"/>
          </a:xfrm>
          <a:prstGeom prst="rect">
            <a:avLst/>
          </a:prstGeom>
          <a:noFill/>
          <a:ln/>
        </p:spPr>
        <p:txBody>
          <a:bodyPr vert="horz" wrap="none" lIns="0" tIns="0" rIns="0" bIns="0" rtlCol="0" anchor="ctr"/>
          <a:lstStyle/>
          <a:p>
            <a:pPr marL="0" indent="0" algn="l">
              <a:buNone/>
            </a:pPr>
            <a:r>
              <a:rPr lang="en-US" sz="3000" b="1" dirty="0">
                <a:solidFill>
                  <a:srgbClr val="0D2137"/>
                </a:solidFill>
                <a:latin typeface="Times New Roman" panose="02020603050405020304" pitchFamily="18" charset="0"/>
                <a:ea typeface="Roboto" pitchFamily="34" charset="-122"/>
                <a:cs typeface="Times New Roman" panose="02020603050405020304" pitchFamily="18" charset="0"/>
              </a:rPr>
              <a:t>Replicarea Codului și Analiza FP &amp; FN</a:t>
            </a:r>
            <a:endParaRPr lang="en-US" sz="3000" dirty="0">
              <a:latin typeface="Times New Roman" panose="02020603050405020304" pitchFamily="18" charset="0"/>
              <a:cs typeface="Times New Roman" panose="02020603050405020304" pitchFamily="18" charset="0"/>
            </a:endParaRPr>
          </a:p>
        </p:txBody>
      </p:sp>
      <p:sp>
        <p:nvSpPr>
          <p:cNvPr id="61" name="SK-9-text-60"/>
          <p:cNvSpPr/>
          <p:nvPr/>
        </p:nvSpPr>
        <p:spPr>
          <a:xfrm>
            <a:off x="1389757" y="1378446"/>
            <a:ext cx="4543425" cy="198834"/>
          </a:xfrm>
          <a:prstGeom prst="rect">
            <a:avLst/>
          </a:prstGeom>
          <a:noFill/>
          <a:ln/>
        </p:spPr>
        <p:txBody>
          <a:bodyPr vert="horz" wrap="none" lIns="0" tIns="0" rIns="0" bIns="0" rtlCol="0" anchor="ctr"/>
          <a:lstStyle/>
          <a:p>
            <a:pPr marL="0" indent="0" algn="l">
              <a:buNone/>
            </a:pPr>
            <a:r>
              <a:rPr lang="en-US" sz="1350" b="1" dirty="0">
                <a:solidFill>
                  <a:srgbClr val="FFFFFF"/>
                </a:solidFill>
                <a:latin typeface="Times New Roman" panose="02020603050405020304" pitchFamily="18" charset="0"/>
                <a:ea typeface="Roboto" pitchFamily="34" charset="-122"/>
                <a:cs typeface="Times New Roman" panose="02020603050405020304" pitchFamily="18" charset="0"/>
              </a:rPr>
              <a:t>Replicare · UCSD-Ped2</a:t>
            </a:r>
            <a:endParaRPr lang="en-US" sz="1350" dirty="0">
              <a:latin typeface="Times New Roman" panose="02020603050405020304" pitchFamily="18" charset="0"/>
              <a:cs typeface="Times New Roman" panose="02020603050405020304" pitchFamily="18" charset="0"/>
            </a:endParaRPr>
          </a:p>
        </p:txBody>
      </p:sp>
      <p:sp>
        <p:nvSpPr>
          <p:cNvPr id="62" name="SK-9-text-61"/>
          <p:cNvSpPr/>
          <p:nvPr/>
        </p:nvSpPr>
        <p:spPr>
          <a:xfrm>
            <a:off x="1511796" y="1762423"/>
            <a:ext cx="3333750" cy="157609"/>
          </a:xfrm>
          <a:prstGeom prst="rect">
            <a:avLst/>
          </a:prstGeom>
          <a:noFill/>
          <a:ln/>
        </p:spPr>
        <p:txBody>
          <a:bodyPr vert="horz" wrap="none" lIns="0" tIns="0" rIns="0" bIns="0" rtlCol="0" anchor="ctr"/>
          <a:lstStyle/>
          <a:p>
            <a:pPr marL="0" indent="0" algn="l">
              <a:buNone/>
            </a:pPr>
            <a:r>
              <a:rPr lang="en-US" sz="1125" b="1" dirty="0">
                <a:solidFill>
                  <a:srgbClr val="4DB6AC"/>
                </a:solidFill>
                <a:latin typeface="Times New Roman" panose="02020603050405020304" pitchFamily="18" charset="0"/>
                <a:ea typeface="Roboto" pitchFamily="34" charset="-122"/>
                <a:cs typeface="Times New Roman" panose="02020603050405020304" pitchFamily="18" charset="0"/>
              </a:rPr>
              <a:t>REZULTATE REPLICATE</a:t>
            </a:r>
            <a:endParaRPr lang="en-US" sz="1125" dirty="0">
              <a:latin typeface="Times New Roman" panose="02020603050405020304" pitchFamily="18" charset="0"/>
              <a:cs typeface="Times New Roman" panose="02020603050405020304" pitchFamily="18" charset="0"/>
            </a:endParaRPr>
          </a:p>
        </p:txBody>
      </p:sp>
      <p:sp>
        <p:nvSpPr>
          <p:cNvPr id="63" name="SK-9-text-62"/>
          <p:cNvSpPr/>
          <p:nvPr/>
        </p:nvSpPr>
        <p:spPr>
          <a:xfrm>
            <a:off x="414486" y="3490615"/>
            <a:ext cx="8934450" cy="164455"/>
          </a:xfrm>
          <a:prstGeom prst="rect">
            <a:avLst/>
          </a:prstGeom>
          <a:noFill/>
          <a:ln/>
        </p:spPr>
        <p:txBody>
          <a:bodyPr vert="horz" wrap="none" lIns="0" tIns="0" rIns="0" bIns="0" rtlCol="0" anchor="ctr"/>
          <a:lstStyle/>
          <a:p>
            <a:pPr marL="0" indent="0" algn="l">
              <a:buNone/>
            </a:pPr>
            <a:r>
              <a:rPr lang="en-US" sz="1125" dirty="0">
                <a:solidFill>
                  <a:srgbClr val="333333"/>
                </a:solidFill>
                <a:latin typeface="Times New Roman" panose="02020603050405020304" pitchFamily="18" charset="0"/>
                <a:ea typeface="Roboto" pitchFamily="34" charset="-122"/>
                <a:cs typeface="Times New Roman" panose="02020603050405020304" pitchFamily="18" charset="0"/>
              </a:rPr>
              <a:t>— N=2000 esențial; N=100 → AUC scade la ~0.89</a:t>
            </a:r>
            <a:endParaRPr lang="en-US" sz="1125" dirty="0">
              <a:latin typeface="Times New Roman" panose="02020603050405020304" pitchFamily="18" charset="0"/>
              <a:cs typeface="Times New Roman" panose="02020603050405020304" pitchFamily="18" charset="0"/>
            </a:endParaRPr>
          </a:p>
        </p:txBody>
      </p:sp>
      <p:sp>
        <p:nvSpPr>
          <p:cNvPr id="64" name="SK-9-text-63"/>
          <p:cNvSpPr/>
          <p:nvPr/>
        </p:nvSpPr>
        <p:spPr>
          <a:xfrm>
            <a:off x="414486" y="3716982"/>
            <a:ext cx="5734050" cy="157609"/>
          </a:xfrm>
          <a:prstGeom prst="rect">
            <a:avLst/>
          </a:prstGeom>
          <a:noFill/>
          <a:ln/>
        </p:spPr>
        <p:txBody>
          <a:bodyPr vert="horz" wrap="none" lIns="0" tIns="0" rIns="0" bIns="0" rtlCol="0" anchor="ctr"/>
          <a:lstStyle/>
          <a:p>
            <a:pPr marL="0" indent="0" algn="l">
              <a:buNone/>
            </a:pPr>
            <a:r>
              <a:rPr lang="en-US" sz="1125" dirty="0">
                <a:solidFill>
                  <a:srgbClr val="333333"/>
                </a:solidFill>
                <a:latin typeface="Times New Roman" panose="02020603050405020304" pitchFamily="18" charset="0"/>
                <a:ea typeface="Roboto" pitchFamily="34" charset="-122"/>
                <a:cs typeface="Times New Roman" panose="02020603050405020304" pitchFamily="18" charset="0"/>
              </a:rPr>
              <a:t>— λ=0.001 (2/N) optim pe Ped2</a:t>
            </a:r>
            <a:endParaRPr lang="en-US" sz="1125" dirty="0">
              <a:latin typeface="Times New Roman" panose="02020603050405020304" pitchFamily="18" charset="0"/>
              <a:cs typeface="Times New Roman" panose="02020603050405020304" pitchFamily="18" charset="0"/>
            </a:endParaRPr>
          </a:p>
        </p:txBody>
      </p:sp>
      <p:sp>
        <p:nvSpPr>
          <p:cNvPr id="65" name="SK-9-text-64"/>
          <p:cNvSpPr/>
          <p:nvPr/>
        </p:nvSpPr>
        <p:spPr>
          <a:xfrm>
            <a:off x="414486" y="3936355"/>
            <a:ext cx="7277100" cy="157609"/>
          </a:xfrm>
          <a:prstGeom prst="rect">
            <a:avLst/>
          </a:prstGeom>
          <a:noFill/>
          <a:ln/>
        </p:spPr>
        <p:txBody>
          <a:bodyPr vert="horz" wrap="none" lIns="0" tIns="0" rIns="0" bIns="0" rtlCol="0" anchor="ctr"/>
          <a:lstStyle/>
          <a:p>
            <a:pPr marL="0" indent="0" algn="l">
              <a:buNone/>
            </a:pPr>
            <a:r>
              <a:rPr lang="en-US" sz="1125" dirty="0">
                <a:solidFill>
                  <a:srgbClr val="333333"/>
                </a:solidFill>
                <a:latin typeface="Times New Roman" panose="02020603050405020304" pitchFamily="18" charset="0"/>
                <a:ea typeface="Roboto" pitchFamily="34" charset="-122"/>
                <a:cs typeface="Times New Roman" panose="02020603050405020304" pitchFamily="18" charset="0"/>
              </a:rPr>
              <a:t>— ~500 epoch pentru convergență completă</a:t>
            </a:r>
            <a:endParaRPr lang="en-US" sz="1125" dirty="0">
              <a:latin typeface="Times New Roman" panose="02020603050405020304" pitchFamily="18" charset="0"/>
              <a:cs typeface="Times New Roman" panose="02020603050405020304" pitchFamily="18" charset="0"/>
            </a:endParaRPr>
          </a:p>
        </p:txBody>
      </p:sp>
      <p:sp>
        <p:nvSpPr>
          <p:cNvPr id="66" name="SK-9-text-65"/>
          <p:cNvSpPr/>
          <p:nvPr/>
        </p:nvSpPr>
        <p:spPr>
          <a:xfrm>
            <a:off x="828973" y="5856684"/>
            <a:ext cx="8183880" cy="157609"/>
          </a:xfrm>
          <a:prstGeom prst="rect">
            <a:avLst/>
          </a:prstGeom>
          <a:noFill/>
          <a:ln/>
        </p:spPr>
        <p:txBody>
          <a:bodyPr vert="horz" wrap="none" lIns="0" tIns="0" rIns="0" bIns="0" rtlCol="0" anchor="ctr"/>
          <a:lstStyle/>
          <a:p>
            <a:pPr marL="0" indent="0" algn="l">
              <a:buNone/>
            </a:pPr>
            <a:r>
              <a:rPr lang="en-US" sz="1050" dirty="0">
                <a:solidFill>
                  <a:srgbClr val="333333"/>
                </a:solidFill>
                <a:latin typeface="Times New Roman" panose="02020603050405020304" pitchFamily="18" charset="0"/>
                <a:ea typeface="Roboto" pitchFamily="34" charset="-122"/>
                <a:cs typeface="Times New Roman" panose="02020603050405020304" pitchFamily="18" charset="0"/>
              </a:rPr>
              <a:t>UCSD-Ped2: anomalii detectate (bicicletă, vehicul)</a:t>
            </a:r>
            <a:endParaRPr lang="en-US" sz="1050" dirty="0">
              <a:latin typeface="Times New Roman" panose="02020603050405020304" pitchFamily="18" charset="0"/>
              <a:cs typeface="Times New Roman" panose="02020603050405020304" pitchFamily="18" charset="0"/>
            </a:endParaRPr>
          </a:p>
        </p:txBody>
      </p:sp>
      <p:sp>
        <p:nvSpPr>
          <p:cNvPr id="67" name="SK-9-text-66"/>
          <p:cNvSpPr/>
          <p:nvPr/>
        </p:nvSpPr>
        <p:spPr>
          <a:xfrm>
            <a:off x="5388769" y="1378446"/>
            <a:ext cx="4200525" cy="198834"/>
          </a:xfrm>
          <a:prstGeom prst="rect">
            <a:avLst/>
          </a:prstGeom>
          <a:noFill/>
          <a:ln/>
        </p:spPr>
        <p:txBody>
          <a:bodyPr vert="horz" wrap="none" lIns="0" tIns="0" rIns="0" bIns="0" rtlCol="0" anchor="ctr"/>
          <a:lstStyle/>
          <a:p>
            <a:pPr marL="0" indent="0" algn="l">
              <a:buNone/>
            </a:pPr>
            <a:r>
              <a:rPr lang="en-US" sz="1350" b="1" dirty="0">
                <a:solidFill>
                  <a:srgbClr val="FFFFFF"/>
                </a:solidFill>
                <a:latin typeface="Times New Roman" panose="02020603050405020304" pitchFamily="18" charset="0"/>
                <a:ea typeface="Roboto" pitchFamily="34" charset="-122"/>
                <a:cs typeface="Times New Roman" panose="02020603050405020304" pitchFamily="18" charset="0"/>
              </a:rPr>
              <a:t>False Positives (FP)</a:t>
            </a:r>
            <a:endParaRPr lang="en-US" sz="1350" dirty="0">
              <a:latin typeface="Times New Roman" panose="02020603050405020304" pitchFamily="18" charset="0"/>
              <a:cs typeface="Times New Roman" panose="02020603050405020304" pitchFamily="18" charset="0"/>
            </a:endParaRPr>
          </a:p>
        </p:txBody>
      </p:sp>
      <p:sp>
        <p:nvSpPr>
          <p:cNvPr id="68" name="SK-9-text-67"/>
          <p:cNvSpPr/>
          <p:nvPr/>
        </p:nvSpPr>
        <p:spPr>
          <a:xfrm>
            <a:off x="5449788" y="2050405"/>
            <a:ext cx="4200525" cy="185142"/>
          </a:xfrm>
          <a:prstGeom prst="rect">
            <a:avLst/>
          </a:prstGeom>
          <a:noFill/>
          <a:ln/>
        </p:spPr>
        <p:txBody>
          <a:bodyPr vert="horz" wrap="none" lIns="0" tIns="0" rIns="0" bIns="0" rtlCol="0" anchor="ctr"/>
          <a:lstStyle/>
          <a:p>
            <a:pPr marL="0" indent="0" algn="l">
              <a:buNone/>
            </a:pPr>
            <a:r>
              <a:rPr lang="en-US" sz="1350" b="1" dirty="0">
                <a:solidFill>
                  <a:srgbClr val="0D2137"/>
                </a:solidFill>
                <a:latin typeface="Times New Roman" panose="02020603050405020304" pitchFamily="18" charset="0"/>
                <a:ea typeface="Roboto" pitchFamily="34" charset="-122"/>
                <a:cs typeface="Times New Roman" panose="02020603050405020304" pitchFamily="18" charset="0"/>
              </a:rPr>
              <a:t>Crowd density spikes</a:t>
            </a:r>
            <a:endParaRPr lang="en-US" sz="1350" dirty="0">
              <a:latin typeface="Times New Roman" panose="02020603050405020304" pitchFamily="18" charset="0"/>
              <a:cs typeface="Times New Roman" panose="02020603050405020304" pitchFamily="18" charset="0"/>
            </a:endParaRPr>
          </a:p>
        </p:txBody>
      </p:sp>
      <p:sp>
        <p:nvSpPr>
          <p:cNvPr id="69" name="SK-9-text-68"/>
          <p:cNvSpPr/>
          <p:nvPr/>
        </p:nvSpPr>
        <p:spPr>
          <a:xfrm>
            <a:off x="5449788" y="2304157"/>
            <a:ext cx="2072580" cy="383977"/>
          </a:xfrm>
          <a:prstGeom prst="rect">
            <a:avLst/>
          </a:prstGeom>
          <a:noFill/>
          <a:ln/>
        </p:spPr>
        <p:txBody>
          <a:bodyPr vert="horz" wrap="none" lIns="0" tIns="0" rIns="0" bIns="0" rtlCol="0" anchor="ctr"/>
          <a:lstStyle/>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Configurație rară →</a:t>
            </a:r>
            <a:endParaRPr lang="en-US" sz="1200" dirty="0">
              <a:latin typeface="Times New Roman" panose="02020603050405020304" pitchFamily="18" charset="0"/>
              <a:cs typeface="Times New Roman" panose="02020603050405020304" pitchFamily="18" charset="0"/>
            </a:endParaRPr>
          </a:p>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slot-uri de memorie neacoperite</a:t>
            </a:r>
            <a:endParaRPr lang="en-US" sz="1200" dirty="0">
              <a:latin typeface="Times New Roman" panose="02020603050405020304" pitchFamily="18" charset="0"/>
              <a:cs typeface="Times New Roman" panose="02020603050405020304" pitchFamily="18" charset="0"/>
            </a:endParaRPr>
          </a:p>
        </p:txBody>
      </p:sp>
      <p:sp>
        <p:nvSpPr>
          <p:cNvPr id="70" name="SK-9-text-69"/>
          <p:cNvSpPr/>
          <p:nvPr/>
        </p:nvSpPr>
        <p:spPr>
          <a:xfrm>
            <a:off x="5449788" y="3236863"/>
            <a:ext cx="2194471" cy="637729"/>
          </a:xfrm>
          <a:prstGeom prst="rect">
            <a:avLst/>
          </a:prstGeom>
          <a:noFill/>
          <a:ln/>
        </p:spPr>
        <p:txBody>
          <a:bodyPr vert="horz" wrap="none" lIns="0" tIns="0" rIns="0" bIns="0" rtlCol="0" anchor="ctr"/>
          <a:lstStyle/>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Iluminare bruscă</a:t>
            </a:r>
            <a:endParaRPr lang="en-US" sz="1200" dirty="0">
              <a:latin typeface="Times New Roman" panose="02020603050405020304" pitchFamily="18" charset="0"/>
              <a:cs typeface="Times New Roman" panose="02020603050405020304" pitchFamily="18" charset="0"/>
            </a:endParaRPr>
          </a:p>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Schimbare texturală temporară →</a:t>
            </a:r>
            <a:endParaRPr lang="en-US" sz="1200" dirty="0">
              <a:latin typeface="Times New Roman" panose="02020603050405020304" pitchFamily="18" charset="0"/>
              <a:cs typeface="Times New Roman" panose="02020603050405020304" pitchFamily="18" charset="0"/>
            </a:endParaRPr>
          </a:p>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encoding divergent</a:t>
            </a:r>
            <a:endParaRPr lang="en-US" sz="1200" dirty="0">
              <a:latin typeface="Times New Roman" panose="02020603050405020304" pitchFamily="18" charset="0"/>
              <a:cs typeface="Times New Roman" panose="02020603050405020304" pitchFamily="18" charset="0"/>
            </a:endParaRPr>
          </a:p>
        </p:txBody>
      </p:sp>
      <p:sp>
        <p:nvSpPr>
          <p:cNvPr id="71" name="SK-9-text-70"/>
          <p:cNvSpPr/>
          <p:nvPr/>
        </p:nvSpPr>
        <p:spPr>
          <a:xfrm>
            <a:off x="5449788" y="4416475"/>
            <a:ext cx="4817745" cy="185142"/>
          </a:xfrm>
          <a:prstGeom prst="rect">
            <a:avLst/>
          </a:prstGeom>
          <a:noFill/>
          <a:ln/>
        </p:spPr>
        <p:txBody>
          <a:bodyPr vert="horz" wrap="none" lIns="0" tIns="0" rIns="0" bIns="0" rtlCol="0" anchor="ctr"/>
          <a:lstStyle/>
          <a:p>
            <a:pPr marL="0" indent="0" algn="l">
              <a:buNone/>
            </a:pPr>
            <a:r>
              <a:rPr lang="en-US" sz="1350" b="1" dirty="0">
                <a:solidFill>
                  <a:srgbClr val="0D2137"/>
                </a:solidFill>
                <a:latin typeface="Times New Roman" panose="02020603050405020304" pitchFamily="18" charset="0"/>
                <a:ea typeface="Roboto" pitchFamily="34" charset="-122"/>
                <a:cs typeface="Times New Roman" panose="02020603050405020304" pitchFamily="18" charset="0"/>
              </a:rPr>
              <a:t>Mișcare rapidă legitimă</a:t>
            </a:r>
            <a:endParaRPr lang="en-US" sz="1350" dirty="0">
              <a:latin typeface="Times New Roman" panose="02020603050405020304" pitchFamily="18" charset="0"/>
              <a:cs typeface="Times New Roman" panose="02020603050405020304" pitchFamily="18" charset="0"/>
            </a:endParaRPr>
          </a:p>
        </p:txBody>
      </p:sp>
      <p:sp>
        <p:nvSpPr>
          <p:cNvPr id="72" name="SK-9-text-71"/>
          <p:cNvSpPr/>
          <p:nvPr/>
        </p:nvSpPr>
        <p:spPr>
          <a:xfrm>
            <a:off x="5449788" y="4663380"/>
            <a:ext cx="1718965" cy="383977"/>
          </a:xfrm>
          <a:prstGeom prst="rect">
            <a:avLst/>
          </a:prstGeom>
          <a:noFill/>
          <a:ln/>
        </p:spPr>
        <p:txBody>
          <a:bodyPr vert="horz" wrap="none" lIns="0" tIns="0" rIns="0" bIns="0" rtlCol="0" anchor="ctr"/>
          <a:lstStyle/>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Cuboid temporal captează</a:t>
            </a:r>
            <a:endParaRPr lang="en-US" sz="1200" dirty="0">
              <a:latin typeface="Times New Roman" panose="02020603050405020304" pitchFamily="18" charset="0"/>
              <a:cs typeface="Times New Roman" panose="02020603050405020304" pitchFamily="18" charset="0"/>
            </a:endParaRPr>
          </a:p>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mișcarea ca outlier</a:t>
            </a:r>
            <a:endParaRPr lang="en-US" sz="1200" dirty="0">
              <a:latin typeface="Times New Roman" panose="02020603050405020304" pitchFamily="18" charset="0"/>
              <a:cs typeface="Times New Roman" panose="02020603050405020304" pitchFamily="18" charset="0"/>
            </a:endParaRPr>
          </a:p>
        </p:txBody>
      </p:sp>
      <p:sp>
        <p:nvSpPr>
          <p:cNvPr id="73" name="SK-9-text-72"/>
          <p:cNvSpPr/>
          <p:nvPr/>
        </p:nvSpPr>
        <p:spPr>
          <a:xfrm>
            <a:off x="4864596" y="5520630"/>
            <a:ext cx="2584698" cy="349746"/>
          </a:xfrm>
          <a:prstGeom prst="rect">
            <a:avLst/>
          </a:prstGeom>
          <a:noFill/>
          <a:ln/>
        </p:spPr>
        <p:txBody>
          <a:bodyPr vert="horz" wrap="none" lIns="0" tIns="0" rIns="0" bIns="0" rtlCol="0" anchor="ctr"/>
          <a:lstStyle/>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Cauza comună: variabilitate intra-clasă</a:t>
            </a:r>
            <a:endParaRPr lang="en-US" sz="1200" dirty="0">
              <a:latin typeface="Times New Roman" panose="02020603050405020304" pitchFamily="18" charset="0"/>
              <a:cs typeface="Times New Roman" panose="02020603050405020304" pitchFamily="18" charset="0"/>
            </a:endParaRPr>
          </a:p>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normală neacoperită de memorie</a:t>
            </a:r>
            <a:endParaRPr lang="en-US" sz="1200" dirty="0">
              <a:latin typeface="Times New Roman" panose="02020603050405020304" pitchFamily="18" charset="0"/>
              <a:cs typeface="Times New Roman" panose="02020603050405020304" pitchFamily="18" charset="0"/>
            </a:endParaRPr>
          </a:p>
        </p:txBody>
      </p:sp>
      <p:sp>
        <p:nvSpPr>
          <p:cNvPr id="74" name="SK-9-text-73"/>
          <p:cNvSpPr/>
          <p:nvPr/>
        </p:nvSpPr>
        <p:spPr>
          <a:xfrm>
            <a:off x="9070777" y="1378446"/>
            <a:ext cx="3121223" cy="198834"/>
          </a:xfrm>
          <a:prstGeom prst="rect">
            <a:avLst/>
          </a:prstGeom>
          <a:noFill/>
          <a:ln/>
        </p:spPr>
        <p:txBody>
          <a:bodyPr vert="horz" wrap="none" lIns="0" tIns="0" rIns="0" bIns="0" rtlCol="0" anchor="ctr"/>
          <a:lstStyle/>
          <a:p>
            <a:pPr marL="0" indent="0" algn="l">
              <a:buNone/>
            </a:pPr>
            <a:r>
              <a:rPr lang="en-US" sz="1350" b="1" dirty="0">
                <a:solidFill>
                  <a:srgbClr val="FFFFFF"/>
                </a:solidFill>
                <a:latin typeface="Times New Roman" panose="02020603050405020304" pitchFamily="18" charset="0"/>
                <a:ea typeface="Roboto" pitchFamily="34" charset="-122"/>
                <a:cs typeface="Times New Roman" panose="02020603050405020304" pitchFamily="18" charset="0"/>
              </a:rPr>
              <a:t>False Negatives (FN)</a:t>
            </a:r>
            <a:endParaRPr lang="en-US" sz="1350" dirty="0">
              <a:latin typeface="Times New Roman" panose="02020603050405020304" pitchFamily="18" charset="0"/>
              <a:cs typeface="Times New Roman" panose="02020603050405020304" pitchFamily="18" charset="0"/>
            </a:endParaRPr>
          </a:p>
        </p:txBody>
      </p:sp>
      <p:sp>
        <p:nvSpPr>
          <p:cNvPr id="75" name="SK-9-text-74"/>
          <p:cNvSpPr/>
          <p:nvPr/>
        </p:nvSpPr>
        <p:spPr>
          <a:xfrm>
            <a:off x="9168259" y="2050405"/>
            <a:ext cx="2966085" cy="171450"/>
          </a:xfrm>
          <a:prstGeom prst="rect">
            <a:avLst/>
          </a:prstGeom>
          <a:noFill/>
          <a:ln/>
        </p:spPr>
        <p:txBody>
          <a:bodyPr vert="horz" wrap="none" lIns="0" tIns="0" rIns="0" bIns="0" rtlCol="0" anchor="ctr"/>
          <a:lstStyle/>
          <a:p>
            <a:pPr marL="0" indent="0" algn="l">
              <a:buNone/>
            </a:pPr>
            <a:r>
              <a:rPr lang="en-US" sz="1350" b="1" dirty="0">
                <a:solidFill>
                  <a:srgbClr val="0D2137"/>
                </a:solidFill>
                <a:latin typeface="Times New Roman" panose="02020603050405020304" pitchFamily="18" charset="0"/>
                <a:ea typeface="Roboto" pitchFamily="34" charset="-122"/>
                <a:cs typeface="Times New Roman" panose="02020603050405020304" pitchFamily="18" charset="0"/>
              </a:rPr>
              <a:t>Biciclist lent</a:t>
            </a:r>
            <a:endParaRPr lang="en-US" sz="1350" dirty="0">
              <a:latin typeface="Times New Roman" panose="02020603050405020304" pitchFamily="18" charset="0"/>
              <a:cs typeface="Times New Roman" panose="02020603050405020304" pitchFamily="18" charset="0"/>
            </a:endParaRPr>
          </a:p>
        </p:txBody>
      </p:sp>
      <p:sp>
        <p:nvSpPr>
          <p:cNvPr id="76" name="SK-9-text-75"/>
          <p:cNvSpPr/>
          <p:nvPr/>
        </p:nvSpPr>
        <p:spPr>
          <a:xfrm>
            <a:off x="9168259" y="2304157"/>
            <a:ext cx="1877467" cy="383977"/>
          </a:xfrm>
          <a:prstGeom prst="rect">
            <a:avLst/>
          </a:prstGeom>
          <a:noFill/>
          <a:ln/>
        </p:spPr>
        <p:txBody>
          <a:bodyPr vert="horz" wrap="none" lIns="0" tIns="0" rIns="0" bIns="0" rtlCol="0" anchor="ctr"/>
          <a:lstStyle/>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Siluetă similară pietonului →</a:t>
            </a:r>
            <a:endParaRPr lang="en-US" sz="1200" dirty="0">
              <a:latin typeface="Times New Roman" panose="02020603050405020304" pitchFamily="18" charset="0"/>
              <a:cs typeface="Times New Roman" panose="02020603050405020304" pitchFamily="18" charset="0"/>
            </a:endParaRPr>
          </a:p>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encoding apropiat de normal</a:t>
            </a:r>
            <a:endParaRPr lang="en-US" sz="1200" dirty="0">
              <a:latin typeface="Times New Roman" panose="02020603050405020304" pitchFamily="18" charset="0"/>
              <a:cs typeface="Times New Roman" panose="02020603050405020304" pitchFamily="18" charset="0"/>
            </a:endParaRPr>
          </a:p>
        </p:txBody>
      </p:sp>
      <p:sp>
        <p:nvSpPr>
          <p:cNvPr id="77" name="SK-9-text-76"/>
          <p:cNvSpPr/>
          <p:nvPr/>
        </p:nvSpPr>
        <p:spPr>
          <a:xfrm>
            <a:off x="9168259" y="3236863"/>
            <a:ext cx="3023741" cy="185142"/>
          </a:xfrm>
          <a:prstGeom prst="rect">
            <a:avLst/>
          </a:prstGeom>
          <a:noFill/>
          <a:ln/>
        </p:spPr>
        <p:txBody>
          <a:bodyPr vert="horz" wrap="none" lIns="0" tIns="0" rIns="0" bIns="0" rtlCol="0" anchor="ctr"/>
          <a:lstStyle/>
          <a:p>
            <a:pPr marL="0" indent="0" algn="l">
              <a:buNone/>
            </a:pPr>
            <a:r>
              <a:rPr lang="en-US" sz="1350" b="1" dirty="0">
                <a:solidFill>
                  <a:srgbClr val="0D2137"/>
                </a:solidFill>
                <a:latin typeface="Times New Roman" panose="02020603050405020304" pitchFamily="18" charset="0"/>
                <a:ea typeface="Roboto" pitchFamily="34" charset="-122"/>
                <a:cs typeface="Times New Roman" panose="02020603050405020304" pitchFamily="18" charset="0"/>
              </a:rPr>
              <a:t>Anomalie introdusă gradual</a:t>
            </a:r>
            <a:endParaRPr lang="en-US" sz="1350" dirty="0">
              <a:latin typeface="Times New Roman" panose="02020603050405020304" pitchFamily="18" charset="0"/>
              <a:cs typeface="Times New Roman" panose="02020603050405020304" pitchFamily="18" charset="0"/>
            </a:endParaRPr>
          </a:p>
        </p:txBody>
      </p:sp>
      <p:sp>
        <p:nvSpPr>
          <p:cNvPr id="78" name="SK-9-text-77"/>
          <p:cNvSpPr/>
          <p:nvPr/>
        </p:nvSpPr>
        <p:spPr>
          <a:xfrm>
            <a:off x="9168259" y="3490615"/>
            <a:ext cx="1865263" cy="370284"/>
          </a:xfrm>
          <a:prstGeom prst="rect">
            <a:avLst/>
          </a:prstGeom>
          <a:noFill/>
          <a:ln/>
        </p:spPr>
        <p:txBody>
          <a:bodyPr vert="horz" wrap="none" lIns="0" tIns="0" rIns="0" bIns="0" rtlCol="0" anchor="ctr"/>
          <a:lstStyle/>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Primele frame-uri normale</a:t>
            </a:r>
            <a:endParaRPr lang="en-US" sz="1200" dirty="0">
              <a:latin typeface="Times New Roman" panose="02020603050405020304" pitchFamily="18" charset="0"/>
              <a:cs typeface="Times New Roman" panose="02020603050405020304" pitchFamily="18" charset="0"/>
            </a:endParaRPr>
          </a:p>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diluează eroarea cuboid-ului</a:t>
            </a:r>
            <a:endParaRPr lang="en-US" sz="1200" dirty="0">
              <a:latin typeface="Times New Roman" panose="02020603050405020304" pitchFamily="18" charset="0"/>
              <a:cs typeface="Times New Roman" panose="02020603050405020304" pitchFamily="18" charset="0"/>
            </a:endParaRPr>
          </a:p>
        </p:txBody>
      </p:sp>
      <p:sp>
        <p:nvSpPr>
          <p:cNvPr id="79" name="SK-9-text-78"/>
          <p:cNvSpPr/>
          <p:nvPr/>
        </p:nvSpPr>
        <p:spPr>
          <a:xfrm>
            <a:off x="9168259" y="4423321"/>
            <a:ext cx="3023741" cy="164455"/>
          </a:xfrm>
          <a:prstGeom prst="rect">
            <a:avLst/>
          </a:prstGeom>
          <a:noFill/>
          <a:ln/>
        </p:spPr>
        <p:txBody>
          <a:bodyPr vert="horz" wrap="none" lIns="0" tIns="0" rIns="0" bIns="0" rtlCol="0" anchor="ctr"/>
          <a:lstStyle/>
          <a:p>
            <a:pPr marL="0" indent="0" algn="l">
              <a:buNone/>
            </a:pPr>
            <a:r>
              <a:rPr lang="en-US" sz="1350" b="1" dirty="0">
                <a:solidFill>
                  <a:srgbClr val="0D2137"/>
                </a:solidFill>
                <a:latin typeface="Times New Roman" panose="02020603050405020304" pitchFamily="18" charset="0"/>
                <a:ea typeface="Roboto" pitchFamily="34" charset="-122"/>
                <a:cs typeface="Times New Roman" panose="02020603050405020304" pitchFamily="18" charset="0"/>
              </a:rPr>
              <a:t>Textură similară normalului</a:t>
            </a:r>
            <a:endParaRPr lang="en-US" sz="1350" dirty="0">
              <a:latin typeface="Times New Roman" panose="02020603050405020304" pitchFamily="18" charset="0"/>
              <a:cs typeface="Times New Roman" panose="02020603050405020304" pitchFamily="18" charset="0"/>
            </a:endParaRPr>
          </a:p>
        </p:txBody>
      </p:sp>
      <p:sp>
        <p:nvSpPr>
          <p:cNvPr id="80" name="SK-9-text-79"/>
          <p:cNvSpPr/>
          <p:nvPr/>
        </p:nvSpPr>
        <p:spPr>
          <a:xfrm>
            <a:off x="9168259" y="4663380"/>
            <a:ext cx="2035969" cy="383977"/>
          </a:xfrm>
          <a:prstGeom prst="rect">
            <a:avLst/>
          </a:prstGeom>
          <a:noFill/>
          <a:ln/>
        </p:spPr>
        <p:txBody>
          <a:bodyPr vert="horz" wrap="none" lIns="0" tIns="0" rIns="0" bIns="0" rtlCol="0" anchor="ctr"/>
          <a:lstStyle/>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Encoder extrage features</a:t>
            </a:r>
            <a:endParaRPr lang="en-US" sz="1200" dirty="0">
              <a:latin typeface="Times New Roman" panose="02020603050405020304" pitchFamily="18" charset="0"/>
              <a:cs typeface="Times New Roman" panose="02020603050405020304" pitchFamily="18" charset="0"/>
            </a:endParaRPr>
          </a:p>
          <a:p>
            <a:pPr marL="0" indent="0" algn="l">
              <a:lnSpc>
                <a:spcPts val="156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similare → reconstrucție fidelă</a:t>
            </a:r>
            <a:endParaRPr lang="en-US" sz="1200" dirty="0">
              <a:latin typeface="Times New Roman" panose="02020603050405020304" pitchFamily="18" charset="0"/>
              <a:cs typeface="Times New Roman" panose="02020603050405020304" pitchFamily="18" charset="0"/>
            </a:endParaRPr>
          </a:p>
        </p:txBody>
      </p:sp>
      <p:sp>
        <p:nvSpPr>
          <p:cNvPr id="81" name="SK-9-text-80"/>
          <p:cNvSpPr/>
          <p:nvPr/>
        </p:nvSpPr>
        <p:spPr>
          <a:xfrm>
            <a:off x="8583067" y="5520630"/>
            <a:ext cx="2608957" cy="349746"/>
          </a:xfrm>
          <a:prstGeom prst="rect">
            <a:avLst/>
          </a:prstGeom>
          <a:noFill/>
          <a:ln/>
        </p:spPr>
        <p:txBody>
          <a:bodyPr vert="horz" wrap="none" lIns="0" tIns="0" rIns="0" bIns="0" rtlCol="0" anchor="ctr"/>
          <a:lstStyle/>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Cauza comună: suprapunere semantică</a:t>
            </a:r>
            <a:endParaRPr lang="en-US" sz="1200" dirty="0">
              <a:latin typeface="Times New Roman" panose="02020603050405020304" pitchFamily="18" charset="0"/>
              <a:cs typeface="Times New Roman" panose="02020603050405020304" pitchFamily="18" charset="0"/>
            </a:endParaRPr>
          </a:p>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anomalie ↔ pattern-uri normale</a:t>
            </a:r>
            <a:endParaRPr lang="en-US" sz="1200" dirty="0">
              <a:latin typeface="Times New Roman" panose="02020603050405020304" pitchFamily="18" charset="0"/>
              <a:cs typeface="Times New Roman" panose="02020603050405020304" pitchFamily="18" charset="0"/>
            </a:endParaRPr>
          </a:p>
        </p:txBody>
      </p:sp>
      <p:sp>
        <p:nvSpPr>
          <p:cNvPr id="82" name="SK-9-text-81"/>
          <p:cNvSpPr/>
          <p:nvPr/>
        </p:nvSpPr>
        <p:spPr>
          <a:xfrm>
            <a:off x="1243459" y="6336655"/>
            <a:ext cx="10948541" cy="219373"/>
          </a:xfrm>
          <a:prstGeom prst="rect">
            <a:avLst/>
          </a:prstGeom>
          <a:noFill/>
          <a:ln/>
        </p:spPr>
        <p:txBody>
          <a:bodyPr vert="horz" wrap="none" lIns="0" tIns="0" rIns="0" bIns="0" rtlCol="0" anchor="ctr"/>
          <a:lstStyle/>
          <a:p>
            <a:pPr marL="0" indent="0" algn="l">
              <a:buNone/>
            </a:pPr>
            <a:r>
              <a:rPr lang="en-US" sz="1500" b="1" dirty="0">
                <a:solidFill>
                  <a:srgbClr val="0D2137"/>
                </a:solidFill>
                <a:latin typeface="Times New Roman" panose="02020603050405020304" pitchFamily="18" charset="0"/>
                <a:ea typeface="Roboto" pitchFamily="34" charset="-122"/>
                <a:cs typeface="Times New Roman" panose="02020603050405020304" pitchFamily="18" charset="0"/>
              </a:rPr>
              <a:t>Limita fundamentală: granița de decizie bazată exclusiv pe eroarea MSE rămâne vulnerabilă la ambele tipuri de erori.</a:t>
            </a:r>
            <a:endParaRPr lang="en-US" sz="1500" dirty="0">
              <a:latin typeface="Times New Roman" panose="02020603050405020304" pitchFamily="18" charset="0"/>
              <a:cs typeface="Times New Roman" panose="02020603050405020304" pitchFamily="18" charset="0"/>
            </a:endParaRPr>
          </a:p>
        </p:txBody>
      </p:sp>
      <p:pic>
        <p:nvPicPr>
          <p:cNvPr id="83" name="SK-4-img-2" descr="preencoded.png">
            <a:extLst>
              <a:ext uri="{FF2B5EF4-FFF2-40B4-BE49-F238E27FC236}">
                <a16:creationId xmlns:a16="http://schemas.microsoft.com/office/drawing/2014/main" id="{1209966E-51EB-4440-A357-C7BDF15CADD9}"/>
              </a:ext>
            </a:extLst>
          </p:cNvPr>
          <p:cNvPicPr>
            <a:picLocks noChangeAspect="1"/>
          </p:cNvPicPr>
          <p:nvPr/>
        </p:nvPicPr>
        <p:blipFill>
          <a:blip r:embed="rId42"/>
          <a:stretch>
            <a:fillRect/>
          </a:stretch>
        </p:blipFill>
        <p:spPr>
          <a:xfrm>
            <a:off x="0" y="0"/>
            <a:ext cx="146298" cy="6858000"/>
          </a:xfrm>
          <a:prstGeom prst="rect">
            <a:avLst/>
          </a:prstGeom>
        </p:spPr>
      </p:pic>
      <p:pic>
        <p:nvPicPr>
          <p:cNvPr id="84" name="SK-2-img-4" descr="preencoded.png">
            <a:extLst>
              <a:ext uri="{FF2B5EF4-FFF2-40B4-BE49-F238E27FC236}">
                <a16:creationId xmlns:a16="http://schemas.microsoft.com/office/drawing/2014/main" id="{FDB91C05-9657-4FD8-BD56-E62E12F2E7CF}"/>
              </a:ext>
            </a:extLst>
          </p:cNvPr>
          <p:cNvPicPr>
            <a:picLocks noChangeAspect="1"/>
          </p:cNvPicPr>
          <p:nvPr/>
        </p:nvPicPr>
        <p:blipFill>
          <a:blip r:embed="rId43"/>
          <a:stretch>
            <a:fillRect/>
          </a:stretch>
        </p:blipFill>
        <p:spPr>
          <a:xfrm>
            <a:off x="390079" y="1021779"/>
            <a:ext cx="792361" cy="959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K-10-img-1" descr="preencoded.png"/>
          <p:cNvPicPr>
            <a:picLocks noChangeAspect="1"/>
          </p:cNvPicPr>
          <p:nvPr/>
        </p:nvPicPr>
        <p:blipFill>
          <a:blip r:embed="rId3"/>
          <a:stretch>
            <a:fillRect/>
          </a:stretch>
        </p:blipFill>
        <p:spPr>
          <a:xfrm>
            <a:off x="0" y="0"/>
            <a:ext cx="12192000" cy="6858000"/>
          </a:xfrm>
          <a:prstGeom prst="rect">
            <a:avLst/>
          </a:prstGeom>
        </p:spPr>
      </p:pic>
      <p:pic>
        <p:nvPicPr>
          <p:cNvPr id="4" name="SK-10-img-3" descr="preencoded.png"/>
          <p:cNvPicPr>
            <a:picLocks noChangeAspect="1"/>
          </p:cNvPicPr>
          <p:nvPr/>
        </p:nvPicPr>
        <p:blipFill>
          <a:blip r:embed="rId4"/>
          <a:stretch>
            <a:fillRect/>
          </a:stretch>
        </p:blipFill>
        <p:spPr>
          <a:xfrm>
            <a:off x="9802267" y="548580"/>
            <a:ext cx="2328565" cy="2948880"/>
          </a:xfrm>
          <a:prstGeom prst="rect">
            <a:avLst/>
          </a:prstGeom>
        </p:spPr>
      </p:pic>
      <p:pic>
        <p:nvPicPr>
          <p:cNvPr id="5" name="SK-10-img-4" descr="preencoded.png"/>
          <p:cNvPicPr>
            <a:picLocks noChangeAspect="1"/>
          </p:cNvPicPr>
          <p:nvPr/>
        </p:nvPicPr>
        <p:blipFill>
          <a:blip r:embed="rId5"/>
          <a:stretch>
            <a:fillRect/>
          </a:stretch>
        </p:blipFill>
        <p:spPr>
          <a:xfrm>
            <a:off x="511969" y="1666429"/>
            <a:ext cx="5339953" cy="2777430"/>
          </a:xfrm>
          <a:prstGeom prst="rect">
            <a:avLst/>
          </a:prstGeom>
        </p:spPr>
      </p:pic>
      <p:pic>
        <p:nvPicPr>
          <p:cNvPr id="6" name="SK-10-img-5" descr="preencoded.png"/>
          <p:cNvPicPr>
            <a:picLocks noChangeAspect="1"/>
          </p:cNvPicPr>
          <p:nvPr/>
        </p:nvPicPr>
        <p:blipFill>
          <a:blip r:embed="rId6"/>
          <a:stretch>
            <a:fillRect/>
          </a:stretch>
        </p:blipFill>
        <p:spPr>
          <a:xfrm>
            <a:off x="511969" y="1666429"/>
            <a:ext cx="48667" cy="2777430"/>
          </a:xfrm>
          <a:prstGeom prst="rect">
            <a:avLst/>
          </a:prstGeom>
        </p:spPr>
      </p:pic>
      <p:pic>
        <p:nvPicPr>
          <p:cNvPr id="7" name="SK-10-img-6" descr="preencoded.png"/>
          <p:cNvPicPr>
            <a:picLocks noChangeAspect="1"/>
          </p:cNvPicPr>
          <p:nvPr/>
        </p:nvPicPr>
        <p:blipFill>
          <a:blip r:embed="rId7"/>
          <a:stretch>
            <a:fillRect/>
          </a:stretch>
        </p:blipFill>
        <p:spPr>
          <a:xfrm>
            <a:off x="6290965" y="1666429"/>
            <a:ext cx="4608463" cy="2777430"/>
          </a:xfrm>
          <a:prstGeom prst="rect">
            <a:avLst/>
          </a:prstGeom>
        </p:spPr>
      </p:pic>
      <p:pic>
        <p:nvPicPr>
          <p:cNvPr id="8" name="SK-10-img-7" descr="preencoded.png"/>
          <p:cNvPicPr>
            <a:picLocks noChangeAspect="1"/>
          </p:cNvPicPr>
          <p:nvPr/>
        </p:nvPicPr>
        <p:blipFill>
          <a:blip r:embed="rId8"/>
          <a:stretch>
            <a:fillRect/>
          </a:stretch>
        </p:blipFill>
        <p:spPr>
          <a:xfrm>
            <a:off x="6290965" y="1666429"/>
            <a:ext cx="48667" cy="2777430"/>
          </a:xfrm>
          <a:prstGeom prst="rect">
            <a:avLst/>
          </a:prstGeom>
        </p:spPr>
      </p:pic>
      <p:pic>
        <p:nvPicPr>
          <p:cNvPr id="9" name="SK-10-img-8" descr="preencoded.png"/>
          <p:cNvPicPr>
            <a:picLocks noChangeAspect="1"/>
          </p:cNvPicPr>
          <p:nvPr/>
        </p:nvPicPr>
        <p:blipFill>
          <a:blip r:embed="rId9"/>
          <a:stretch>
            <a:fillRect/>
          </a:stretch>
        </p:blipFill>
        <p:spPr>
          <a:xfrm>
            <a:off x="451086" y="4916835"/>
            <a:ext cx="11289663" cy="33992"/>
          </a:xfrm>
          <a:prstGeom prst="rect">
            <a:avLst/>
          </a:prstGeom>
        </p:spPr>
      </p:pic>
      <p:pic>
        <p:nvPicPr>
          <p:cNvPr id="10" name="SK-10-img-9" descr="preencoded.png"/>
          <p:cNvPicPr>
            <a:picLocks noChangeAspect="1"/>
          </p:cNvPicPr>
          <p:nvPr/>
        </p:nvPicPr>
        <p:blipFill>
          <a:blip r:embed="rId10"/>
          <a:stretch>
            <a:fillRect/>
          </a:stretch>
        </p:blipFill>
        <p:spPr>
          <a:xfrm>
            <a:off x="6486079" y="1803648"/>
            <a:ext cx="475357" cy="418207"/>
          </a:xfrm>
          <a:prstGeom prst="rect">
            <a:avLst/>
          </a:prstGeom>
        </p:spPr>
      </p:pic>
      <p:pic>
        <p:nvPicPr>
          <p:cNvPr id="11" name="SK-10-img-10" descr="preencoded.png"/>
          <p:cNvPicPr>
            <a:picLocks noChangeAspect="1"/>
          </p:cNvPicPr>
          <p:nvPr/>
        </p:nvPicPr>
        <p:blipFill>
          <a:blip r:embed="rId11"/>
          <a:stretch>
            <a:fillRect/>
          </a:stretch>
        </p:blipFill>
        <p:spPr>
          <a:xfrm>
            <a:off x="719286" y="1789807"/>
            <a:ext cx="414486" cy="425053"/>
          </a:xfrm>
          <a:prstGeom prst="rect">
            <a:avLst/>
          </a:prstGeom>
        </p:spPr>
      </p:pic>
      <p:sp>
        <p:nvSpPr>
          <p:cNvPr id="12" name="SK-10-text-11"/>
          <p:cNvSpPr/>
          <p:nvPr/>
        </p:nvSpPr>
        <p:spPr>
          <a:xfrm>
            <a:off x="426690" y="239911"/>
            <a:ext cx="5262562" cy="178296"/>
          </a:xfrm>
          <a:prstGeom prst="rect">
            <a:avLst/>
          </a:prstGeom>
          <a:noFill/>
          <a:ln/>
        </p:spPr>
        <p:txBody>
          <a:bodyPr vert="horz" wrap="none" lIns="0" tIns="0" rIns="0" bIns="0" rtlCol="0" anchor="ctr"/>
          <a:lstStyle/>
          <a:p>
            <a:pPr marL="0" indent="0" algn="l">
              <a:buNone/>
            </a:pPr>
            <a:r>
              <a:rPr lang="en-US" sz="1500" dirty="0">
                <a:solidFill>
                  <a:srgbClr val="888888"/>
                </a:solidFill>
                <a:latin typeface="Times New Roman" panose="02020603050405020304" pitchFamily="18" charset="0"/>
                <a:ea typeface="Roboto" pitchFamily="34" charset="-122"/>
                <a:cs typeface="Times New Roman" panose="02020603050405020304" pitchFamily="18" charset="0"/>
              </a:rPr>
              <a:t>11 / 11 · AI &amp; Concluzii</a:t>
            </a:r>
            <a:endParaRPr lang="en-US" sz="1500" dirty="0">
              <a:latin typeface="Times New Roman" panose="02020603050405020304" pitchFamily="18" charset="0"/>
              <a:cs typeface="Times New Roman" panose="02020603050405020304" pitchFamily="18" charset="0"/>
            </a:endParaRPr>
          </a:p>
        </p:txBody>
      </p:sp>
      <p:sp>
        <p:nvSpPr>
          <p:cNvPr id="13" name="SK-10-text-12"/>
          <p:cNvSpPr/>
          <p:nvPr/>
        </p:nvSpPr>
        <p:spPr>
          <a:xfrm>
            <a:off x="414486" y="514350"/>
            <a:ext cx="11777514" cy="404515"/>
          </a:xfrm>
          <a:prstGeom prst="rect">
            <a:avLst/>
          </a:prstGeom>
          <a:noFill/>
          <a:ln/>
        </p:spPr>
        <p:txBody>
          <a:bodyPr vert="horz" wrap="none" lIns="0" tIns="0" rIns="0" bIns="0" rtlCol="0" anchor="ctr"/>
          <a:lstStyle/>
          <a:p>
            <a:pPr marL="0" indent="0" algn="l">
              <a:buNone/>
            </a:pPr>
            <a:r>
              <a:rPr lang="en-US" sz="3000" b="1" dirty="0">
                <a:solidFill>
                  <a:srgbClr val="001F3F"/>
                </a:solidFill>
                <a:latin typeface="Times New Roman" panose="02020603050405020304" pitchFamily="18" charset="0"/>
                <a:ea typeface="Roboto" pitchFamily="34" charset="-122"/>
                <a:cs typeface="Times New Roman" panose="02020603050405020304" pitchFamily="18" charset="0"/>
              </a:rPr>
              <a:t>AI usage report </a:t>
            </a:r>
            <a:r>
              <a:rPr lang="en-US" sz="3000" b="1" dirty="0" err="1">
                <a:solidFill>
                  <a:srgbClr val="001F3F"/>
                </a:solidFill>
                <a:latin typeface="Times New Roman" panose="02020603050405020304" pitchFamily="18" charset="0"/>
                <a:ea typeface="Roboto" pitchFamily="34" charset="-122"/>
                <a:cs typeface="Times New Roman" panose="02020603050405020304" pitchFamily="18" charset="0"/>
              </a:rPr>
              <a:t>și</a:t>
            </a:r>
            <a:r>
              <a:rPr lang="en-US" sz="3000" b="1" dirty="0">
                <a:solidFill>
                  <a:srgbClr val="001F3F"/>
                </a:solidFill>
                <a:latin typeface="Times New Roman" panose="02020603050405020304" pitchFamily="18" charset="0"/>
                <a:ea typeface="Roboto" pitchFamily="34" charset="-122"/>
                <a:cs typeface="Times New Roman" panose="02020603050405020304" pitchFamily="18" charset="0"/>
              </a:rPr>
              <a:t> </a:t>
            </a:r>
            <a:r>
              <a:rPr lang="en-US" sz="3000" b="1" dirty="0" err="1">
                <a:solidFill>
                  <a:srgbClr val="001F3F"/>
                </a:solidFill>
                <a:latin typeface="Times New Roman" panose="02020603050405020304" pitchFamily="18" charset="0"/>
                <a:ea typeface="Roboto" pitchFamily="34" charset="-122"/>
                <a:cs typeface="Times New Roman" panose="02020603050405020304" pitchFamily="18" charset="0"/>
              </a:rPr>
              <a:t>concluzii</a:t>
            </a:r>
            <a:endParaRPr lang="en-US" sz="3000" dirty="0">
              <a:latin typeface="Times New Roman" panose="02020603050405020304" pitchFamily="18" charset="0"/>
              <a:cs typeface="Times New Roman" panose="02020603050405020304" pitchFamily="18" charset="0"/>
            </a:endParaRPr>
          </a:p>
        </p:txBody>
      </p:sp>
      <p:sp>
        <p:nvSpPr>
          <p:cNvPr id="14" name="SK-10-text-13"/>
          <p:cNvSpPr/>
          <p:nvPr/>
        </p:nvSpPr>
        <p:spPr>
          <a:xfrm>
            <a:off x="426690" y="1378446"/>
            <a:ext cx="9239250" cy="212527"/>
          </a:xfrm>
          <a:prstGeom prst="rect">
            <a:avLst/>
          </a:prstGeom>
          <a:noFill/>
          <a:ln/>
        </p:spPr>
        <p:txBody>
          <a:bodyPr vert="horz" wrap="none" lIns="0" tIns="0" rIns="0" bIns="0" rtlCol="0" anchor="ctr"/>
          <a:lstStyle/>
          <a:p>
            <a:pPr marL="0" indent="0" algn="l">
              <a:buNone/>
            </a:pPr>
            <a:r>
              <a:rPr lang="en-US" sz="1500" b="1" dirty="0">
                <a:solidFill>
                  <a:srgbClr val="008080"/>
                </a:solidFill>
                <a:latin typeface="Times New Roman" panose="02020603050405020304" pitchFamily="18" charset="0"/>
                <a:ea typeface="Roboto" pitchFamily="34" charset="-122"/>
                <a:cs typeface="Times New Roman" panose="02020603050405020304" pitchFamily="18" charset="0"/>
              </a:rPr>
              <a:t>Instrumente utilizate și lecții învățate</a:t>
            </a:r>
            <a:endParaRPr lang="en-US" sz="1500" dirty="0">
              <a:latin typeface="Times New Roman" panose="02020603050405020304" pitchFamily="18" charset="0"/>
              <a:cs typeface="Times New Roman" panose="02020603050405020304" pitchFamily="18" charset="0"/>
            </a:endParaRPr>
          </a:p>
        </p:txBody>
      </p:sp>
      <p:sp>
        <p:nvSpPr>
          <p:cNvPr id="15" name="SK-10-text-14"/>
          <p:cNvSpPr/>
          <p:nvPr/>
        </p:nvSpPr>
        <p:spPr>
          <a:xfrm>
            <a:off x="1292275" y="1913334"/>
            <a:ext cx="4667250" cy="212527"/>
          </a:xfrm>
          <a:prstGeom prst="rect">
            <a:avLst/>
          </a:prstGeom>
          <a:noFill/>
          <a:ln/>
        </p:spPr>
        <p:txBody>
          <a:bodyPr vert="horz" wrap="none" lIns="0" tIns="0" rIns="0" bIns="0" rtlCol="0" anchor="ctr"/>
          <a:lstStyle/>
          <a:p>
            <a:pPr marL="0" indent="0" algn="l">
              <a:buNone/>
            </a:pPr>
            <a:r>
              <a:rPr lang="en-US" sz="1500" b="1" dirty="0">
                <a:solidFill>
                  <a:srgbClr val="008080"/>
                </a:solidFill>
                <a:latin typeface="Times New Roman" panose="02020603050405020304" pitchFamily="18" charset="0"/>
                <a:ea typeface="Roboto" pitchFamily="34" charset="-122"/>
                <a:cs typeface="Times New Roman" panose="02020603050405020304" pitchFamily="18" charset="0"/>
              </a:rPr>
              <a:t>Ce a funcționat bine</a:t>
            </a:r>
            <a:endParaRPr lang="en-US" sz="1500" dirty="0">
              <a:latin typeface="Times New Roman" panose="02020603050405020304" pitchFamily="18" charset="0"/>
              <a:cs typeface="Times New Roman" panose="02020603050405020304" pitchFamily="18" charset="0"/>
            </a:endParaRPr>
          </a:p>
        </p:txBody>
      </p:sp>
      <p:sp>
        <p:nvSpPr>
          <p:cNvPr id="16" name="SK-10-text-15"/>
          <p:cNvSpPr/>
          <p:nvPr/>
        </p:nvSpPr>
        <p:spPr>
          <a:xfrm>
            <a:off x="767952" y="2386459"/>
            <a:ext cx="5047655" cy="630882"/>
          </a:xfrm>
          <a:prstGeom prst="rect">
            <a:avLst/>
          </a:prstGeom>
          <a:noFill/>
          <a:ln/>
        </p:spPr>
        <p:txBody>
          <a:bodyPr vert="horz" wrap="none" lIns="0" tIns="0" rIns="0" bIns="0" rtlCol="0" anchor="ctr"/>
          <a:lstStyle/>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Matematică: Claude a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explicat</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conceptele</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matematice</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de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baza</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De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exemplu</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pentru</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Hard</a:t>
            </a:r>
            <a:r>
              <a:rPr lang="en-US" sz="1350" dirty="0">
                <a:latin typeface="Times New Roman" panose="02020603050405020304" pitchFamily="18" charset="0"/>
                <a:cs typeface="Times New Roman" panose="02020603050405020304" pitchFamily="18" charset="0"/>
              </a:rPr>
              <a:t> </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Shrinkage </a:t>
            </a:r>
            <a:endParaRPr lang="en-US" sz="1350" dirty="0">
              <a:latin typeface="Times New Roman" panose="02020603050405020304" pitchFamily="18" charset="0"/>
              <a:cs typeface="Times New Roman" panose="02020603050405020304" pitchFamily="18" charset="0"/>
            </a:endParaRPr>
          </a:p>
        </p:txBody>
      </p:sp>
      <p:sp>
        <p:nvSpPr>
          <p:cNvPr id="17" name="SK-10-text-16"/>
          <p:cNvSpPr/>
          <p:nvPr/>
        </p:nvSpPr>
        <p:spPr>
          <a:xfrm>
            <a:off x="767953" y="3140869"/>
            <a:ext cx="4181773" cy="603498"/>
          </a:xfrm>
          <a:prstGeom prst="rect">
            <a:avLst/>
          </a:prstGeom>
          <a:noFill/>
          <a:ln/>
        </p:spPr>
        <p:txBody>
          <a:bodyPr vert="horz" wrap="none" lIns="0" tIns="0" rIns="0" bIns="0" rtlCol="0" anchor="ctr"/>
          <a:lstStyle/>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Arhitectură: ChatGPT a clarificat diferența Conv2D</a:t>
            </a:r>
            <a:endParaRPr lang="en-US" sz="1350" dirty="0">
              <a:latin typeface="Times New Roman" panose="02020603050405020304" pitchFamily="18" charset="0"/>
              <a:cs typeface="Times New Roman" panose="02020603050405020304" pitchFamily="18" charset="0"/>
            </a:endParaRP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vs Conv3D și dimensiunile tensoriale ale cuboid-ului</a:t>
            </a:r>
            <a:endParaRPr lang="en-US" sz="1350" dirty="0">
              <a:latin typeface="Times New Roman" panose="02020603050405020304" pitchFamily="18" charset="0"/>
              <a:cs typeface="Times New Roman" panose="02020603050405020304" pitchFamily="18" charset="0"/>
            </a:endParaRP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video</a:t>
            </a:r>
            <a:endParaRPr lang="en-US" sz="1350" dirty="0">
              <a:latin typeface="Times New Roman" panose="02020603050405020304" pitchFamily="18" charset="0"/>
              <a:cs typeface="Times New Roman" panose="02020603050405020304" pitchFamily="18" charset="0"/>
            </a:endParaRPr>
          </a:p>
        </p:txBody>
      </p:sp>
      <p:sp>
        <p:nvSpPr>
          <p:cNvPr id="18" name="SK-10-text-17"/>
          <p:cNvSpPr/>
          <p:nvPr/>
        </p:nvSpPr>
        <p:spPr>
          <a:xfrm>
            <a:off x="767953" y="3902125"/>
            <a:ext cx="4230588" cy="418207"/>
          </a:xfrm>
          <a:prstGeom prst="rect">
            <a:avLst/>
          </a:prstGeom>
          <a:noFill/>
          <a:ln/>
        </p:spPr>
        <p:txBody>
          <a:bodyPr vert="horz" wrap="none" lIns="0" tIns="0" rIns="0" bIns="0" rtlCol="0" anchor="ctr"/>
          <a:lstStyle/>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Implementare</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it-IT" sz="1350" dirty="0">
                <a:solidFill>
                  <a:srgbClr val="333333"/>
                </a:solidFill>
                <a:latin typeface="Times New Roman" panose="02020603050405020304" pitchFamily="18" charset="0"/>
                <a:ea typeface="Roboto" pitchFamily="34" charset="-122"/>
                <a:cs typeface="Times New Roman" panose="02020603050405020304" pitchFamily="18" charset="0"/>
              </a:rPr>
              <a:t>AI a ajutat la schițarea logicii modulului de</a:t>
            </a:r>
          </a:p>
          <a:p>
            <a:pPr marL="0" indent="0" algn="l">
              <a:lnSpc>
                <a:spcPts val="1620"/>
              </a:lnSpc>
              <a:buNone/>
            </a:pPr>
            <a:r>
              <a:rPr lang="it-IT" sz="1350" dirty="0">
                <a:solidFill>
                  <a:srgbClr val="333333"/>
                </a:solidFill>
                <a:latin typeface="Times New Roman" panose="02020603050405020304" pitchFamily="18" charset="0"/>
                <a:ea typeface="Roboto" pitchFamily="34" charset="-122"/>
                <a:cs typeface="Times New Roman" panose="02020603050405020304" pitchFamily="18" charset="0"/>
              </a:rPr>
              <a:t>memorie; implementarea a fost verificată manual.</a:t>
            </a:r>
            <a:endParaRPr lang="en-US" sz="1350" dirty="0">
              <a:latin typeface="Times New Roman" panose="02020603050405020304" pitchFamily="18" charset="0"/>
              <a:cs typeface="Times New Roman" panose="02020603050405020304" pitchFamily="18" charset="0"/>
            </a:endParaRPr>
          </a:p>
        </p:txBody>
      </p:sp>
      <p:sp>
        <p:nvSpPr>
          <p:cNvPr id="19" name="SK-10-text-18"/>
          <p:cNvSpPr/>
          <p:nvPr/>
        </p:nvSpPr>
        <p:spPr>
          <a:xfrm>
            <a:off x="7095679" y="1913334"/>
            <a:ext cx="5096321" cy="219373"/>
          </a:xfrm>
          <a:prstGeom prst="rect">
            <a:avLst/>
          </a:prstGeom>
          <a:noFill/>
          <a:ln/>
        </p:spPr>
        <p:txBody>
          <a:bodyPr vert="horz" wrap="none" lIns="0" tIns="0" rIns="0" bIns="0" rtlCol="0" anchor="ctr"/>
          <a:lstStyle/>
          <a:p>
            <a:pPr marL="0" indent="0" algn="l">
              <a:buNone/>
            </a:pPr>
            <a:r>
              <a:rPr lang="en-US" sz="1500" b="1" dirty="0" err="1">
                <a:solidFill>
                  <a:srgbClr val="B8860B"/>
                </a:solidFill>
                <a:latin typeface="Times New Roman" panose="02020603050405020304" pitchFamily="18" charset="0"/>
                <a:ea typeface="Roboto" pitchFamily="34" charset="-122"/>
                <a:cs typeface="Times New Roman" panose="02020603050405020304" pitchFamily="18" charset="0"/>
              </a:rPr>
              <a:t>Erori</a:t>
            </a:r>
            <a:r>
              <a:rPr lang="en-US" sz="1500" b="1" dirty="0">
                <a:solidFill>
                  <a:srgbClr val="B8860B"/>
                </a:solidFill>
                <a:latin typeface="Times New Roman" panose="02020603050405020304" pitchFamily="18" charset="0"/>
                <a:ea typeface="Roboto" pitchFamily="34" charset="-122"/>
                <a:cs typeface="Times New Roman" panose="02020603050405020304" pitchFamily="18" charset="0"/>
              </a:rPr>
              <a:t>/</a:t>
            </a:r>
            <a:r>
              <a:rPr lang="en-US" sz="1500" b="1" dirty="0" err="1">
                <a:solidFill>
                  <a:srgbClr val="B8860B"/>
                </a:solidFill>
                <a:latin typeface="Times New Roman" panose="02020603050405020304" pitchFamily="18" charset="0"/>
                <a:ea typeface="Roboto" pitchFamily="34" charset="-122"/>
                <a:cs typeface="Times New Roman" panose="02020603050405020304" pitchFamily="18" charset="0"/>
              </a:rPr>
              <a:t>Limitări</a:t>
            </a:r>
            <a:r>
              <a:rPr lang="en-US" sz="1500" b="1" dirty="0">
                <a:solidFill>
                  <a:srgbClr val="B8860B"/>
                </a:solidFill>
                <a:latin typeface="Times New Roman" panose="02020603050405020304" pitchFamily="18" charset="0"/>
                <a:ea typeface="Roboto" pitchFamily="34" charset="-122"/>
                <a:cs typeface="Times New Roman" panose="02020603050405020304" pitchFamily="18" charset="0"/>
              </a:rPr>
              <a:t> ale </a:t>
            </a:r>
            <a:r>
              <a:rPr lang="en-US" sz="1500" b="1" dirty="0" err="1">
                <a:solidFill>
                  <a:srgbClr val="B8860B"/>
                </a:solidFill>
                <a:latin typeface="Times New Roman" panose="02020603050405020304" pitchFamily="18" charset="0"/>
                <a:ea typeface="Roboto" pitchFamily="34" charset="-122"/>
                <a:cs typeface="Times New Roman" panose="02020603050405020304" pitchFamily="18" charset="0"/>
              </a:rPr>
              <a:t>utilizării</a:t>
            </a:r>
            <a:r>
              <a:rPr lang="en-US" sz="1500" b="1" dirty="0">
                <a:solidFill>
                  <a:srgbClr val="B8860B"/>
                </a:solidFill>
                <a:latin typeface="Times New Roman" panose="02020603050405020304" pitchFamily="18" charset="0"/>
                <a:ea typeface="Roboto" pitchFamily="34" charset="-122"/>
                <a:cs typeface="Times New Roman" panose="02020603050405020304" pitchFamily="18" charset="0"/>
              </a:rPr>
              <a:t> AI</a:t>
            </a:r>
            <a:endParaRPr lang="en-US" sz="1500" dirty="0">
              <a:latin typeface="Times New Roman" panose="02020603050405020304" pitchFamily="18" charset="0"/>
              <a:cs typeface="Times New Roman" panose="02020603050405020304" pitchFamily="18" charset="0"/>
            </a:endParaRPr>
          </a:p>
        </p:txBody>
      </p:sp>
      <p:sp>
        <p:nvSpPr>
          <p:cNvPr id="20" name="SK-10-text-19"/>
          <p:cNvSpPr/>
          <p:nvPr/>
        </p:nvSpPr>
        <p:spPr>
          <a:xfrm>
            <a:off x="6534894" y="2386459"/>
            <a:ext cx="3889177" cy="425053"/>
          </a:xfrm>
          <a:prstGeom prst="rect">
            <a:avLst/>
          </a:prstGeom>
          <a:noFill/>
          <a:ln/>
        </p:spPr>
        <p:txBody>
          <a:bodyPr vert="horz" wrap="none" lIns="0" tIns="0" rIns="0" bIns="0" rtlCol="0" anchor="ctr"/>
          <a:lstStyle/>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Eroare 1: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Unele</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răspunsuri</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AI au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confundat</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MemAE</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cu </a:t>
            </a: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VAE; am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corectat</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prin</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verificarea</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350" dirty="0" err="1">
                <a:solidFill>
                  <a:srgbClr val="333333"/>
                </a:solidFill>
                <a:latin typeface="Times New Roman" panose="02020603050405020304" pitchFamily="18" charset="0"/>
                <a:ea typeface="Roboto" pitchFamily="34" charset="-122"/>
                <a:cs typeface="Times New Roman" panose="02020603050405020304" pitchFamily="18" charset="0"/>
              </a:rPr>
              <a:t>articolului</a:t>
            </a: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a:t>
            </a:r>
            <a:endParaRPr lang="en-US" sz="1350" dirty="0">
              <a:latin typeface="Times New Roman" panose="02020603050405020304" pitchFamily="18" charset="0"/>
              <a:cs typeface="Times New Roman" panose="02020603050405020304" pitchFamily="18" charset="0"/>
            </a:endParaRPr>
          </a:p>
        </p:txBody>
      </p:sp>
      <p:sp>
        <p:nvSpPr>
          <p:cNvPr id="21" name="SK-10-text-20"/>
          <p:cNvSpPr/>
          <p:nvPr/>
        </p:nvSpPr>
        <p:spPr>
          <a:xfrm>
            <a:off x="6534894" y="2962573"/>
            <a:ext cx="3767286" cy="411361"/>
          </a:xfrm>
          <a:prstGeom prst="rect">
            <a:avLst/>
          </a:prstGeom>
          <a:noFill/>
          <a:ln/>
        </p:spPr>
        <p:txBody>
          <a:bodyPr vert="horz" wrap="none" lIns="0" tIns="0" rIns="0" bIns="0" rtlCol="0" anchor="ctr"/>
          <a:lstStyle/>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Eroare 2: Claude a sugerat λ fix la 0.001 pentru</a:t>
            </a:r>
            <a:endParaRPr lang="en-US" sz="1350" dirty="0">
              <a:latin typeface="Times New Roman" panose="02020603050405020304" pitchFamily="18" charset="0"/>
              <a:cs typeface="Times New Roman" panose="02020603050405020304" pitchFamily="18" charset="0"/>
            </a:endParaRP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toate seturile — incorect, λ ∈ [1/N, 3/N]</a:t>
            </a:r>
            <a:endParaRPr lang="en-US" sz="1350" dirty="0">
              <a:latin typeface="Times New Roman" panose="02020603050405020304" pitchFamily="18" charset="0"/>
              <a:cs typeface="Times New Roman" panose="02020603050405020304" pitchFamily="18" charset="0"/>
            </a:endParaRPr>
          </a:p>
        </p:txBody>
      </p:sp>
      <p:sp>
        <p:nvSpPr>
          <p:cNvPr id="22" name="SK-10-text-21"/>
          <p:cNvSpPr/>
          <p:nvPr/>
        </p:nvSpPr>
        <p:spPr>
          <a:xfrm>
            <a:off x="6534894" y="3518148"/>
            <a:ext cx="3279577" cy="630882"/>
          </a:xfrm>
          <a:prstGeom prst="rect">
            <a:avLst/>
          </a:prstGeom>
          <a:noFill/>
          <a:ln/>
        </p:spPr>
        <p:txBody>
          <a:bodyPr vert="horz" wrap="none" lIns="0" tIns="0" rIns="0" bIns="0" rtlCol="0" anchor="ctr"/>
          <a:lstStyle/>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 Eroare 3: „Entropy loss” confundat cu</a:t>
            </a:r>
            <a:endParaRPr lang="en-US" sz="1350" dirty="0">
              <a:latin typeface="Times New Roman" panose="02020603050405020304" pitchFamily="18" charset="0"/>
              <a:cs typeface="Times New Roman" panose="02020603050405020304" pitchFamily="18" charset="0"/>
            </a:endParaRP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cross-entropy — este entropia Shannon a</a:t>
            </a:r>
            <a:endParaRPr lang="en-US" sz="1350" dirty="0">
              <a:latin typeface="Times New Roman" panose="02020603050405020304" pitchFamily="18" charset="0"/>
              <a:cs typeface="Times New Roman" panose="02020603050405020304" pitchFamily="18" charset="0"/>
            </a:endParaRPr>
          </a:p>
          <a:p>
            <a:pPr marL="0" indent="0" algn="l">
              <a:lnSpc>
                <a:spcPts val="1620"/>
              </a:lnSpc>
              <a:buNone/>
            </a:pPr>
            <a:r>
              <a:rPr lang="en-US" sz="1350" dirty="0">
                <a:solidFill>
                  <a:srgbClr val="333333"/>
                </a:solidFill>
                <a:latin typeface="Times New Roman" panose="02020603050405020304" pitchFamily="18" charset="0"/>
                <a:ea typeface="Roboto" pitchFamily="34" charset="-122"/>
                <a:cs typeface="Times New Roman" panose="02020603050405020304" pitchFamily="18" charset="0"/>
              </a:rPr>
              <a:t>distribuției ŵ</a:t>
            </a:r>
            <a:endParaRPr lang="en-US" sz="1350" dirty="0">
              <a:latin typeface="Times New Roman" panose="02020603050405020304" pitchFamily="18" charset="0"/>
              <a:cs typeface="Times New Roman" panose="02020603050405020304" pitchFamily="18" charset="0"/>
            </a:endParaRPr>
          </a:p>
        </p:txBody>
      </p:sp>
      <p:sp>
        <p:nvSpPr>
          <p:cNvPr id="23" name="SK-10-text-22"/>
          <p:cNvSpPr/>
          <p:nvPr/>
        </p:nvSpPr>
        <p:spPr>
          <a:xfrm>
            <a:off x="2487067" y="4581079"/>
            <a:ext cx="9704933" cy="205680"/>
          </a:xfrm>
          <a:prstGeom prst="rect">
            <a:avLst/>
          </a:prstGeom>
          <a:noFill/>
          <a:ln/>
        </p:spPr>
        <p:txBody>
          <a:bodyPr vert="horz" wrap="none" lIns="0" tIns="0" rIns="0" bIns="0" rtlCol="0" anchor="ctr"/>
          <a:lstStyle/>
          <a:p>
            <a:pPr marL="0" indent="0" algn="l">
              <a:buNone/>
            </a:pPr>
            <a:r>
              <a:rPr lang="en-US" sz="1350" dirty="0">
                <a:solidFill>
                  <a:srgbClr val="888888"/>
                </a:solidFill>
                <a:latin typeface="Times New Roman" panose="02020603050405020304" pitchFamily="18" charset="0"/>
                <a:ea typeface="Roboto" pitchFamily="34" charset="-122"/>
                <a:cs typeface="Times New Roman" panose="02020603050405020304" pitchFamily="18" charset="0"/>
              </a:rPr>
              <a:t>AI este util pentru concepte generale, dar necesită verificare constantă față de textul original.</a:t>
            </a:r>
            <a:endParaRPr lang="en-US" sz="1350" dirty="0">
              <a:latin typeface="Times New Roman" panose="02020603050405020304" pitchFamily="18" charset="0"/>
              <a:cs typeface="Times New Roman" panose="02020603050405020304" pitchFamily="18" charset="0"/>
            </a:endParaRPr>
          </a:p>
        </p:txBody>
      </p:sp>
      <p:sp>
        <p:nvSpPr>
          <p:cNvPr id="24" name="SK-10-text-23"/>
          <p:cNvSpPr/>
          <p:nvPr/>
        </p:nvSpPr>
        <p:spPr>
          <a:xfrm>
            <a:off x="426690" y="5068044"/>
            <a:ext cx="2152650" cy="191988"/>
          </a:xfrm>
          <a:prstGeom prst="rect">
            <a:avLst/>
          </a:prstGeom>
          <a:noFill/>
          <a:ln/>
        </p:spPr>
        <p:txBody>
          <a:bodyPr vert="horz" wrap="none" lIns="0" tIns="0" rIns="0" bIns="0" rtlCol="0" anchor="ctr"/>
          <a:lstStyle/>
          <a:p>
            <a:pPr marL="0" indent="0" algn="l">
              <a:buNone/>
            </a:pPr>
            <a:r>
              <a:rPr lang="en-US" sz="1500" b="1" dirty="0">
                <a:solidFill>
                  <a:srgbClr val="008080"/>
                </a:solidFill>
                <a:latin typeface="Times New Roman" panose="02020603050405020304" pitchFamily="18" charset="0"/>
                <a:ea typeface="Roboto" pitchFamily="34" charset="-122"/>
                <a:cs typeface="Times New Roman" panose="02020603050405020304" pitchFamily="18" charset="0"/>
              </a:rPr>
              <a:t>Concluzii</a:t>
            </a:r>
            <a:endParaRPr lang="en-US" sz="1500" dirty="0">
              <a:latin typeface="Times New Roman" panose="02020603050405020304" pitchFamily="18" charset="0"/>
              <a:cs typeface="Times New Roman" panose="02020603050405020304" pitchFamily="18" charset="0"/>
            </a:endParaRPr>
          </a:p>
        </p:txBody>
      </p:sp>
      <p:sp>
        <p:nvSpPr>
          <p:cNvPr id="25" name="SK-10-text-24"/>
          <p:cNvSpPr/>
          <p:nvPr/>
        </p:nvSpPr>
        <p:spPr>
          <a:xfrm>
            <a:off x="1792188" y="5253186"/>
            <a:ext cx="1885950" cy="363438"/>
          </a:xfrm>
          <a:prstGeom prst="rect">
            <a:avLst/>
          </a:prstGeom>
          <a:noFill/>
          <a:ln/>
        </p:spPr>
        <p:txBody>
          <a:bodyPr vert="horz" wrap="none" lIns="0" tIns="0" rIns="0" bIns="0" rtlCol="0" anchor="ctr"/>
          <a:lstStyle/>
          <a:p>
            <a:pPr marL="0" indent="0" algn="l">
              <a:buNone/>
            </a:pPr>
            <a:r>
              <a:rPr lang="en-US" sz="3300" b="1" dirty="0">
                <a:solidFill>
                  <a:srgbClr val="008080"/>
                </a:solidFill>
                <a:latin typeface="Times New Roman" panose="02020603050405020304" pitchFamily="18" charset="0"/>
                <a:ea typeface="Roboto" pitchFamily="34" charset="-122"/>
                <a:cs typeface="Times New Roman" panose="02020603050405020304" pitchFamily="18" charset="0"/>
              </a:rPr>
              <a:t>01</a:t>
            </a:r>
            <a:endParaRPr lang="en-US" sz="3300" dirty="0">
              <a:latin typeface="Times New Roman" panose="02020603050405020304" pitchFamily="18" charset="0"/>
              <a:cs typeface="Times New Roman" panose="02020603050405020304" pitchFamily="18" charset="0"/>
            </a:endParaRPr>
          </a:p>
        </p:txBody>
      </p:sp>
      <p:sp>
        <p:nvSpPr>
          <p:cNvPr id="26" name="SK-10-text-25"/>
          <p:cNvSpPr/>
          <p:nvPr/>
        </p:nvSpPr>
        <p:spPr>
          <a:xfrm>
            <a:off x="841177" y="5753844"/>
            <a:ext cx="2487067" cy="589657"/>
          </a:xfrm>
          <a:prstGeom prst="rect">
            <a:avLst/>
          </a:prstGeom>
          <a:noFill/>
          <a:ln/>
        </p:spPr>
        <p:txBody>
          <a:bodyPr vert="horz" wrap="none" lIns="0" tIns="0" rIns="0" bIns="0" rtlCol="0" anchor="ctr"/>
          <a:lstStyle/>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MemAE rezolvă o problemă reală a</a:t>
            </a:r>
            <a:endParaRPr lang="en-US" sz="1200" dirty="0">
              <a:latin typeface="Times New Roman" panose="02020603050405020304" pitchFamily="18" charset="0"/>
              <a:cs typeface="Times New Roman" panose="02020603050405020304" pitchFamily="18" charset="0"/>
            </a:endParaRPr>
          </a:p>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AE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clasic</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printr</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-un mecanism explicit</a:t>
            </a:r>
            <a:endParaRPr lang="en-US" sz="1200" dirty="0">
              <a:latin typeface="Times New Roman" panose="02020603050405020304" pitchFamily="18" charset="0"/>
              <a:cs typeface="Times New Roman" panose="02020603050405020304" pitchFamily="18" charset="0"/>
            </a:endParaRPr>
          </a:p>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de memorie înghețată</a:t>
            </a:r>
            <a:endParaRPr lang="en-US" sz="1200" dirty="0">
              <a:latin typeface="Times New Roman" panose="02020603050405020304" pitchFamily="18" charset="0"/>
              <a:cs typeface="Times New Roman" panose="02020603050405020304" pitchFamily="18" charset="0"/>
            </a:endParaRPr>
          </a:p>
        </p:txBody>
      </p:sp>
      <p:sp>
        <p:nvSpPr>
          <p:cNvPr id="27" name="SK-10-text-26"/>
          <p:cNvSpPr/>
          <p:nvPr/>
        </p:nvSpPr>
        <p:spPr>
          <a:xfrm>
            <a:off x="5474196" y="5246340"/>
            <a:ext cx="1885950" cy="363438"/>
          </a:xfrm>
          <a:prstGeom prst="rect">
            <a:avLst/>
          </a:prstGeom>
          <a:noFill/>
          <a:ln/>
        </p:spPr>
        <p:txBody>
          <a:bodyPr vert="horz" wrap="none" lIns="0" tIns="0" rIns="0" bIns="0" rtlCol="0" anchor="ctr"/>
          <a:lstStyle/>
          <a:p>
            <a:pPr marL="0" indent="0" algn="l">
              <a:buNone/>
            </a:pPr>
            <a:r>
              <a:rPr lang="en-US" sz="3300" b="1" dirty="0">
                <a:solidFill>
                  <a:srgbClr val="008080"/>
                </a:solidFill>
                <a:latin typeface="Times New Roman" panose="02020603050405020304" pitchFamily="18" charset="0"/>
                <a:ea typeface="Roboto" pitchFamily="34" charset="-122"/>
                <a:cs typeface="Times New Roman" panose="02020603050405020304" pitchFamily="18" charset="0"/>
              </a:rPr>
              <a:t>02</a:t>
            </a:r>
            <a:endParaRPr lang="en-US" sz="3300" dirty="0">
              <a:latin typeface="Times New Roman" panose="02020603050405020304" pitchFamily="18" charset="0"/>
              <a:cs typeface="Times New Roman" panose="02020603050405020304" pitchFamily="18" charset="0"/>
            </a:endParaRPr>
          </a:p>
        </p:txBody>
      </p:sp>
      <p:sp>
        <p:nvSpPr>
          <p:cNvPr id="28" name="SK-10-text-27"/>
          <p:cNvSpPr/>
          <p:nvPr/>
        </p:nvSpPr>
        <p:spPr>
          <a:xfrm>
            <a:off x="4437757" y="5753844"/>
            <a:ext cx="2682180" cy="589657"/>
          </a:xfrm>
          <a:prstGeom prst="rect">
            <a:avLst/>
          </a:prstGeom>
          <a:noFill/>
          <a:ln/>
        </p:spPr>
        <p:txBody>
          <a:bodyPr vert="horz" wrap="none" lIns="0" tIns="0" rIns="0" bIns="0" rtlCol="0" anchor="ctr"/>
          <a:lstStyle/>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Sparse addressing prin Hard Shrinkage</a:t>
            </a:r>
            <a:endParaRPr lang="en-US" sz="1200" dirty="0">
              <a:latin typeface="Times New Roman" panose="02020603050405020304" pitchFamily="18" charset="0"/>
              <a:cs typeface="Times New Roman" panose="02020603050405020304" pitchFamily="18" charset="0"/>
            </a:endParaRPr>
          </a:p>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și Entropy Loss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amplifică</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eroarea</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p>
          <a:p>
            <a:pPr marL="0" indent="0" algn="ctr">
              <a:lnSpc>
                <a:spcPts val="1440"/>
              </a:lnSpc>
              <a:buNone/>
            </a:pP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pentru</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anomalii</a:t>
            </a:r>
            <a:endParaRPr lang="en-US" sz="1200" dirty="0">
              <a:latin typeface="Times New Roman" panose="02020603050405020304" pitchFamily="18" charset="0"/>
              <a:cs typeface="Times New Roman" panose="02020603050405020304" pitchFamily="18" charset="0"/>
            </a:endParaRPr>
          </a:p>
        </p:txBody>
      </p:sp>
      <p:sp>
        <p:nvSpPr>
          <p:cNvPr id="29" name="SK-10-text-28"/>
          <p:cNvSpPr/>
          <p:nvPr/>
        </p:nvSpPr>
        <p:spPr>
          <a:xfrm>
            <a:off x="9107388" y="5246340"/>
            <a:ext cx="1885950" cy="363438"/>
          </a:xfrm>
          <a:prstGeom prst="rect">
            <a:avLst/>
          </a:prstGeom>
          <a:noFill/>
          <a:ln/>
        </p:spPr>
        <p:txBody>
          <a:bodyPr vert="horz" wrap="none" lIns="0" tIns="0" rIns="0" bIns="0" rtlCol="0" anchor="ctr"/>
          <a:lstStyle/>
          <a:p>
            <a:pPr marL="0" indent="0" algn="l">
              <a:buNone/>
            </a:pPr>
            <a:r>
              <a:rPr lang="en-US" sz="3300" b="1" dirty="0">
                <a:solidFill>
                  <a:srgbClr val="008080"/>
                </a:solidFill>
                <a:latin typeface="Times New Roman" panose="02020603050405020304" pitchFamily="18" charset="0"/>
                <a:ea typeface="Roboto" pitchFamily="34" charset="-122"/>
                <a:cs typeface="Times New Roman" panose="02020603050405020304" pitchFamily="18" charset="0"/>
              </a:rPr>
              <a:t>03</a:t>
            </a:r>
            <a:endParaRPr lang="en-US" sz="3300" dirty="0">
              <a:latin typeface="Times New Roman" panose="02020603050405020304" pitchFamily="18" charset="0"/>
              <a:cs typeface="Times New Roman" panose="02020603050405020304" pitchFamily="18" charset="0"/>
            </a:endParaRPr>
          </a:p>
        </p:txBody>
      </p:sp>
      <p:sp>
        <p:nvSpPr>
          <p:cNvPr id="30" name="SK-10-text-29"/>
          <p:cNvSpPr/>
          <p:nvPr/>
        </p:nvSpPr>
        <p:spPr>
          <a:xfrm>
            <a:off x="8302675" y="5753844"/>
            <a:ext cx="2182267" cy="582811"/>
          </a:xfrm>
          <a:prstGeom prst="rect">
            <a:avLst/>
          </a:prstGeom>
          <a:noFill/>
          <a:ln/>
        </p:spPr>
        <p:txBody>
          <a:bodyPr vert="horz" wrap="none" lIns="0" tIns="0" rIns="0" bIns="0" rtlCol="0" anchor="ctr"/>
          <a:lstStyle/>
          <a:p>
            <a:pPr marL="0" indent="0" algn="ctr">
              <a:lnSpc>
                <a:spcPts val="1440"/>
              </a:lnSpc>
              <a:buNone/>
            </a:pP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Replicarea</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tendința</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raportată</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în</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articol</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p>
          <a:p>
            <a:pPr marL="0" indent="0" algn="ctr">
              <a:lnSpc>
                <a:spcPts val="1440"/>
              </a:lnSpc>
              <a:buNone/>
            </a:pP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FP/FN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arată</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limitele</a:t>
            </a:r>
            <a:r>
              <a:rPr lang="en-US" sz="1200" dirty="0">
                <a:solidFill>
                  <a:srgbClr val="333333"/>
                </a:solidFill>
                <a:latin typeface="Times New Roman" panose="02020603050405020304" pitchFamily="18" charset="0"/>
                <a:ea typeface="Roboto" pitchFamily="34" charset="-122"/>
                <a:cs typeface="Times New Roman" panose="02020603050405020304" pitchFamily="18" charset="0"/>
              </a:rPr>
              <a:t> </a:t>
            </a:r>
            <a:r>
              <a:rPr lang="en-US" sz="1200" dirty="0" err="1">
                <a:solidFill>
                  <a:srgbClr val="333333"/>
                </a:solidFill>
                <a:latin typeface="Times New Roman" panose="02020603050405020304" pitchFamily="18" charset="0"/>
                <a:ea typeface="Roboto" pitchFamily="34" charset="-122"/>
                <a:cs typeface="Times New Roman" panose="02020603050405020304" pitchFamily="18" charset="0"/>
              </a:rPr>
              <a:t>metodei</a:t>
            </a:r>
            <a:endParaRPr lang="en-US" sz="1200" dirty="0">
              <a:latin typeface="Times New Roman" panose="02020603050405020304" pitchFamily="18" charset="0"/>
              <a:cs typeface="Times New Roman" panose="02020603050405020304" pitchFamily="18" charset="0"/>
            </a:endParaRPr>
          </a:p>
        </p:txBody>
      </p:sp>
      <p:pic>
        <p:nvPicPr>
          <p:cNvPr id="31" name="SK-4-img-2" descr="preencoded.png">
            <a:extLst>
              <a:ext uri="{FF2B5EF4-FFF2-40B4-BE49-F238E27FC236}">
                <a16:creationId xmlns:a16="http://schemas.microsoft.com/office/drawing/2014/main" id="{AB2EE6B5-4AE3-4536-A368-B3B3E038F6FE}"/>
              </a:ext>
            </a:extLst>
          </p:cNvPr>
          <p:cNvPicPr>
            <a:picLocks noChangeAspect="1"/>
          </p:cNvPicPr>
          <p:nvPr/>
        </p:nvPicPr>
        <p:blipFill>
          <a:blip r:embed="rId12"/>
          <a:stretch>
            <a:fillRect/>
          </a:stretch>
        </p:blipFill>
        <p:spPr>
          <a:xfrm>
            <a:off x="0" y="0"/>
            <a:ext cx="146298" cy="6858000"/>
          </a:xfrm>
          <a:prstGeom prst="rect">
            <a:avLst/>
          </a:prstGeom>
        </p:spPr>
      </p:pic>
      <p:pic>
        <p:nvPicPr>
          <p:cNvPr id="32" name="SK-2-img-4" descr="preencoded.png">
            <a:extLst>
              <a:ext uri="{FF2B5EF4-FFF2-40B4-BE49-F238E27FC236}">
                <a16:creationId xmlns:a16="http://schemas.microsoft.com/office/drawing/2014/main" id="{ACB5DA21-D05D-4317-906B-BB342F803C7C}"/>
              </a:ext>
            </a:extLst>
          </p:cNvPr>
          <p:cNvPicPr>
            <a:picLocks noChangeAspect="1"/>
          </p:cNvPicPr>
          <p:nvPr/>
        </p:nvPicPr>
        <p:blipFill>
          <a:blip r:embed="rId13"/>
          <a:stretch>
            <a:fillRect/>
          </a:stretch>
        </p:blipFill>
        <p:spPr>
          <a:xfrm>
            <a:off x="414486" y="960091"/>
            <a:ext cx="792361" cy="95994"/>
          </a:xfrm>
          <a:prstGeom prst="rect">
            <a:avLst/>
          </a:prstGeom>
        </p:spPr>
      </p:pic>
      <p:sp>
        <p:nvSpPr>
          <p:cNvPr id="35" name="TextBox 34">
            <a:extLst>
              <a:ext uri="{FF2B5EF4-FFF2-40B4-BE49-F238E27FC236}">
                <a16:creationId xmlns:a16="http://schemas.microsoft.com/office/drawing/2014/main" id="{4737994F-E761-4235-810C-7134E0A47BB9}"/>
              </a:ext>
            </a:extLst>
          </p:cNvPr>
          <p:cNvSpPr txBox="1"/>
          <p:nvPr/>
        </p:nvSpPr>
        <p:spPr>
          <a:xfrm>
            <a:off x="125560" y="6320761"/>
            <a:ext cx="12005272" cy="523220"/>
          </a:xfrm>
          <a:prstGeom prst="rect">
            <a:avLst/>
          </a:prstGeom>
          <a:noFill/>
        </p:spPr>
        <p:txBody>
          <a:bodyPr wrap="square">
            <a:spAutoFit/>
          </a:bodyPr>
          <a:lstStyle/>
          <a:p>
            <a:r>
              <a:rPr lang="en-US" sz="1400" dirty="0" err="1">
                <a:latin typeface="Times New Roman" panose="02020603050405020304" pitchFamily="18" charset="0"/>
                <a:cs typeface="Times New Roman" panose="02020603050405020304" pitchFamily="18" charset="0"/>
              </a:rPr>
              <a:t>Autorii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menționează</a:t>
            </a:r>
            <a:r>
              <a:rPr lang="en-US" sz="1400" dirty="0">
                <a:latin typeface="Times New Roman" panose="02020603050405020304" pitchFamily="18" charset="0"/>
                <a:cs typeface="Times New Roman" panose="02020603050405020304" pitchFamily="18" charset="0"/>
              </a:rPr>
              <a:t> ca </a:t>
            </a:r>
            <a:r>
              <a:rPr lang="en-US" sz="1400" dirty="0" err="1">
                <a:latin typeface="Times New Roman" panose="02020603050405020304" pitchFamily="18" charset="0"/>
                <a:cs typeface="Times New Roman" panose="02020603050405020304" pitchFamily="18" charset="0"/>
              </a:rPr>
              <a:t>direcție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viitoare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folosirea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ponderilor</a:t>
            </a:r>
            <a:r>
              <a:rPr lang="en-US" sz="1400" dirty="0">
                <a:latin typeface="Times New Roman" panose="02020603050405020304" pitchFamily="18" charset="0"/>
                <a:cs typeface="Times New Roman" panose="02020603050405020304" pitchFamily="18" charset="0"/>
              </a:rPr>
              <a:t> de addressing ca </a:t>
            </a:r>
            <a:r>
              <a:rPr lang="en-US" sz="1400" dirty="0" err="1">
                <a:latin typeface="Times New Roman" panose="02020603050405020304" pitchFamily="18" charset="0"/>
                <a:cs typeface="Times New Roman" panose="02020603050405020304" pitchFamily="18" charset="0"/>
              </a:rPr>
              <a:t>scor</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anomalie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deoarece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acestea</a:t>
            </a:r>
            <a:r>
              <a:rPr lang="en-US" sz="1400" dirty="0">
                <a:latin typeface="Times New Roman" panose="02020603050405020304" pitchFamily="18" charset="0"/>
                <a:cs typeface="Times New Roman" panose="02020603050405020304" pitchFamily="18" charset="0"/>
              </a:rPr>
              <a:t> pot indica </a:t>
            </a:r>
            <a:r>
              <a:rPr lang="en-US" sz="1400" dirty="0" err="1">
                <a:latin typeface="Times New Roman" panose="02020603050405020304" pitchFamily="18" charset="0"/>
                <a:cs typeface="Times New Roman" panose="02020603050405020304" pitchFamily="18" charset="0"/>
              </a:rPr>
              <a:t>cât</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greu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găsește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modelul</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prototipuri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normale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relevante</a:t>
            </a:r>
            <a:r>
              <a:rPr lang="en-US" sz="1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K-1-img-2" descr="preencoded.png"/>
          <p:cNvPicPr>
            <a:picLocks noChangeAspect="1"/>
          </p:cNvPicPr>
          <p:nvPr/>
        </p:nvPicPr>
        <p:blipFill>
          <a:blip r:embed="rId3"/>
          <a:stretch>
            <a:fillRect/>
          </a:stretch>
        </p:blipFill>
        <p:spPr>
          <a:xfrm>
            <a:off x="5632698" y="0"/>
            <a:ext cx="6559302" cy="7200900"/>
          </a:xfrm>
          <a:prstGeom prst="rect">
            <a:avLst/>
          </a:prstGeom>
        </p:spPr>
      </p:pic>
      <p:pic>
        <p:nvPicPr>
          <p:cNvPr id="4" name="SK-1-img-3" descr="preencoded.png"/>
          <p:cNvPicPr>
            <a:picLocks noChangeAspect="1"/>
          </p:cNvPicPr>
          <p:nvPr/>
        </p:nvPicPr>
        <p:blipFill>
          <a:blip r:embed="rId4"/>
          <a:stretch>
            <a:fillRect/>
          </a:stretch>
        </p:blipFill>
        <p:spPr>
          <a:xfrm>
            <a:off x="511969" y="3601938"/>
            <a:ext cx="2730996" cy="38100"/>
          </a:xfrm>
          <a:prstGeom prst="rect">
            <a:avLst/>
          </a:prstGeom>
        </p:spPr>
      </p:pic>
      <p:pic>
        <p:nvPicPr>
          <p:cNvPr id="5" name="SK-1-img-4" descr="preencoded.png"/>
          <p:cNvPicPr>
            <a:picLocks noChangeAspect="1"/>
          </p:cNvPicPr>
          <p:nvPr/>
        </p:nvPicPr>
        <p:blipFill>
          <a:blip r:embed="rId5"/>
          <a:stretch>
            <a:fillRect/>
          </a:stretch>
        </p:blipFill>
        <p:spPr>
          <a:xfrm>
            <a:off x="6400800" y="1961257"/>
            <a:ext cx="5522863" cy="2962573"/>
          </a:xfrm>
          <a:prstGeom prst="rect">
            <a:avLst/>
          </a:prstGeom>
        </p:spPr>
      </p:pic>
      <p:sp>
        <p:nvSpPr>
          <p:cNvPr id="7" name="SK-1-text-6"/>
          <p:cNvSpPr/>
          <p:nvPr/>
        </p:nvSpPr>
        <p:spPr>
          <a:xfrm>
            <a:off x="487860" y="3273176"/>
            <a:ext cx="4395788" cy="733723"/>
          </a:xfrm>
          <a:prstGeom prst="rect">
            <a:avLst/>
          </a:prstGeom>
          <a:noFill/>
          <a:ln/>
        </p:spPr>
        <p:txBody>
          <a:bodyPr vert="horz" wrap="none" lIns="0" tIns="0" rIns="0" bIns="0" rtlCol="0" anchor="ctr"/>
          <a:lstStyle/>
          <a:p>
            <a:pPr marL="0" indent="0" algn="l">
              <a:buNone/>
            </a:pPr>
            <a:r>
              <a:rPr lang="ro-RO" sz="5325" b="1" dirty="0">
                <a:solidFill>
                  <a:srgbClr val="0D1B3E"/>
                </a:solidFill>
                <a:latin typeface="Times New Roman" panose="02020603050405020304" pitchFamily="18" charset="0"/>
                <a:cs typeface="Times New Roman" panose="02020603050405020304" pitchFamily="18" charset="0"/>
              </a:rPr>
              <a:t>Vă m</a:t>
            </a:r>
            <a:r>
              <a:rPr lang="en-US" sz="5325" b="1" dirty="0">
                <a:solidFill>
                  <a:srgbClr val="0D1B3E"/>
                </a:solidFill>
                <a:latin typeface="Times New Roman" panose="02020603050405020304" pitchFamily="18" charset="0"/>
                <a:cs typeface="Times New Roman" panose="02020603050405020304" pitchFamily="18" charset="0"/>
              </a:rPr>
              <a:t>ul</a:t>
            </a:r>
            <a:r>
              <a:rPr lang="ro-RO" sz="5325" b="1" dirty="0" err="1">
                <a:solidFill>
                  <a:srgbClr val="0D1B3E"/>
                </a:solidFill>
                <a:latin typeface="Times New Roman" panose="02020603050405020304" pitchFamily="18" charset="0"/>
                <a:cs typeface="Times New Roman" panose="02020603050405020304" pitchFamily="18" charset="0"/>
              </a:rPr>
              <a:t>țumim</a:t>
            </a:r>
            <a:r>
              <a:rPr lang="ro-RO" sz="5325" b="1" dirty="0">
                <a:solidFill>
                  <a:srgbClr val="0D1B3E"/>
                </a:solidFill>
                <a:latin typeface="Times New Roman" panose="02020603050405020304" pitchFamily="18" charset="0"/>
                <a:cs typeface="Times New Roman" panose="02020603050405020304" pitchFamily="18" charset="0"/>
              </a:rPr>
              <a:t> </a:t>
            </a:r>
          </a:p>
          <a:p>
            <a:pPr marL="0" indent="0" algn="l">
              <a:buNone/>
            </a:pPr>
            <a:r>
              <a:rPr lang="ro-RO" sz="5325" b="1" dirty="0">
                <a:solidFill>
                  <a:srgbClr val="0D1B3E"/>
                </a:solidFill>
                <a:latin typeface="Times New Roman" panose="02020603050405020304" pitchFamily="18" charset="0"/>
                <a:cs typeface="Times New Roman" panose="02020603050405020304" pitchFamily="18" charset="0"/>
              </a:rPr>
              <a:t>pentru atenție! </a:t>
            </a:r>
            <a:endParaRPr lang="en-US" sz="5325" dirty="0">
              <a:latin typeface="Times New Roman" panose="02020603050405020304" pitchFamily="18" charset="0"/>
              <a:cs typeface="Times New Roman" panose="02020603050405020304" pitchFamily="18" charset="0"/>
            </a:endParaRPr>
          </a:p>
        </p:txBody>
      </p:sp>
      <p:pic>
        <p:nvPicPr>
          <p:cNvPr id="12" name="SK-6-img-9" descr="preencoded.png">
            <a:extLst>
              <a:ext uri="{FF2B5EF4-FFF2-40B4-BE49-F238E27FC236}">
                <a16:creationId xmlns:a16="http://schemas.microsoft.com/office/drawing/2014/main" id="{520340E5-3B5C-31DA-66EA-104CD13D81F9}"/>
              </a:ext>
            </a:extLst>
          </p:cNvPr>
          <p:cNvPicPr>
            <a:picLocks noChangeAspect="1"/>
          </p:cNvPicPr>
          <p:nvPr/>
        </p:nvPicPr>
        <p:blipFill>
          <a:blip r:embed="rId6"/>
          <a:stretch>
            <a:fillRect/>
          </a:stretch>
        </p:blipFill>
        <p:spPr>
          <a:xfrm>
            <a:off x="8912349" y="5256535"/>
            <a:ext cx="2413992" cy="432048"/>
          </a:xfrm>
          <a:prstGeom prst="rect">
            <a:avLst/>
          </a:prstGeom>
        </p:spPr>
      </p:pic>
      <p:pic>
        <p:nvPicPr>
          <p:cNvPr id="13" name="SK-6-img-9" descr="preencoded.png">
            <a:extLst>
              <a:ext uri="{FF2B5EF4-FFF2-40B4-BE49-F238E27FC236}">
                <a16:creationId xmlns:a16="http://schemas.microsoft.com/office/drawing/2014/main" id="{3B0DD428-09E2-F72B-8473-AC4CE1188F42}"/>
              </a:ext>
            </a:extLst>
          </p:cNvPr>
          <p:cNvPicPr>
            <a:picLocks noChangeAspect="1"/>
          </p:cNvPicPr>
          <p:nvPr/>
        </p:nvPicPr>
        <p:blipFill>
          <a:blip r:embed="rId6"/>
          <a:stretch>
            <a:fillRect/>
          </a:stretch>
        </p:blipFill>
        <p:spPr>
          <a:xfrm>
            <a:off x="8918846" y="5735835"/>
            <a:ext cx="2499871" cy="432048"/>
          </a:xfrm>
          <a:prstGeom prst="rect">
            <a:avLst/>
          </a:prstGeom>
        </p:spPr>
      </p:pic>
      <p:sp>
        <p:nvSpPr>
          <p:cNvPr id="19" name="SK-6-text-95">
            <a:extLst>
              <a:ext uri="{FF2B5EF4-FFF2-40B4-BE49-F238E27FC236}">
                <a16:creationId xmlns:a16="http://schemas.microsoft.com/office/drawing/2014/main" id="{BBF6F35B-600C-C56E-8D06-84A923DCED44}"/>
              </a:ext>
            </a:extLst>
          </p:cNvPr>
          <p:cNvSpPr/>
          <p:nvPr/>
        </p:nvSpPr>
        <p:spPr>
          <a:xfrm>
            <a:off x="9061836" y="5383411"/>
            <a:ext cx="4063365" cy="178296"/>
          </a:xfrm>
          <a:prstGeom prst="rect">
            <a:avLst/>
          </a:prstGeom>
          <a:noFill/>
          <a:ln/>
        </p:spPr>
        <p:txBody>
          <a:bodyPr vert="horz" wrap="none" lIns="0" tIns="0" rIns="0" bIns="0" rtlCol="0" anchor="ctr"/>
          <a:lstStyle/>
          <a:p>
            <a:pPr marL="0" indent="0" algn="l">
              <a:buNone/>
            </a:pPr>
            <a:endParaRPr lang="en-US" sz="135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68CA62EC-A5CE-C555-9ECE-2D06E0B7781D}"/>
              </a:ext>
            </a:extLst>
          </p:cNvPr>
          <p:cNvSpPr txBox="1"/>
          <p:nvPr/>
        </p:nvSpPr>
        <p:spPr>
          <a:xfrm>
            <a:off x="8918847" y="5752743"/>
            <a:ext cx="6220097" cy="369332"/>
          </a:xfrm>
          <a:prstGeom prst="rect">
            <a:avLst/>
          </a:prstGeom>
          <a:noFill/>
        </p:spPr>
        <p:txBody>
          <a:bodyPr wrap="square">
            <a:spAutoFit/>
          </a:bodyPr>
          <a:lstStyle/>
          <a:p>
            <a:r>
              <a:rPr lang="en-US" b="1" dirty="0" err="1">
                <a:solidFill>
                  <a:srgbClr val="FFFFFF"/>
                </a:solidFill>
                <a:latin typeface="Times New Roman" panose="02020603050405020304" pitchFamily="18" charset="0"/>
                <a:ea typeface="Roboto" pitchFamily="34" charset="-122"/>
                <a:cs typeface="Times New Roman" panose="02020603050405020304" pitchFamily="18" charset="0"/>
              </a:rPr>
              <a:t>Bureac</a:t>
            </a:r>
            <a:r>
              <a:rPr lang="ro-RO" b="1" dirty="0">
                <a:solidFill>
                  <a:srgbClr val="FFFFFF"/>
                </a:solidFill>
                <a:latin typeface="Times New Roman" panose="02020603050405020304" pitchFamily="18" charset="0"/>
                <a:ea typeface="Roboto" pitchFamily="34" charset="-122"/>
                <a:cs typeface="Times New Roman" panose="02020603050405020304" pitchFamily="18" charset="0"/>
              </a:rPr>
              <a:t>ă</a:t>
            </a:r>
            <a:r>
              <a:rPr lang="en-US" b="1" dirty="0">
                <a:solidFill>
                  <a:srgbClr val="FFFFFF"/>
                </a:solidFill>
                <a:latin typeface="Times New Roman" panose="02020603050405020304" pitchFamily="18" charset="0"/>
                <a:ea typeface="Roboto" pitchFamily="34" charset="-122"/>
                <a:cs typeface="Times New Roman" panose="02020603050405020304" pitchFamily="18" charset="0"/>
              </a:rPr>
              <a:t> Angela-Emilia</a:t>
            </a:r>
            <a:endParaRPr lang="en-US"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4FE703-ED1F-71E8-0D75-26D570CFDFA6}"/>
              </a:ext>
            </a:extLst>
          </p:cNvPr>
          <p:cNvSpPr txBox="1"/>
          <p:nvPr/>
        </p:nvSpPr>
        <p:spPr>
          <a:xfrm>
            <a:off x="8918847" y="5284826"/>
            <a:ext cx="7569200" cy="369332"/>
          </a:xfrm>
          <a:prstGeom prst="rect">
            <a:avLst/>
          </a:prstGeom>
          <a:noFill/>
        </p:spPr>
        <p:txBody>
          <a:bodyPr wrap="square">
            <a:spAutoFit/>
          </a:bodyPr>
          <a:lstStyle/>
          <a:p>
            <a:pPr marL="0" indent="0" algn="l">
              <a:buNone/>
            </a:pPr>
            <a:r>
              <a:rPr lang="en-US" b="1" dirty="0">
                <a:solidFill>
                  <a:srgbClr val="FFFFFF"/>
                </a:solidFill>
                <a:latin typeface="Times New Roman" panose="02020603050405020304" pitchFamily="18" charset="0"/>
                <a:ea typeface="Roboto" pitchFamily="34" charset="-122"/>
                <a:cs typeface="Times New Roman" panose="02020603050405020304" pitchFamily="18" charset="0"/>
              </a:rPr>
              <a:t>Gugu Bianca</a:t>
            </a:r>
            <a:endParaRPr lang="en-US" sz="1800" dirty="0">
              <a:latin typeface="Times New Roman" panose="02020603050405020304" pitchFamily="18" charset="0"/>
              <a:cs typeface="Times New Roman" panose="02020603050405020304" pitchFamily="18" charset="0"/>
            </a:endParaRPr>
          </a:p>
        </p:txBody>
      </p:sp>
      <p:pic>
        <p:nvPicPr>
          <p:cNvPr id="17" name="SK-4-img-2" descr="preencoded.png">
            <a:extLst>
              <a:ext uri="{FF2B5EF4-FFF2-40B4-BE49-F238E27FC236}">
                <a16:creationId xmlns:a16="http://schemas.microsoft.com/office/drawing/2014/main" id="{CF4E72FC-42C2-43A5-9AA3-C16CF7C32BF6}"/>
              </a:ext>
            </a:extLst>
          </p:cNvPr>
          <p:cNvPicPr>
            <a:picLocks noChangeAspect="1"/>
          </p:cNvPicPr>
          <p:nvPr/>
        </p:nvPicPr>
        <p:blipFill>
          <a:blip r:embed="rId7"/>
          <a:stretch>
            <a:fillRect/>
          </a:stretch>
        </p:blipFill>
        <p:spPr>
          <a:xfrm>
            <a:off x="0" y="0"/>
            <a:ext cx="146298" cy="6858000"/>
          </a:xfrm>
          <a:prstGeom prst="rect">
            <a:avLst/>
          </a:prstGeom>
        </p:spPr>
      </p:pic>
    </p:spTree>
    <p:extLst>
      <p:ext uri="{BB962C8B-B14F-4D97-AF65-F5344CB8AC3E}">
        <p14:creationId xmlns:p14="http://schemas.microsoft.com/office/powerpoint/2010/main" val="3301698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38912"/>
            <a:ext cx="9052560" cy="457200"/>
          </a:xfrm>
          <a:prstGeom prst="rect">
            <a:avLst/>
          </a:prstGeom>
          <a:noFill/>
          <a:ln/>
        </p:spPr>
        <p:txBody>
          <a:bodyPr wrap="square" lIns="0" tIns="0" rIns="0" bIns="0" rtlCol="0" anchor="ctr"/>
          <a:lstStyle/>
          <a:p>
            <a:pPr marL="0" indent="0">
              <a:buNone/>
            </a:pPr>
            <a:r>
              <a:rPr lang="en-US" sz="2400" b="1" dirty="0">
                <a:solidFill>
                  <a:srgbClr val="0F172A"/>
                </a:solidFill>
                <a:latin typeface="Times New Roman" panose="02020603050405020304" pitchFamily="18" charset="0"/>
                <a:ea typeface="Aptos Display" pitchFamily="34" charset="-122"/>
                <a:cs typeface="Times New Roman" panose="02020603050405020304" pitchFamily="18" charset="0"/>
              </a:rPr>
              <a:t>Variația hiperparametrilor cheie</a:t>
            </a:r>
            <a:endParaRPr lang="en-US" sz="2400" dirty="0">
              <a:latin typeface="Times New Roman" panose="02020603050405020304" pitchFamily="18" charset="0"/>
              <a:cs typeface="Times New Roman" panose="02020603050405020304" pitchFamily="18" charset="0"/>
            </a:endParaRPr>
          </a:p>
        </p:txBody>
      </p:sp>
      <p:sp>
        <p:nvSpPr>
          <p:cNvPr id="3" name="Text 1"/>
          <p:cNvSpPr/>
          <p:nvPr/>
        </p:nvSpPr>
        <p:spPr>
          <a:xfrm>
            <a:off x="640080" y="932688"/>
            <a:ext cx="9784080" cy="256032"/>
          </a:xfrm>
          <a:prstGeom prst="rect">
            <a:avLst/>
          </a:prstGeom>
          <a:noFill/>
          <a:ln/>
        </p:spPr>
        <p:txBody>
          <a:bodyPr wrap="square" lIns="0" tIns="0" rIns="0" bIns="0" rtlCol="0" anchor="ctr"/>
          <a:lstStyle/>
          <a:p>
            <a:pPr marL="0" indent="0">
              <a:buNone/>
            </a:pPr>
            <a:r>
              <a:rPr lang="en-US" sz="950" dirty="0">
                <a:solidFill>
                  <a:srgbClr val="64748B"/>
                </a:solidFill>
                <a:latin typeface="Times New Roman" panose="02020603050405020304" pitchFamily="18" charset="0"/>
                <a:cs typeface="Times New Roman" panose="02020603050405020304" pitchFamily="18" charset="0"/>
              </a:rPr>
              <a:t>Dimensiunea memoriei N și pragul de shrinkage λ</a:t>
            </a:r>
            <a:endParaRPr lang="en-US" sz="950" dirty="0">
              <a:latin typeface="Times New Roman" panose="02020603050405020304" pitchFamily="18" charset="0"/>
              <a:cs typeface="Times New Roman" panose="02020603050405020304" pitchFamily="18" charset="0"/>
            </a:endParaRPr>
          </a:p>
        </p:txBody>
      </p:sp>
      <p:sp>
        <p:nvSpPr>
          <p:cNvPr id="4" name="Shape 2"/>
          <p:cNvSpPr/>
          <p:nvPr/>
        </p:nvSpPr>
        <p:spPr>
          <a:xfrm>
            <a:off x="640080" y="1261872"/>
            <a:ext cx="1828800" cy="0"/>
          </a:xfrm>
          <a:prstGeom prst="line">
            <a:avLst/>
          </a:prstGeom>
          <a:noFill/>
          <a:ln w="27940">
            <a:solidFill>
              <a:srgbClr val="06B6D4"/>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5" name="Image 0" descr="/mnt/data/memae_assets/memory_size_auc.png"/>
          <p:cNvPicPr>
            <a:picLocks noChangeAspect="1"/>
          </p:cNvPicPr>
          <p:nvPr/>
        </p:nvPicPr>
        <p:blipFill>
          <a:blip r:embed="rId3"/>
          <a:stretch>
            <a:fillRect/>
          </a:stretch>
        </p:blipFill>
        <p:spPr>
          <a:xfrm>
            <a:off x="640080" y="1528191"/>
            <a:ext cx="5166360" cy="2841498"/>
          </a:xfrm>
          <a:prstGeom prst="rect">
            <a:avLst/>
          </a:prstGeom>
        </p:spPr>
      </p:pic>
      <p:pic>
        <p:nvPicPr>
          <p:cNvPr id="6" name="Image 1" descr="/mnt/data/memae_assets/lambda_auc.png"/>
          <p:cNvPicPr>
            <a:picLocks noChangeAspect="1"/>
          </p:cNvPicPr>
          <p:nvPr/>
        </p:nvPicPr>
        <p:blipFill>
          <a:blip r:embed="rId4"/>
          <a:stretch>
            <a:fillRect/>
          </a:stretch>
        </p:blipFill>
        <p:spPr>
          <a:xfrm>
            <a:off x="6355080" y="1528191"/>
            <a:ext cx="5166360" cy="2841498"/>
          </a:xfrm>
          <a:prstGeom prst="rect">
            <a:avLst/>
          </a:prstGeom>
        </p:spPr>
      </p:pic>
      <p:sp>
        <p:nvSpPr>
          <p:cNvPr id="7" name="Text 3"/>
          <p:cNvSpPr/>
          <p:nvPr/>
        </p:nvSpPr>
        <p:spPr>
          <a:xfrm>
            <a:off x="822960" y="4709160"/>
            <a:ext cx="2560320" cy="201168"/>
          </a:xfrm>
          <a:prstGeom prst="rect">
            <a:avLst/>
          </a:prstGeom>
          <a:noFill/>
          <a:ln/>
        </p:spPr>
        <p:txBody>
          <a:bodyPr wrap="square" lIns="0" tIns="0" rIns="0" bIns="0" rtlCol="0" anchor="ctr"/>
          <a:lstStyle/>
          <a:p>
            <a:pPr marL="0" indent="0">
              <a:buNone/>
            </a:pPr>
            <a:r>
              <a:rPr lang="en-US" sz="750" b="1" dirty="0">
                <a:solidFill>
                  <a:srgbClr val="2563EB"/>
                </a:solidFill>
                <a:latin typeface="Times New Roman" panose="02020603050405020304" pitchFamily="18" charset="0"/>
                <a:cs typeface="Times New Roman" panose="02020603050405020304" pitchFamily="18" charset="0"/>
              </a:rPr>
              <a:t>INTERPRETARE</a:t>
            </a:r>
            <a:endParaRPr lang="en-US" sz="750" dirty="0">
              <a:latin typeface="Times New Roman" panose="02020603050405020304" pitchFamily="18" charset="0"/>
              <a:cs typeface="Times New Roman" panose="02020603050405020304" pitchFamily="18" charset="0"/>
            </a:endParaRPr>
          </a:p>
        </p:txBody>
      </p:sp>
      <p:sp>
        <p:nvSpPr>
          <p:cNvPr id="8" name="Text 4"/>
          <p:cNvSpPr/>
          <p:nvPr/>
        </p:nvSpPr>
        <p:spPr>
          <a:xfrm>
            <a:off x="914400" y="5010912"/>
            <a:ext cx="10378440" cy="1143000"/>
          </a:xfrm>
          <a:prstGeom prst="rect">
            <a:avLst/>
          </a:prstGeom>
          <a:noFill/>
          <a:ln/>
        </p:spPr>
        <p:txBody>
          <a:bodyPr wrap="square" lIns="381" tIns="381" rIns="381" bIns="381" rtlCol="0" anchor="t">
            <a:normAutofit/>
          </a:bodyPr>
          <a:lstStyle/>
          <a:p>
            <a:r>
              <a:rPr lang="en-US" sz="1140" dirty="0">
                <a:solidFill>
                  <a:srgbClr val="0F172A"/>
                </a:solidFill>
                <a:latin typeface="Times New Roman" panose="02020603050405020304" pitchFamily="18" charset="0"/>
                <a:ea typeface="Aptos" pitchFamily="34" charset="-122"/>
                <a:cs typeface="Times New Roman" panose="02020603050405020304" pitchFamily="18" charset="0"/>
              </a:rPr>
              <a:t>N prea mic limitează varietatea normalului; N prea mare cere mai mult tuning și poate dilua prototipurile.</a:t>
            </a:r>
            <a:endParaRPr lang="en-US" sz="1140" dirty="0">
              <a:latin typeface="Times New Roman" panose="02020603050405020304" pitchFamily="18" charset="0"/>
              <a:cs typeface="Times New Roman" panose="02020603050405020304" pitchFamily="18" charset="0"/>
            </a:endParaRPr>
          </a:p>
          <a:p>
            <a:pPr marL="0" indent="0">
              <a:buNone/>
            </a:pPr>
            <a:r>
              <a:rPr lang="en-US" sz="1140" dirty="0">
                <a:solidFill>
                  <a:srgbClr val="0F172A"/>
                </a:solidFill>
                <a:latin typeface="Times New Roman" panose="02020603050405020304" pitchFamily="18" charset="0"/>
                <a:ea typeface="Aptos" pitchFamily="34" charset="-122"/>
                <a:cs typeface="Times New Roman" panose="02020603050405020304" pitchFamily="18" charset="0"/>
              </a:rPr>
              <a:t>λ controlează cât de agresiv tăiem ponderile mici: fără λ, addressing-ul devine dens; prea mare poate pierde informație.</a:t>
            </a:r>
            <a:endParaRPr lang="en-US" sz="1140" dirty="0">
              <a:latin typeface="Times New Roman" panose="02020603050405020304" pitchFamily="18" charset="0"/>
              <a:cs typeface="Times New Roman" panose="02020603050405020304" pitchFamily="18" charset="0"/>
            </a:endParaRPr>
          </a:p>
          <a:p>
            <a:pPr marL="0" indent="0">
              <a:buNone/>
            </a:pPr>
            <a:r>
              <a:rPr lang="en-US" sz="1140" dirty="0">
                <a:solidFill>
                  <a:srgbClr val="0F172A"/>
                </a:solidFill>
                <a:latin typeface="Times New Roman" panose="02020603050405020304" pitchFamily="18" charset="0"/>
                <a:ea typeface="Aptos" pitchFamily="34" charset="-122"/>
                <a:cs typeface="Times New Roman" panose="02020603050405020304" pitchFamily="18" charset="0"/>
              </a:rPr>
              <a:t>În articol, autorii recomandă λ în intervalul [1/N, 3/N] și arată robustețe când memoria este suficient de mare.</a:t>
            </a:r>
            <a:endParaRPr lang="en-US" sz="1140" dirty="0">
              <a:latin typeface="Times New Roman" panose="02020603050405020304" pitchFamily="18" charset="0"/>
              <a:cs typeface="Times New Roman" panose="02020603050405020304" pitchFamily="18" charset="0"/>
            </a:endParaRPr>
          </a:p>
        </p:txBody>
      </p:sp>
      <p:sp>
        <p:nvSpPr>
          <p:cNvPr id="9" name="Text 5"/>
          <p:cNvSpPr/>
          <p:nvPr/>
        </p:nvSpPr>
        <p:spPr>
          <a:xfrm>
            <a:off x="411480" y="6510528"/>
            <a:ext cx="5212080" cy="182880"/>
          </a:xfrm>
          <a:prstGeom prst="rect">
            <a:avLst/>
          </a:prstGeom>
          <a:noFill/>
          <a:ln/>
        </p:spPr>
        <p:txBody>
          <a:bodyPr wrap="square" lIns="0" tIns="0" rIns="0" bIns="0" rtlCol="0" anchor="ctr"/>
          <a:lstStyle/>
          <a:p>
            <a:pPr marL="0" indent="0">
              <a:buNone/>
            </a:pPr>
            <a:r>
              <a:rPr lang="en-US" sz="700" dirty="0">
                <a:solidFill>
                  <a:srgbClr val="64748B"/>
                </a:solidFill>
                <a:latin typeface="Times New Roman" panose="02020603050405020304" pitchFamily="18" charset="0"/>
                <a:ea typeface="Aptos" pitchFamily="34" charset="-122"/>
                <a:cs typeface="Times New Roman" panose="02020603050405020304" pitchFamily="18" charset="0"/>
              </a:rPr>
              <a:t>MemAE • analiză critică &amp; replicare</a:t>
            </a:r>
            <a:endParaRPr lang="en-US" sz="700" dirty="0">
              <a:latin typeface="Times New Roman" panose="02020603050405020304" pitchFamily="18" charset="0"/>
              <a:cs typeface="Times New Roman" panose="02020603050405020304" pitchFamily="18" charset="0"/>
            </a:endParaRPr>
          </a:p>
        </p:txBody>
      </p:sp>
      <p:sp>
        <p:nvSpPr>
          <p:cNvPr id="10" name="Text 6"/>
          <p:cNvSpPr/>
          <p:nvPr/>
        </p:nvSpPr>
        <p:spPr>
          <a:xfrm>
            <a:off x="11292840" y="6446520"/>
            <a:ext cx="502920" cy="228600"/>
          </a:xfrm>
          <a:prstGeom prst="rect">
            <a:avLst/>
          </a:prstGeom>
          <a:noFill/>
          <a:ln/>
        </p:spPr>
        <p:txBody>
          <a:bodyPr wrap="square" lIns="0" tIns="0" rIns="0" bIns="0" rtlCol="0" anchor="ctr"/>
          <a:lstStyle/>
          <a:p>
            <a:pPr marL="0" indent="0" algn="r">
              <a:buNone/>
            </a:pPr>
            <a:r>
              <a:rPr lang="en-US" sz="800" dirty="0">
                <a:solidFill>
                  <a:srgbClr val="64748B"/>
                </a:solidFill>
                <a:latin typeface="Times New Roman" panose="02020603050405020304" pitchFamily="18" charset="0"/>
                <a:ea typeface="Aptos" pitchFamily="34" charset="-122"/>
                <a:cs typeface="Times New Roman" panose="02020603050405020304" pitchFamily="18" charset="0"/>
              </a:rPr>
              <a:t>11</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557</TotalTime>
  <Words>5190</Words>
  <Application>Microsoft Office PowerPoint</Application>
  <PresentationFormat>Widescreen</PresentationFormat>
  <Paragraphs>438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Cambria Math</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Angi Bureacă</cp:lastModifiedBy>
  <cp:revision>115</cp:revision>
  <dcterms:created xsi:type="dcterms:W3CDTF">2026-06-07T15:23:17Z</dcterms:created>
  <dcterms:modified xsi:type="dcterms:W3CDTF">2026-06-15T12:56:16Z</dcterms:modified>
</cp:coreProperties>
</file>